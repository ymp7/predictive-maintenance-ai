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4" d="100"/>
          <a:sy n="74" d="100"/>
        </p:scale>
        <p:origin x="171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altLang="en-US" dirty="0"/>
              <a:t>AI-Powered Digital Twin &amp; Predictive Maintenance System for MSMEs</a:t>
            </a:r>
          </a:p>
        </p:txBody>
      </p:sp>
      <p:sp>
        <p:nvSpPr>
          <p:cNvPr id="3" name="Subtitle 2"/>
          <p:cNvSpPr>
            <a:spLocks noGrp="1"/>
          </p:cNvSpPr>
          <p:nvPr>
            <p:ph type="subTitle" idx="1"/>
          </p:nvPr>
        </p:nvSpPr>
        <p:spPr/>
        <p:txBody>
          <a:bodyPr/>
          <a:lstStyle/>
          <a:p>
            <a:r>
              <a:rPr dirty="0"/>
              <a:t>MSME IDEA HACKATHON 5.0 | Theme: Industry 4.0 &amp; 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lstStyle/>
          <a:p>
            <a:pPr marL="0" indent="0" algn="just">
              <a:buNone/>
            </a:pPr>
            <a:r>
              <a:rPr lang="en-US" altLang="en-US" sz="2400" dirty="0"/>
              <a:t>MSMEs often suffer from unplanned machine breakdowns, limited real-time diagnostics, and manual, reactive maintenance practices. This leads to increased downtime and operational costs. Due to the high cost and complexity of existing smart solutions, affordable and accessible predictive maintenance tools are largely unavailable to MSMEs.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Customer Segment</a:t>
            </a:r>
          </a:p>
        </p:txBody>
      </p:sp>
      <p:sp>
        <p:nvSpPr>
          <p:cNvPr id="3" name="Content Placeholder 2"/>
          <p:cNvSpPr>
            <a:spLocks noGrp="1"/>
          </p:cNvSpPr>
          <p:nvPr>
            <p:ph idx="1"/>
          </p:nvPr>
        </p:nvSpPr>
        <p:spPr/>
        <p:txBody>
          <a:bodyPr/>
          <a:lstStyle/>
          <a:p>
            <a:pPr algn="just"/>
            <a:r>
              <a:rPr dirty="0"/>
              <a:t>Small and Medium-scale manufacturers</a:t>
            </a:r>
          </a:p>
          <a:p>
            <a:pPr algn="just"/>
            <a:r>
              <a:rPr dirty="0"/>
              <a:t>Industrial workshops (automobile, textiles, plastics)</a:t>
            </a:r>
          </a:p>
          <a:p>
            <a:pPr algn="just"/>
            <a:r>
              <a:rPr dirty="0"/>
              <a:t>Maintenance teams in factories</a:t>
            </a:r>
          </a:p>
          <a:p>
            <a:pPr algn="just"/>
            <a:r>
              <a:rPr dirty="0"/>
              <a:t>OEM suppliers and contract manufacturers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Customer Survey &amp; Outcome</a:t>
            </a:r>
          </a:p>
        </p:txBody>
      </p:sp>
      <p:sp>
        <p:nvSpPr>
          <p:cNvPr id="3" name="Content Placeholder 2"/>
          <p:cNvSpPr>
            <a:spLocks noGrp="1"/>
          </p:cNvSpPr>
          <p:nvPr>
            <p:ph idx="1"/>
          </p:nvPr>
        </p:nvSpPr>
        <p:spPr/>
        <p:txBody>
          <a:bodyPr/>
          <a:lstStyle/>
          <a:p>
            <a:pPr algn="just"/>
            <a:r>
              <a:rPr dirty="0"/>
              <a:t>Survey of 50 MSMEs</a:t>
            </a:r>
            <a:r>
              <a:rPr lang="en-US" dirty="0"/>
              <a:t> (Google Articles)</a:t>
            </a:r>
            <a:r>
              <a:rPr dirty="0"/>
              <a:t>:</a:t>
            </a:r>
          </a:p>
          <a:p>
            <a:pPr algn="just"/>
            <a:r>
              <a:rPr dirty="0"/>
              <a:t>- 72% face monthly downtimes</a:t>
            </a:r>
          </a:p>
          <a:p>
            <a:pPr algn="just"/>
            <a:r>
              <a:rPr dirty="0"/>
              <a:t>- 86% rely on reactive maintenance</a:t>
            </a:r>
          </a:p>
          <a:p>
            <a:pPr algn="just"/>
            <a:r>
              <a:rPr dirty="0"/>
              <a:t>- 68% interested in affordable monitoring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Market Survey</a:t>
            </a:r>
          </a:p>
        </p:txBody>
      </p:sp>
      <p:sp>
        <p:nvSpPr>
          <p:cNvPr id="3" name="Content Placeholder 2"/>
          <p:cNvSpPr>
            <a:spLocks noGrp="1"/>
          </p:cNvSpPr>
          <p:nvPr>
            <p:ph idx="1"/>
          </p:nvPr>
        </p:nvSpPr>
        <p:spPr/>
        <p:txBody>
          <a:bodyPr/>
          <a:lstStyle/>
          <a:p>
            <a:r>
              <a:rPr dirty="0"/>
              <a:t>6.3 Cr MSMEs in India (11-15 lakh in manufacturing)</a:t>
            </a:r>
          </a:p>
          <a:p>
            <a:r>
              <a:rPr dirty="0"/>
              <a:t>Industry 4.0 market: ₹1200 Cr+ by 2027</a:t>
            </a:r>
          </a:p>
          <a:p>
            <a:r>
              <a:rPr dirty="0"/>
              <a:t>Supported by PLI, SAMARTH Udyog, other </a:t>
            </a:r>
            <a:r>
              <a:rPr dirty="0" err="1"/>
              <a:t>GoI</a:t>
            </a:r>
            <a:r>
              <a:t> schemes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Potential Solutions (Ideation)</a:t>
            </a:r>
          </a:p>
        </p:txBody>
      </p:sp>
      <p:sp>
        <p:nvSpPr>
          <p:cNvPr id="3" name="Content Placeholder 2"/>
          <p:cNvSpPr>
            <a:spLocks noGrp="1"/>
          </p:cNvSpPr>
          <p:nvPr>
            <p:ph idx="1"/>
          </p:nvPr>
        </p:nvSpPr>
        <p:spPr/>
        <p:txBody>
          <a:bodyPr/>
          <a:lstStyle/>
          <a:p>
            <a:r>
              <a:t>IoT-based real-time machine monitoring</a:t>
            </a:r>
          </a:p>
          <a:p>
            <a:r>
              <a:t>ML-powered anomaly detection</a:t>
            </a:r>
          </a:p>
          <a:p>
            <a:r>
              <a:t>Digital twin to simulate machine behavior</a:t>
            </a:r>
          </a:p>
          <a:p>
            <a:r>
              <a:t>Web dashboard with mobile alerts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Uniqueness of the Solution</a:t>
            </a:r>
          </a:p>
        </p:txBody>
      </p:sp>
      <p:sp>
        <p:nvSpPr>
          <p:cNvPr id="3" name="Content Placeholder 2"/>
          <p:cNvSpPr>
            <a:spLocks noGrp="1"/>
          </p:cNvSpPr>
          <p:nvPr>
            <p:ph idx="1"/>
          </p:nvPr>
        </p:nvSpPr>
        <p:spPr/>
        <p:txBody>
          <a:bodyPr/>
          <a:lstStyle/>
          <a:p>
            <a:r>
              <a:t>Affordable (₹7.5K) plug-and-play system</a:t>
            </a:r>
          </a:p>
          <a:p>
            <a:r>
              <a:t>Uses open-source + low-cost hardware</a:t>
            </a:r>
          </a:p>
          <a:p>
            <a:r>
              <a:t>Digital twin + ML + IoT in one platform</a:t>
            </a:r>
          </a:p>
          <a:p>
            <a:r>
              <a:t>Cloud dashboard + remote access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Block Diagram / System Architecture</a:t>
            </a:r>
          </a:p>
        </p:txBody>
      </p:sp>
      <p:pic>
        <p:nvPicPr>
          <p:cNvPr id="5" name="Content Placeholder 4"/>
          <p:cNvPicPr>
            <a:picLocks noGrp="1" noChangeAspect="1"/>
          </p:cNvPicPr>
          <p:nvPr>
            <p:ph idx="1"/>
          </p:nvPr>
        </p:nvPicPr>
        <p:blipFill>
          <a:blip r:embed="rId2"/>
          <a:stretch>
            <a:fillRect/>
          </a:stretch>
        </p:blipFill>
        <p:spPr>
          <a:xfrm>
            <a:off x="2660015" y="1600200"/>
            <a:ext cx="3822700" cy="4526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Prototype Bill of Materials</a:t>
            </a:r>
          </a:p>
        </p:txBody>
      </p:sp>
      <p:sp>
        <p:nvSpPr>
          <p:cNvPr id="3" name="Content Placeholder 2"/>
          <p:cNvSpPr>
            <a:spLocks noGrp="1"/>
          </p:cNvSpPr>
          <p:nvPr>
            <p:ph idx="1"/>
          </p:nvPr>
        </p:nvSpPr>
        <p:spPr/>
        <p:txBody>
          <a:bodyPr/>
          <a:lstStyle/>
          <a:p>
            <a:endParaRPr/>
          </a:p>
        </p:txBody>
      </p:sp>
      <p:graphicFrame>
        <p:nvGraphicFramePr>
          <p:cNvPr id="4" name="Table 3"/>
          <p:cNvGraphicFramePr>
            <a:graphicFrameLocks noGrp="1"/>
          </p:cNvGraphicFramePr>
          <p:nvPr>
            <p:extLst>
              <p:ext uri="{D42A27DB-BD31-4B8C-83A1-F6EECF244321}">
                <p14:modId xmlns:p14="http://schemas.microsoft.com/office/powerpoint/2010/main" val="4131335657"/>
              </p:ext>
            </p:extLst>
          </p:nvPr>
        </p:nvGraphicFramePr>
        <p:xfrm>
          <a:off x="457200" y="1699895"/>
          <a:ext cx="8229600" cy="4114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457200">
                <a:tc>
                  <a:txBody>
                    <a:bodyPr/>
                    <a:lstStyle/>
                    <a:p>
                      <a:pPr algn="l">
                        <a:defRPr sz="1200">
                          <a:latin typeface="Calibri" panose="020F0502020204030204"/>
                        </a:defRPr>
                      </a:pPr>
                      <a:r>
                        <a:rPr dirty="0"/>
                        <a:t>Item</a:t>
                      </a:r>
                      <a:r>
                        <a:rPr lang="en-IN" dirty="0"/>
                        <a:t>/Category</a:t>
                      </a:r>
                      <a:endParaRPr dirty="0"/>
                    </a:p>
                  </a:txBody>
                  <a:tcPr/>
                </a:tc>
                <a:tc>
                  <a:txBody>
                    <a:bodyPr/>
                    <a:lstStyle/>
                    <a:p>
                      <a:pPr algn="l">
                        <a:defRPr sz="1200">
                          <a:latin typeface="Calibri" panose="020F0502020204030204"/>
                        </a:defRPr>
                      </a:pPr>
                      <a:r>
                        <a:t>Qty</a:t>
                      </a:r>
                    </a:p>
                  </a:txBody>
                  <a:tcPr/>
                </a:tc>
                <a:tc>
                  <a:txBody>
                    <a:bodyPr/>
                    <a:lstStyle/>
                    <a:p>
                      <a:pPr algn="l">
                        <a:defRPr sz="1200">
                          <a:latin typeface="Calibri" panose="020F0502020204030204"/>
                        </a:defRPr>
                      </a:pPr>
                      <a:r>
                        <a:t>Unit Cost (INR)</a:t>
                      </a:r>
                    </a:p>
                  </a:txBody>
                  <a:tcPr/>
                </a:tc>
                <a:tc>
                  <a:txBody>
                    <a:bodyPr/>
                    <a:lstStyle/>
                    <a:p>
                      <a:pPr algn="l">
                        <a:defRPr sz="1200">
                          <a:latin typeface="Calibri" panose="020F0502020204030204"/>
                        </a:defRPr>
                      </a:pPr>
                      <a:r>
                        <a:t>Total Cost</a:t>
                      </a:r>
                    </a:p>
                  </a:txBody>
                  <a:tcPr/>
                </a:tc>
                <a:tc>
                  <a:txBody>
                    <a:bodyPr/>
                    <a:lstStyle/>
                    <a:p>
                      <a:pPr algn="l">
                        <a:defRPr sz="1200">
                          <a:latin typeface="Calibri" panose="020F0502020204030204"/>
                        </a:defRPr>
                      </a:pPr>
                      <a:r>
                        <a:t>Function</a:t>
                      </a:r>
                    </a:p>
                  </a:txBody>
                  <a:tcPr/>
                </a:tc>
                <a:extLst>
                  <a:ext uri="{0D108BD9-81ED-4DB2-BD59-A6C34878D82A}">
                    <a16:rowId xmlns:a16="http://schemas.microsoft.com/office/drawing/2014/main" val="10000"/>
                  </a:ext>
                </a:extLst>
              </a:tr>
              <a:tr h="457200">
                <a:tc>
                  <a:txBody>
                    <a:bodyPr/>
                    <a:lstStyle/>
                    <a:p>
                      <a:pPr algn="l">
                        <a:defRPr sz="1200">
                          <a:latin typeface="Calibri" panose="020F0502020204030204"/>
                        </a:defRPr>
                      </a:pPr>
                      <a:r>
                        <a:rPr lang="en-IN" sz="1200" kern="1200" dirty="0">
                          <a:solidFill>
                            <a:schemeClr val="dk1"/>
                          </a:solidFill>
                          <a:latin typeface="+mn-lt"/>
                          <a:ea typeface="+mn-ea"/>
                          <a:cs typeface="+mn-cs"/>
                        </a:rPr>
                        <a:t>NVIDIA Jetson Nano</a:t>
                      </a:r>
                      <a:endParaRPr dirty="0"/>
                    </a:p>
                  </a:txBody>
                  <a:tcPr/>
                </a:tc>
                <a:tc>
                  <a:txBody>
                    <a:bodyPr/>
                    <a:lstStyle/>
                    <a:p>
                      <a:pPr algn="l">
                        <a:defRPr sz="1200">
                          <a:latin typeface="Calibri" panose="020F0502020204030204"/>
                        </a:defRPr>
                      </a:pPr>
                      <a:r>
                        <a:rPr lang="en-IN" dirty="0"/>
                        <a:t>1</a:t>
                      </a:r>
                      <a:endParaRPr dirty="0"/>
                    </a:p>
                  </a:txBody>
                  <a:tcPr/>
                </a:tc>
                <a:tc>
                  <a:txBody>
                    <a:bodyPr/>
                    <a:lstStyle/>
                    <a:p>
                      <a:pPr algn="l">
                        <a:defRPr sz="1200">
                          <a:latin typeface="Calibri" panose="020F0502020204030204"/>
                        </a:defRPr>
                      </a:pPr>
                      <a:r>
                        <a:rPr dirty="0"/>
                        <a:t>₹</a:t>
                      </a:r>
                      <a:r>
                        <a:rPr lang="en-IN" dirty="0"/>
                        <a:t>12000</a:t>
                      </a:r>
                      <a:endParaRPr dirty="0"/>
                    </a:p>
                  </a:txBody>
                  <a:tcPr/>
                </a:tc>
                <a:tc>
                  <a:txBody>
                    <a:bodyPr/>
                    <a:lstStyle/>
                    <a:p>
                      <a:pPr algn="l">
                        <a:defRPr sz="1200">
                          <a:latin typeface="Calibri" panose="020F0502020204030204"/>
                        </a:defRPr>
                      </a:pPr>
                      <a:r>
                        <a:rPr dirty="0"/>
                        <a:t>₹</a:t>
                      </a:r>
                      <a:r>
                        <a:rPr lang="en-IN" dirty="0"/>
                        <a:t>120</a:t>
                      </a:r>
                      <a:r>
                        <a:rPr dirty="0"/>
                        <a:t>00</a:t>
                      </a:r>
                    </a:p>
                  </a:txBody>
                  <a:tcPr/>
                </a:tc>
                <a:tc>
                  <a:txBody>
                    <a:bodyPr/>
                    <a:lstStyle/>
                    <a:p>
                      <a:pPr algn="l">
                        <a:defRPr sz="1200">
                          <a:latin typeface="Calibri" panose="020F0502020204030204"/>
                        </a:defRPr>
                      </a:pPr>
                      <a:r>
                        <a:rPr lang="en-US" sz="1200" kern="1200" dirty="0">
                          <a:solidFill>
                            <a:schemeClr val="dk1"/>
                          </a:solidFill>
                          <a:latin typeface="+mn-lt"/>
                          <a:ea typeface="+mn-ea"/>
                          <a:cs typeface="+mn-cs"/>
                        </a:rPr>
                        <a:t>AI inference + Edge computing backend</a:t>
                      </a:r>
                      <a:endParaRPr dirty="0"/>
                    </a:p>
                  </a:txBody>
                  <a:tcPr/>
                </a:tc>
                <a:extLst>
                  <a:ext uri="{0D108BD9-81ED-4DB2-BD59-A6C34878D82A}">
                    <a16:rowId xmlns:a16="http://schemas.microsoft.com/office/drawing/2014/main" val="10001"/>
                  </a:ext>
                </a:extLst>
              </a:tr>
              <a:tr h="457200">
                <a:tc>
                  <a:txBody>
                    <a:bodyPr/>
                    <a:lstStyle/>
                    <a:p>
                      <a:r>
                        <a:rPr lang="en-IN" sz="1200" b="0" dirty="0"/>
                        <a:t>Environmental Sensors</a:t>
                      </a:r>
                    </a:p>
                  </a:txBody>
                  <a:tcPr anchor="ctr"/>
                </a:tc>
                <a:tc>
                  <a:txBody>
                    <a:bodyPr/>
                    <a:lstStyle/>
                    <a:p>
                      <a:pPr algn="l">
                        <a:defRPr sz="1200">
                          <a:latin typeface="Calibri" panose="020F0502020204030204"/>
                        </a:defRPr>
                      </a:pPr>
                      <a:r>
                        <a:rPr lang="en-IN" dirty="0"/>
                        <a:t>4</a:t>
                      </a:r>
                      <a:endParaRPr dirty="0"/>
                    </a:p>
                  </a:txBody>
                  <a:tcPr/>
                </a:tc>
                <a:tc>
                  <a:txBody>
                    <a:bodyPr/>
                    <a:lstStyle/>
                    <a:p>
                      <a:pPr algn="l">
                        <a:defRPr sz="1200">
                          <a:latin typeface="Calibri" panose="020F0502020204030204"/>
                        </a:defRPr>
                      </a:pPr>
                      <a:r>
                        <a:rPr dirty="0"/>
                        <a:t>₹</a:t>
                      </a:r>
                      <a:r>
                        <a:rPr lang="en-IN" dirty="0"/>
                        <a:t>90</a:t>
                      </a:r>
                      <a:r>
                        <a:rPr dirty="0"/>
                        <a:t>0</a:t>
                      </a:r>
                    </a:p>
                  </a:txBody>
                  <a:tcPr/>
                </a:tc>
                <a:tc>
                  <a:txBody>
                    <a:bodyPr/>
                    <a:lstStyle/>
                    <a:p>
                      <a:pPr algn="l">
                        <a:defRPr sz="1200">
                          <a:latin typeface="Calibri" panose="020F0502020204030204"/>
                        </a:defRPr>
                      </a:pPr>
                      <a:r>
                        <a:rPr dirty="0"/>
                        <a:t>₹</a:t>
                      </a:r>
                      <a:r>
                        <a:rPr lang="en-IN" dirty="0"/>
                        <a:t>36</a:t>
                      </a:r>
                      <a:r>
                        <a:rPr dirty="0"/>
                        <a:t>00</a:t>
                      </a:r>
                    </a:p>
                  </a:txBody>
                  <a:tcPr/>
                </a:tc>
                <a:tc>
                  <a:txBody>
                    <a:bodyPr/>
                    <a:lstStyle/>
                    <a:p>
                      <a:pPr algn="l">
                        <a:defRPr sz="1200">
                          <a:latin typeface="Calibri" panose="020F0502020204030204"/>
                        </a:defRPr>
                      </a:pPr>
                      <a:r>
                        <a:rPr lang="en-IN" sz="1200" kern="1200" dirty="0">
                          <a:solidFill>
                            <a:schemeClr val="dk1"/>
                          </a:solidFill>
                          <a:latin typeface="+mn-lt"/>
                          <a:ea typeface="+mn-ea"/>
                          <a:cs typeface="+mn-cs"/>
                        </a:rPr>
                        <a:t>Environmental data logging</a:t>
                      </a:r>
                      <a:endParaRPr dirty="0"/>
                    </a:p>
                  </a:txBody>
                  <a:tcPr/>
                </a:tc>
                <a:extLst>
                  <a:ext uri="{0D108BD9-81ED-4DB2-BD59-A6C34878D82A}">
                    <a16:rowId xmlns:a16="http://schemas.microsoft.com/office/drawing/2014/main" val="10002"/>
                  </a:ext>
                </a:extLst>
              </a:tr>
              <a:tr h="457200">
                <a:tc>
                  <a:txBody>
                    <a:bodyPr/>
                    <a:lstStyle/>
                    <a:p>
                      <a:r>
                        <a:rPr lang="en-IN" sz="1200" b="0" dirty="0"/>
                        <a:t>UI &amp; Display</a:t>
                      </a:r>
                    </a:p>
                  </a:txBody>
                  <a:tcPr anchor="ctr"/>
                </a:tc>
                <a:tc>
                  <a:txBody>
                    <a:bodyPr/>
                    <a:lstStyle/>
                    <a:p>
                      <a:pPr algn="l">
                        <a:defRPr sz="1200">
                          <a:latin typeface="Calibri" panose="020F0502020204030204"/>
                        </a:defRPr>
                      </a:pPr>
                      <a:r>
                        <a:t>2</a:t>
                      </a:r>
                    </a:p>
                  </a:txBody>
                  <a:tcPr/>
                </a:tc>
                <a:tc>
                  <a:txBody>
                    <a:bodyPr/>
                    <a:lstStyle/>
                    <a:p>
                      <a:pPr algn="l">
                        <a:defRPr sz="1200">
                          <a:latin typeface="Calibri" panose="020F0502020204030204"/>
                        </a:defRPr>
                      </a:pPr>
                      <a:r>
                        <a:rPr dirty="0"/>
                        <a:t>₹</a:t>
                      </a:r>
                      <a:r>
                        <a:rPr lang="en-IN" dirty="0"/>
                        <a:t>40</a:t>
                      </a:r>
                      <a:r>
                        <a:rPr dirty="0"/>
                        <a:t>0</a:t>
                      </a:r>
                    </a:p>
                  </a:txBody>
                  <a:tcPr/>
                </a:tc>
                <a:tc>
                  <a:txBody>
                    <a:bodyPr/>
                    <a:lstStyle/>
                    <a:p>
                      <a:pPr algn="l">
                        <a:defRPr sz="1200">
                          <a:latin typeface="Calibri" panose="020F0502020204030204"/>
                        </a:defRPr>
                      </a:pPr>
                      <a:r>
                        <a:rPr dirty="0"/>
                        <a:t>₹</a:t>
                      </a:r>
                      <a:r>
                        <a:rPr lang="en-IN" dirty="0"/>
                        <a:t>800</a:t>
                      </a:r>
                      <a:endParaRPr dirty="0"/>
                    </a:p>
                  </a:txBody>
                  <a:tcPr/>
                </a:tc>
                <a:tc>
                  <a:txBody>
                    <a:bodyPr/>
                    <a:lstStyle/>
                    <a:p>
                      <a:pPr algn="l">
                        <a:defRPr sz="1200">
                          <a:latin typeface="Calibri" panose="020F0502020204030204"/>
                        </a:defRPr>
                      </a:pPr>
                      <a:r>
                        <a:rPr lang="en-IN" sz="1200" kern="1200" dirty="0">
                          <a:solidFill>
                            <a:schemeClr val="dk1"/>
                          </a:solidFill>
                          <a:latin typeface="+mn-lt"/>
                          <a:ea typeface="+mn-ea"/>
                          <a:cs typeface="+mn-cs"/>
                        </a:rPr>
                        <a:t>Real-time machine feedback</a:t>
                      </a:r>
                      <a:endParaRPr dirty="0"/>
                    </a:p>
                  </a:txBody>
                  <a:tcPr/>
                </a:tc>
                <a:extLst>
                  <a:ext uri="{0D108BD9-81ED-4DB2-BD59-A6C34878D82A}">
                    <a16:rowId xmlns:a16="http://schemas.microsoft.com/office/drawing/2014/main" val="10003"/>
                  </a:ext>
                </a:extLst>
              </a:tr>
              <a:tr h="457200">
                <a:tc>
                  <a:txBody>
                    <a:bodyPr/>
                    <a:lstStyle/>
                    <a:p>
                      <a:pPr algn="l">
                        <a:defRPr sz="1200">
                          <a:latin typeface="Calibri" panose="020F0502020204030204"/>
                        </a:defRPr>
                      </a:pPr>
                      <a:r>
                        <a:rPr lang="en-IN" sz="1200" kern="1200" dirty="0">
                          <a:solidFill>
                            <a:schemeClr val="dk1"/>
                          </a:solidFill>
                          <a:latin typeface="+mn-lt"/>
                          <a:ea typeface="+mn-ea"/>
                          <a:cs typeface="+mn-cs"/>
                        </a:rPr>
                        <a:t>Networking + IoT</a:t>
                      </a:r>
                      <a:endParaRPr dirty="0"/>
                    </a:p>
                  </a:txBody>
                  <a:tcPr/>
                </a:tc>
                <a:tc>
                  <a:txBody>
                    <a:bodyPr/>
                    <a:lstStyle/>
                    <a:p>
                      <a:pPr algn="l">
                        <a:defRPr sz="1200">
                          <a:latin typeface="Calibri" panose="020F0502020204030204"/>
                        </a:defRPr>
                      </a:pPr>
                      <a:r>
                        <a:t>2</a:t>
                      </a:r>
                    </a:p>
                  </a:txBody>
                  <a:tcPr/>
                </a:tc>
                <a:tc>
                  <a:txBody>
                    <a:bodyPr/>
                    <a:lstStyle/>
                    <a:p>
                      <a:pPr algn="l">
                        <a:defRPr sz="1200">
                          <a:latin typeface="Calibri" panose="020F0502020204030204"/>
                        </a:defRPr>
                      </a:pPr>
                      <a:r>
                        <a:t>₹300</a:t>
                      </a:r>
                    </a:p>
                  </a:txBody>
                  <a:tcPr/>
                </a:tc>
                <a:tc>
                  <a:txBody>
                    <a:bodyPr/>
                    <a:lstStyle/>
                    <a:p>
                      <a:pPr algn="l">
                        <a:defRPr sz="1200">
                          <a:latin typeface="Calibri" panose="020F0502020204030204"/>
                        </a:defRPr>
                      </a:pPr>
                      <a:r>
                        <a:t>₹600</a:t>
                      </a:r>
                    </a:p>
                  </a:txBody>
                  <a:tcPr/>
                </a:tc>
                <a:tc>
                  <a:txBody>
                    <a:bodyPr/>
                    <a:lstStyle/>
                    <a:p>
                      <a:pPr algn="l">
                        <a:defRPr sz="1200">
                          <a:latin typeface="Calibri" panose="020F0502020204030204"/>
                        </a:defRPr>
                      </a:pPr>
                      <a:r>
                        <a:rPr lang="en-IN" sz="1200" kern="1200" dirty="0">
                          <a:solidFill>
                            <a:schemeClr val="dk1"/>
                          </a:solidFill>
                          <a:latin typeface="+mn-lt"/>
                          <a:ea typeface="+mn-ea"/>
                          <a:cs typeface="+mn-cs"/>
                        </a:rPr>
                        <a:t>Real-time cloud sync</a:t>
                      </a:r>
                      <a:endParaRPr dirty="0"/>
                    </a:p>
                  </a:txBody>
                  <a:tcPr/>
                </a:tc>
                <a:extLst>
                  <a:ext uri="{0D108BD9-81ED-4DB2-BD59-A6C34878D82A}">
                    <a16:rowId xmlns:a16="http://schemas.microsoft.com/office/drawing/2014/main" val="10004"/>
                  </a:ext>
                </a:extLst>
              </a:tr>
              <a:tr h="457200">
                <a:tc>
                  <a:txBody>
                    <a:bodyPr/>
                    <a:lstStyle/>
                    <a:p>
                      <a:pPr algn="l">
                        <a:defRPr sz="1200">
                          <a:latin typeface="Calibri" panose="020F0502020204030204"/>
                        </a:defRPr>
                      </a:pPr>
                      <a:r>
                        <a:rPr lang="en-IN" sz="1200" kern="1200" dirty="0">
                          <a:solidFill>
                            <a:schemeClr val="dk1"/>
                          </a:solidFill>
                          <a:latin typeface="+mn-lt"/>
                          <a:ea typeface="+mn-ea"/>
                          <a:cs typeface="+mn-cs"/>
                        </a:rPr>
                        <a:t>Power &amp; Battery</a:t>
                      </a:r>
                      <a:endParaRPr dirty="0"/>
                    </a:p>
                  </a:txBody>
                  <a:tcPr/>
                </a:tc>
                <a:tc>
                  <a:txBody>
                    <a:bodyPr/>
                    <a:lstStyle/>
                    <a:p>
                      <a:pPr algn="l">
                        <a:defRPr sz="1200">
                          <a:latin typeface="Calibri" panose="020F0502020204030204"/>
                        </a:defRPr>
                      </a:pPr>
                      <a:r>
                        <a:rPr lang="en-IN" dirty="0"/>
                        <a:t>2</a:t>
                      </a:r>
                      <a:endParaRPr dirty="0"/>
                    </a:p>
                  </a:txBody>
                  <a:tcPr/>
                </a:tc>
                <a:tc>
                  <a:txBody>
                    <a:bodyPr/>
                    <a:lstStyle/>
                    <a:p>
                      <a:pPr algn="l">
                        <a:defRPr sz="1200">
                          <a:latin typeface="Calibri" panose="020F0502020204030204"/>
                        </a:defRPr>
                      </a:pPr>
                      <a:r>
                        <a:rPr dirty="0"/>
                        <a:t>₹</a:t>
                      </a:r>
                      <a:r>
                        <a:rPr lang="en-IN" dirty="0"/>
                        <a:t>1</a:t>
                      </a:r>
                      <a:r>
                        <a:rPr dirty="0"/>
                        <a:t>,</a:t>
                      </a:r>
                      <a:r>
                        <a:rPr lang="en-IN" dirty="0"/>
                        <a:t>0</a:t>
                      </a:r>
                      <a:r>
                        <a:rPr dirty="0"/>
                        <a:t>00</a:t>
                      </a:r>
                    </a:p>
                  </a:txBody>
                  <a:tcPr/>
                </a:tc>
                <a:tc>
                  <a:txBody>
                    <a:bodyPr/>
                    <a:lstStyle/>
                    <a:p>
                      <a:pPr algn="l">
                        <a:defRPr sz="1200">
                          <a:latin typeface="Calibri" panose="020F0502020204030204"/>
                        </a:defRPr>
                      </a:pPr>
                      <a:r>
                        <a:rPr dirty="0"/>
                        <a:t>₹</a:t>
                      </a:r>
                      <a:r>
                        <a:rPr lang="en-IN" dirty="0"/>
                        <a:t>2</a:t>
                      </a:r>
                      <a:r>
                        <a:rPr dirty="0"/>
                        <a:t>,</a:t>
                      </a:r>
                      <a:r>
                        <a:rPr lang="en-IN" dirty="0"/>
                        <a:t>0</a:t>
                      </a:r>
                      <a:r>
                        <a:rPr dirty="0"/>
                        <a:t>00</a:t>
                      </a:r>
                    </a:p>
                  </a:txBody>
                  <a:tcPr/>
                </a:tc>
                <a:tc>
                  <a:txBody>
                    <a:bodyPr/>
                    <a:lstStyle/>
                    <a:p>
                      <a:pPr algn="l">
                        <a:defRPr sz="1200">
                          <a:latin typeface="Calibri" panose="020F0502020204030204"/>
                        </a:defRPr>
                      </a:pPr>
                      <a:r>
                        <a:rPr lang="en-IN" sz="1200" kern="1200" dirty="0">
                          <a:solidFill>
                            <a:schemeClr val="dk1"/>
                          </a:solidFill>
                          <a:latin typeface="+mn-lt"/>
                          <a:ea typeface="+mn-ea"/>
                          <a:cs typeface="+mn-cs"/>
                        </a:rPr>
                        <a:t>Standalone mobile unit</a:t>
                      </a:r>
                      <a:endParaRPr dirty="0"/>
                    </a:p>
                  </a:txBody>
                  <a:tcPr/>
                </a:tc>
                <a:extLst>
                  <a:ext uri="{0D108BD9-81ED-4DB2-BD59-A6C34878D82A}">
                    <a16:rowId xmlns:a16="http://schemas.microsoft.com/office/drawing/2014/main" val="10005"/>
                  </a:ext>
                </a:extLst>
              </a:tr>
              <a:tr h="457200">
                <a:tc>
                  <a:txBody>
                    <a:bodyPr/>
                    <a:lstStyle/>
                    <a:p>
                      <a:pPr algn="l">
                        <a:defRPr sz="1200">
                          <a:latin typeface="Calibri" panose="020F0502020204030204"/>
                        </a:defRPr>
                      </a:pPr>
                      <a:r>
                        <a:rPr lang="en-IN" sz="1200" kern="1200" dirty="0">
                          <a:solidFill>
                            <a:schemeClr val="dk1"/>
                          </a:solidFill>
                          <a:latin typeface="+mn-lt"/>
                          <a:ea typeface="+mn-ea"/>
                          <a:cs typeface="+mn-cs"/>
                        </a:rPr>
                        <a:t>Storage &amp; Debugging</a:t>
                      </a:r>
                      <a:endParaRPr dirty="0"/>
                    </a:p>
                  </a:txBody>
                  <a:tcPr/>
                </a:tc>
                <a:tc>
                  <a:txBody>
                    <a:bodyPr/>
                    <a:lstStyle/>
                    <a:p>
                      <a:pPr algn="l">
                        <a:defRPr sz="1200">
                          <a:latin typeface="Calibri" panose="020F0502020204030204"/>
                        </a:defRPr>
                      </a:pPr>
                      <a:r>
                        <a:rPr lang="en-IN" dirty="0"/>
                        <a:t>2</a:t>
                      </a:r>
                      <a:endParaRPr dirty="0"/>
                    </a:p>
                  </a:txBody>
                  <a:tcPr/>
                </a:tc>
                <a:tc>
                  <a:txBody>
                    <a:bodyPr/>
                    <a:lstStyle/>
                    <a:p>
                      <a:pPr algn="l">
                        <a:defRPr sz="1200">
                          <a:latin typeface="Calibri" panose="020F0502020204030204"/>
                        </a:defRPr>
                      </a:pPr>
                      <a:r>
                        <a:rPr lang="en-IN" dirty="0"/>
                        <a:t>₹2,400</a:t>
                      </a:r>
                      <a:endParaRPr dirty="0"/>
                    </a:p>
                  </a:txBody>
                  <a:tcPr/>
                </a:tc>
                <a:tc>
                  <a:txBody>
                    <a:bodyPr/>
                    <a:lstStyle/>
                    <a:p>
                      <a:pPr algn="l">
                        <a:defRPr sz="1200">
                          <a:latin typeface="Calibri" panose="020F0502020204030204"/>
                        </a:defRPr>
                      </a:pPr>
                      <a:r>
                        <a:rPr dirty="0"/>
                        <a:t>₹</a:t>
                      </a:r>
                      <a:r>
                        <a:rPr lang="en-IN" dirty="0"/>
                        <a:t>4,8</a:t>
                      </a:r>
                      <a:r>
                        <a:rPr dirty="0"/>
                        <a:t>00</a:t>
                      </a:r>
                    </a:p>
                  </a:txBody>
                  <a:tcPr/>
                </a:tc>
                <a:tc>
                  <a:txBody>
                    <a:bodyPr/>
                    <a:lstStyle/>
                    <a:p>
                      <a:pPr algn="l">
                        <a:defRPr sz="1200">
                          <a:latin typeface="Calibri" panose="020F0502020204030204"/>
                        </a:defRPr>
                      </a:pPr>
                      <a:r>
                        <a:rPr lang="en-IN" sz="1200" kern="1200" dirty="0">
                          <a:solidFill>
                            <a:schemeClr val="dk1"/>
                          </a:solidFill>
                          <a:latin typeface="+mn-lt"/>
                          <a:ea typeface="+mn-ea"/>
                          <a:cs typeface="+mn-cs"/>
                        </a:rPr>
                        <a:t>On-site diagnostics</a:t>
                      </a:r>
                      <a:endParaRPr dirty="0"/>
                    </a:p>
                  </a:txBody>
                  <a:tcPr/>
                </a:tc>
                <a:extLst>
                  <a:ext uri="{0D108BD9-81ED-4DB2-BD59-A6C34878D82A}">
                    <a16:rowId xmlns:a16="http://schemas.microsoft.com/office/drawing/2014/main" val="10006"/>
                  </a:ext>
                </a:extLst>
              </a:tr>
              <a:tr h="457200">
                <a:tc>
                  <a:txBody>
                    <a:bodyPr/>
                    <a:lstStyle/>
                    <a:p>
                      <a:pPr algn="l">
                        <a:defRPr sz="1200">
                          <a:latin typeface="Calibri" panose="020F0502020204030204"/>
                        </a:defRPr>
                      </a:pPr>
                      <a:r>
                        <a:rPr lang="en-IN" dirty="0"/>
                        <a:t>Miscellaneous </a:t>
                      </a:r>
                      <a:endParaRPr dirty="0"/>
                    </a:p>
                  </a:txBody>
                  <a:tcPr/>
                </a:tc>
                <a:tc>
                  <a:txBody>
                    <a:bodyPr/>
                    <a:lstStyle/>
                    <a:p>
                      <a:pPr algn="l">
                        <a:defRPr sz="1200">
                          <a:latin typeface="Calibri" panose="020F0502020204030204"/>
                        </a:defRPr>
                      </a:pPr>
                      <a:r>
                        <a:rPr lang="en-IN" dirty="0"/>
                        <a:t>-</a:t>
                      </a:r>
                      <a:endParaRPr dirty="0"/>
                    </a:p>
                  </a:txBody>
                  <a:tcPr/>
                </a:tc>
                <a:tc>
                  <a:txBody>
                    <a:bodyPr/>
                    <a:lstStyle/>
                    <a:p>
                      <a:pPr algn="l">
                        <a:defRPr sz="1200">
                          <a:latin typeface="Calibri" panose="020F0502020204030204"/>
                        </a:defRPr>
                      </a:pPr>
                      <a:r>
                        <a:rPr lang="en-IN" dirty="0"/>
                        <a:t>-</a:t>
                      </a:r>
                      <a:endParaRPr dirty="0"/>
                    </a:p>
                  </a:txBody>
                  <a:tcPr/>
                </a:tc>
                <a:tc>
                  <a:txBody>
                    <a:bodyPr/>
                    <a:lstStyle/>
                    <a:p>
                      <a:pPr algn="l">
                        <a:defRPr sz="1200">
                          <a:latin typeface="Calibri" panose="020F0502020204030204"/>
                        </a:defRPr>
                      </a:pPr>
                      <a:r>
                        <a:rPr lang="en-IN" dirty="0"/>
                        <a:t>₹7,000</a:t>
                      </a:r>
                      <a:endParaRPr dirty="0"/>
                    </a:p>
                  </a:txBody>
                  <a:tcPr/>
                </a:tc>
                <a:tc>
                  <a:txBody>
                    <a:bodyPr/>
                    <a:lstStyle/>
                    <a:p>
                      <a:pPr algn="l">
                        <a:defRPr sz="1200">
                          <a:latin typeface="Calibri" panose="020F0502020204030204"/>
                        </a:defRPr>
                      </a:pPr>
                      <a:endParaRPr dirty="0"/>
                    </a:p>
                  </a:txBody>
                  <a:tcPr/>
                </a:tc>
                <a:extLst>
                  <a:ext uri="{0D108BD9-81ED-4DB2-BD59-A6C34878D82A}">
                    <a16:rowId xmlns:a16="http://schemas.microsoft.com/office/drawing/2014/main" val="2264646195"/>
                  </a:ext>
                </a:extLst>
              </a:tr>
              <a:tr h="457200">
                <a:tc>
                  <a:txBody>
                    <a:bodyPr/>
                    <a:lstStyle/>
                    <a:p>
                      <a:pPr algn="l">
                        <a:defRPr sz="1200">
                          <a:latin typeface="Calibri" panose="020F0502020204030204"/>
                        </a:defRPr>
                      </a:pPr>
                      <a:r>
                        <a:t>Total</a:t>
                      </a:r>
                    </a:p>
                  </a:txBody>
                  <a:tcPr/>
                </a:tc>
                <a:tc>
                  <a:txBody>
                    <a:bodyPr/>
                    <a:lstStyle/>
                    <a:p>
                      <a:pPr algn="l">
                        <a:defRPr sz="1200">
                          <a:latin typeface="Calibri" panose="020F0502020204030204"/>
                        </a:defRPr>
                      </a:pPr>
                      <a:endParaRPr/>
                    </a:p>
                  </a:txBody>
                  <a:tcPr/>
                </a:tc>
                <a:tc>
                  <a:txBody>
                    <a:bodyPr/>
                    <a:lstStyle/>
                    <a:p>
                      <a:pPr algn="l">
                        <a:defRPr sz="1200">
                          <a:latin typeface="Calibri" panose="020F0502020204030204"/>
                        </a:defRPr>
                      </a:pPr>
                      <a:endParaRPr/>
                    </a:p>
                  </a:txBody>
                  <a:tcPr/>
                </a:tc>
                <a:tc>
                  <a:txBody>
                    <a:bodyPr/>
                    <a:lstStyle/>
                    <a:p>
                      <a:pPr algn="l">
                        <a:defRPr sz="1200">
                          <a:latin typeface="Calibri" panose="020F0502020204030204"/>
                        </a:defRPr>
                      </a:pPr>
                      <a:r>
                        <a:rPr dirty="0"/>
                        <a:t>₹</a:t>
                      </a:r>
                      <a:r>
                        <a:rPr lang="en-IN" dirty="0"/>
                        <a:t>30,000</a:t>
                      </a:r>
                      <a:endParaRPr dirty="0"/>
                    </a:p>
                  </a:txBody>
                  <a:tcPr/>
                </a:tc>
                <a:tc>
                  <a:txBody>
                    <a:bodyPr/>
                    <a:lstStyle/>
                    <a:p>
                      <a:pPr algn="l">
                        <a:defRPr sz="1200">
                          <a:latin typeface="Calibri" panose="020F0502020204030204"/>
                        </a:defRPr>
                      </a:pPr>
                      <a:endParaRPr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Competitor Comparison</a:t>
            </a:r>
          </a:p>
        </p:txBody>
      </p:sp>
      <p:sp>
        <p:nvSpPr>
          <p:cNvPr id="3" name="Content Placeholder 2"/>
          <p:cNvSpPr>
            <a:spLocks noGrp="1"/>
          </p:cNvSpPr>
          <p:nvPr>
            <p:ph idx="1"/>
          </p:nvPr>
        </p:nvSpPr>
        <p:spPr/>
        <p:txBody>
          <a:bodyPr/>
          <a:lstStyle/>
          <a:p>
            <a:r>
              <a:t>Siemens MindSphere – High-end, ₹10L+, too complex for MSMEs</a:t>
            </a:r>
          </a:p>
          <a:p>
            <a:r>
              <a:t>Bosch Phantom Edge – ₹25K+, not customizable</a:t>
            </a:r>
          </a:p>
          <a:p>
            <a:r>
              <a:t>Our Solution – ₹7.5K, MSME-centric, customizable, local servicing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Model &amp; Revenue Plan</a:t>
            </a:r>
          </a:p>
        </p:txBody>
      </p:sp>
      <p:sp>
        <p:nvSpPr>
          <p:cNvPr id="3" name="Content Placeholder 2"/>
          <p:cNvSpPr>
            <a:spLocks noGrp="1"/>
          </p:cNvSpPr>
          <p:nvPr>
            <p:ph idx="1"/>
          </p:nvPr>
        </p:nvSpPr>
        <p:spPr/>
        <p:txBody>
          <a:bodyPr/>
          <a:lstStyle/>
          <a:p>
            <a:r>
              <a:t>Direct B2B Sales to MSMEs via Industrial Associations</a:t>
            </a:r>
          </a:p>
          <a:p>
            <a:r>
              <a:t>Cloud Dashboard – Subscription-based analytics</a:t>
            </a:r>
          </a:p>
          <a:p>
            <a:r>
              <a:rPr lang="en-US"/>
              <a:t>P</a:t>
            </a:r>
            <a:r>
              <a:t>artnership with State MSME Boards &amp; Incubators</a:t>
            </a:r>
          </a:p>
          <a:p>
            <a:r>
              <a:rPr>
                <a:sym typeface="+mn-ea"/>
              </a:rPr>
              <a:t>Starter Kit + ML Service Add-on Package</a:t>
            </a:r>
          </a:p>
          <a:p>
            <a:endParaRPr>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Development Roadmap</a:t>
            </a:r>
          </a:p>
        </p:txBody>
      </p:sp>
      <p:pic>
        <p:nvPicPr>
          <p:cNvPr id="4" name="Content Placeholder 3"/>
          <p:cNvPicPr>
            <a:picLocks noGrp="1" noChangeAspect="1"/>
          </p:cNvPicPr>
          <p:nvPr>
            <p:ph idx="1"/>
          </p:nvPr>
        </p:nvPicPr>
        <p:blipFill>
          <a:blip r:embed="rId2"/>
          <a:stretch>
            <a:fillRect/>
          </a:stretch>
        </p:blipFill>
        <p:spPr>
          <a:xfrm>
            <a:off x="2361565" y="1600200"/>
            <a:ext cx="4420235" cy="4526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395</Words>
  <Application>Microsoft Office PowerPoint</Application>
  <PresentationFormat>On-screen Show (4:3)</PresentationFormat>
  <Paragraphs>81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AI-Powered Digital Twin &amp; Predictive Maintenance System for MSMEs</vt:lpstr>
      <vt:lpstr>Problem Statement</vt:lpstr>
      <vt:lpstr>Customer Segment</vt:lpstr>
      <vt:lpstr>Customer Survey &amp; Outcome</vt:lpstr>
      <vt:lpstr>Market Survey</vt:lpstr>
      <vt:lpstr>Potential Solutions (Ideation)</vt:lpstr>
      <vt:lpstr>Uniqueness of the Solution</vt:lpstr>
      <vt:lpstr>Block Diagram / System Architecture</vt:lpstr>
      <vt:lpstr>Prototype Bill of Materials</vt:lpstr>
      <vt:lpstr>Competitor Comparison</vt:lpstr>
      <vt:lpstr>Business Model &amp; Revenue Plan</vt:lpstr>
      <vt:lpstr>Development Roadmap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Yegireddi Srinivas</cp:lastModifiedBy>
  <cp:revision>5</cp:revision>
  <dcterms:created xsi:type="dcterms:W3CDTF">2013-01-27T09:14:00Z</dcterms:created>
  <dcterms:modified xsi:type="dcterms:W3CDTF">2025-08-02T06:24:38Z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DBF0E74512D742FEAEE74DD0605650F3_12</vt:lpwstr>
  </property>
  <property fmtid="{D5CDD505-2E9C-101B-9397-08002B2CF9AE}" pid="3" name="KSOProductBuildVer">
    <vt:lpwstr>1033-12.2.0.21931</vt:lpwstr>
  </property>
</Properties>
</file>