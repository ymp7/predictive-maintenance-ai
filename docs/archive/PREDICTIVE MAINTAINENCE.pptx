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6413"/>
  <p:notesSz cx="12192000" cy="895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13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0056B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21212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100" dirty="0"/>
              <a:t> </a:t>
            </a:r>
            <a:r>
              <a:rPr spc="-65" dirty="0"/>
              <a:t>Genspark</a:t>
            </a:r>
            <a:r>
              <a:rPr spc="-25" dirty="0"/>
              <a:t> </a:t>
            </a:r>
            <a:fld id="{81D60167-4931-47E6-BA6A-407CBD079E47}" type="slidenum">
              <a:rPr sz="1650" spc="-75" baseline="-22727" dirty="0">
                <a:solidFill>
                  <a:srgbClr val="878787"/>
                </a:solidFill>
                <a:latin typeface="Arial"/>
                <a:cs typeface="Arial"/>
              </a:rPr>
              <a:t>‹#›</a:t>
            </a:fld>
            <a:endParaRPr sz="1650" baseline="-22727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0056B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21212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100" dirty="0"/>
              <a:t> </a:t>
            </a:r>
            <a:r>
              <a:rPr spc="-65" dirty="0"/>
              <a:t>Genspark</a:t>
            </a:r>
            <a:r>
              <a:rPr spc="-25" dirty="0"/>
              <a:t> </a:t>
            </a:r>
            <a:fld id="{81D60167-4931-47E6-BA6A-407CBD079E47}" type="slidenum">
              <a:rPr sz="1650" spc="-75" baseline="-22727" dirty="0">
                <a:solidFill>
                  <a:srgbClr val="878787"/>
                </a:solidFill>
                <a:latin typeface="Arial"/>
                <a:cs typeface="Arial"/>
              </a:rPr>
              <a:t>‹#›</a:t>
            </a:fld>
            <a:endParaRPr sz="1650" baseline="-22727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0056B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100" dirty="0"/>
              <a:t> </a:t>
            </a:r>
            <a:r>
              <a:rPr spc="-65" dirty="0"/>
              <a:t>Genspark</a:t>
            </a:r>
            <a:r>
              <a:rPr spc="-25" dirty="0"/>
              <a:t> </a:t>
            </a:r>
            <a:fld id="{81D60167-4931-47E6-BA6A-407CBD079E47}" type="slidenum">
              <a:rPr sz="1650" spc="-75" baseline="-22727" dirty="0">
                <a:solidFill>
                  <a:srgbClr val="878787"/>
                </a:solidFill>
                <a:latin typeface="Arial"/>
                <a:cs typeface="Arial"/>
              </a:rPr>
              <a:t>‹#›</a:t>
            </a:fld>
            <a:endParaRPr sz="1650" baseline="-22727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0056B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100" dirty="0"/>
              <a:t> </a:t>
            </a:r>
            <a:r>
              <a:rPr spc="-65" dirty="0"/>
              <a:t>Genspark</a:t>
            </a:r>
            <a:r>
              <a:rPr spc="-25" dirty="0"/>
              <a:t> </a:t>
            </a:r>
            <a:fld id="{81D60167-4931-47E6-BA6A-407CBD079E47}" type="slidenum">
              <a:rPr sz="1650" spc="-75" baseline="-22727" dirty="0">
                <a:solidFill>
                  <a:srgbClr val="878787"/>
                </a:solidFill>
                <a:latin typeface="Arial"/>
                <a:cs typeface="Arial"/>
              </a:rPr>
              <a:t>‹#›</a:t>
            </a:fld>
            <a:endParaRPr sz="1650" baseline="-22727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100" dirty="0"/>
              <a:t> </a:t>
            </a:r>
            <a:r>
              <a:rPr spc="-65" dirty="0"/>
              <a:t>Genspark</a:t>
            </a:r>
            <a:r>
              <a:rPr spc="-25" dirty="0"/>
              <a:t> </a:t>
            </a:r>
            <a:fld id="{81D60167-4931-47E6-BA6A-407CBD079E47}" type="slidenum">
              <a:rPr sz="1650" spc="-75" baseline="-22727" dirty="0">
                <a:solidFill>
                  <a:srgbClr val="878787"/>
                </a:solidFill>
                <a:latin typeface="Arial"/>
                <a:cs typeface="Arial"/>
              </a:rPr>
              <a:t>‹#›</a:t>
            </a:fld>
            <a:endParaRPr sz="1650" baseline="-22727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800" y="534778"/>
            <a:ext cx="10209530" cy="580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0056B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3550" y="1540899"/>
            <a:ext cx="6744970" cy="391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21212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89232" y="7360449"/>
            <a:ext cx="1363345" cy="168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100" dirty="0"/>
              <a:t> </a:t>
            </a:r>
            <a:r>
              <a:rPr spc="-65" dirty="0"/>
              <a:t>Genspark</a:t>
            </a:r>
            <a:r>
              <a:rPr spc="-25" dirty="0"/>
              <a:t> </a:t>
            </a:r>
            <a:fld id="{81D60167-4931-47E6-BA6A-407CBD079E47}" type="slidenum">
              <a:rPr sz="1650" spc="-75" baseline="-22727" dirty="0">
                <a:solidFill>
                  <a:srgbClr val="878787"/>
                </a:solidFill>
                <a:latin typeface="Arial"/>
                <a:cs typeface="Arial"/>
              </a:rPr>
              <a:t>‹#›</a:t>
            </a:fld>
            <a:endParaRPr sz="1650" baseline="-22727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800" y="453313"/>
            <a:ext cx="6808470" cy="130302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885"/>
              </a:spcBef>
            </a:pPr>
            <a:r>
              <a:rPr sz="4500" b="1" spc="-140" dirty="0">
                <a:latin typeface="Lucida Sans"/>
                <a:cs typeface="Times New Roman" panose="02020603050405020304" pitchFamily="18" charset="0"/>
              </a:rPr>
              <a:t>AI-</a:t>
            </a:r>
            <a:r>
              <a:rPr sz="4500" b="1" spc="-245" dirty="0">
                <a:latin typeface="Lucida Sans"/>
                <a:cs typeface="Times New Roman" panose="02020603050405020304" pitchFamily="18" charset="0"/>
              </a:rPr>
              <a:t>Powered</a:t>
            </a:r>
            <a:r>
              <a:rPr sz="4500" b="1" spc="-315" dirty="0">
                <a:latin typeface="Lucida Sans"/>
                <a:cs typeface="Times New Roman" panose="02020603050405020304" pitchFamily="18" charset="0"/>
              </a:rPr>
              <a:t> </a:t>
            </a:r>
            <a:r>
              <a:rPr sz="4500" b="1" spc="-280" dirty="0">
                <a:latin typeface="Lucida Sans"/>
                <a:cs typeface="Times New Roman" panose="02020603050405020304" pitchFamily="18" charset="0"/>
              </a:rPr>
              <a:t>Digital</a:t>
            </a:r>
            <a:r>
              <a:rPr sz="4500" b="1" spc="-310" dirty="0">
                <a:latin typeface="Lucida Sans"/>
                <a:cs typeface="Times New Roman" panose="02020603050405020304" pitchFamily="18" charset="0"/>
              </a:rPr>
              <a:t> </a:t>
            </a:r>
            <a:r>
              <a:rPr sz="4500" b="1" spc="-409" dirty="0">
                <a:latin typeface="Lucida Sans"/>
                <a:cs typeface="Times New Roman" panose="02020603050405020304" pitchFamily="18" charset="0"/>
              </a:rPr>
              <a:t>Twin</a:t>
            </a:r>
            <a:r>
              <a:rPr sz="4500" b="1" spc="-315" dirty="0">
                <a:latin typeface="Lucida Sans"/>
                <a:cs typeface="Times New Roman" panose="02020603050405020304" pitchFamily="18" charset="0"/>
              </a:rPr>
              <a:t> </a:t>
            </a:r>
            <a:r>
              <a:rPr sz="4500" b="1" spc="-660" dirty="0">
                <a:latin typeface="Lucida Sans"/>
                <a:cs typeface="Times New Roman" panose="02020603050405020304" pitchFamily="18" charset="0"/>
              </a:rPr>
              <a:t>&amp; </a:t>
            </a:r>
            <a:r>
              <a:rPr sz="4500" b="1" spc="-225" dirty="0">
                <a:latin typeface="Lucida Sans"/>
                <a:cs typeface="Times New Roman" panose="02020603050405020304" pitchFamily="18" charset="0"/>
              </a:rPr>
              <a:t>Predictive</a:t>
            </a:r>
            <a:r>
              <a:rPr sz="4500" b="1" spc="-305" dirty="0">
                <a:latin typeface="Lucida Sans"/>
                <a:cs typeface="Times New Roman" panose="02020603050405020304" pitchFamily="18" charset="0"/>
              </a:rPr>
              <a:t> </a:t>
            </a:r>
            <a:r>
              <a:rPr sz="4500" b="1" spc="-145" dirty="0">
                <a:latin typeface="Lucida Sans"/>
                <a:cs typeface="Times New Roman" panose="02020603050405020304" pitchFamily="18" charset="0"/>
              </a:rPr>
              <a:t>Maintenance</a:t>
            </a:r>
            <a:endParaRPr sz="4500" dirty="0">
              <a:latin typeface="Lucida Sans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9800" y="1935941"/>
            <a:ext cx="7474584" cy="1480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00" b="1" spc="-165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For</a:t>
            </a:r>
            <a:r>
              <a:rPr sz="2700" b="1" spc="-175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700" b="1" spc="-135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Small</a:t>
            </a:r>
            <a:r>
              <a:rPr sz="2700" b="1" spc="-175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700" b="1" spc="-325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&amp;</a:t>
            </a:r>
            <a:r>
              <a:rPr sz="2700" b="1" spc="-175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700" b="1" spc="-150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Medium</a:t>
            </a:r>
            <a:r>
              <a:rPr sz="2700" b="1" spc="-170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700" b="1" spc="-155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Manufacturing</a:t>
            </a:r>
            <a:r>
              <a:rPr sz="2700" b="1" spc="-175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700" b="1" spc="-145" dirty="0">
                <a:solidFill>
                  <a:srgbClr val="333333"/>
                </a:solidFill>
                <a:latin typeface="Lucida Sans"/>
                <a:cs typeface="Times New Roman" panose="02020603050405020304" pitchFamily="18" charset="0"/>
              </a:rPr>
              <a:t>Enterprises</a:t>
            </a:r>
            <a:endParaRPr sz="2700" dirty="0">
              <a:latin typeface="Lucida Sans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400" dirty="0">
              <a:latin typeface="Lucida Sans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85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Transforming</a:t>
            </a:r>
            <a:r>
              <a:rPr sz="2000" spc="-1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downtime</a:t>
            </a:r>
            <a:r>
              <a:rPr sz="2000" spc="-1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6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into</a:t>
            </a:r>
            <a:r>
              <a:rPr sz="2000" spc="-1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productivity.</a:t>
            </a:r>
            <a:endParaRPr sz="2000" dirty="0">
              <a:latin typeface="Lucida Sans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000" spc="-85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The</a:t>
            </a:r>
            <a:r>
              <a:rPr sz="2000" spc="-1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5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future</a:t>
            </a:r>
            <a:r>
              <a:rPr sz="2000" spc="-1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95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of</a:t>
            </a:r>
            <a:r>
              <a:rPr sz="2000" spc="-1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9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affordable,</a:t>
            </a:r>
            <a:r>
              <a:rPr sz="2000" spc="-1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45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intelligent</a:t>
            </a:r>
            <a:r>
              <a:rPr sz="2000" spc="-1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3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maintenance</a:t>
            </a:r>
            <a:r>
              <a:rPr sz="2000" spc="-105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65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has</a:t>
            </a:r>
            <a:r>
              <a:rPr sz="2000" spc="-1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Lucida Sans"/>
                <a:cs typeface="Times New Roman" panose="02020603050405020304" pitchFamily="18" charset="0"/>
              </a:rPr>
              <a:t>arrived.</a:t>
            </a:r>
            <a:endParaRPr sz="2000" dirty="0">
              <a:latin typeface="Lucida Sans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8749" y="2381249"/>
            <a:ext cx="2095499" cy="2095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b="1" spc="-265" dirty="0">
                <a:latin typeface="Lucida Sans"/>
                <a:cs typeface="Lucida Sans"/>
              </a:rPr>
              <a:t>A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245" dirty="0">
                <a:latin typeface="Lucida Sans"/>
                <a:cs typeface="Lucida Sans"/>
              </a:rPr>
              <a:t>Day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220" dirty="0">
                <a:latin typeface="Lucida Sans"/>
                <a:cs typeface="Lucida Sans"/>
              </a:rPr>
              <a:t>in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140" dirty="0">
                <a:latin typeface="Lucida Sans"/>
                <a:cs typeface="Lucida Sans"/>
              </a:rPr>
              <a:t>the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195" dirty="0">
                <a:latin typeface="Lucida Sans"/>
                <a:cs typeface="Lucida Sans"/>
              </a:rPr>
              <a:t>Life:</a:t>
            </a:r>
            <a:r>
              <a:rPr sz="3600" b="1" spc="-235" dirty="0">
                <a:latin typeface="Lucida Sans"/>
                <a:cs typeface="Lucida Sans"/>
              </a:rPr>
              <a:t> An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180" dirty="0">
                <a:latin typeface="Lucida Sans"/>
                <a:cs typeface="Lucida Sans"/>
              </a:rPr>
              <a:t>MSME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235" dirty="0">
                <a:latin typeface="Lucida Sans"/>
                <a:cs typeface="Lucida Sans"/>
              </a:rPr>
              <a:t>Owner's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150" dirty="0">
                <a:latin typeface="Lucida Sans"/>
                <a:cs typeface="Lucida Sans"/>
              </a:rPr>
              <a:t>Challenge</a:t>
            </a:r>
            <a:endParaRPr sz="3600" dirty="0">
              <a:latin typeface="Lucida Sans"/>
              <a:cs typeface="Lucida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2499" y="1552574"/>
            <a:ext cx="2857500" cy="2857500"/>
            <a:chOff x="952499" y="1552574"/>
            <a:chExt cx="2857500" cy="2857500"/>
          </a:xfrm>
        </p:grpSpPr>
        <p:sp>
          <p:nvSpPr>
            <p:cNvPr id="4" name="object 4"/>
            <p:cNvSpPr/>
            <p:nvPr/>
          </p:nvSpPr>
          <p:spPr>
            <a:xfrm>
              <a:off x="952499" y="1552574"/>
              <a:ext cx="2857500" cy="2857500"/>
            </a:xfrm>
            <a:custGeom>
              <a:avLst/>
              <a:gdLst/>
              <a:ahLst/>
              <a:cxnLst/>
              <a:rect l="l" t="t" r="r" b="b"/>
              <a:pathLst>
                <a:path w="2857500" h="2857500">
                  <a:moveTo>
                    <a:pt x="2786303" y="2857499"/>
                  </a:moveTo>
                  <a:lnTo>
                    <a:pt x="71196" y="2857499"/>
                  </a:lnTo>
                  <a:lnTo>
                    <a:pt x="66241" y="2857011"/>
                  </a:lnTo>
                  <a:lnTo>
                    <a:pt x="29705" y="2841877"/>
                  </a:lnTo>
                  <a:lnTo>
                    <a:pt x="3885" y="2805837"/>
                  </a:lnTo>
                  <a:lnTo>
                    <a:pt x="0" y="2786302"/>
                  </a:lnTo>
                  <a:lnTo>
                    <a:pt x="0" y="2781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2786303" y="0"/>
                  </a:lnTo>
                  <a:lnTo>
                    <a:pt x="2827793" y="15621"/>
                  </a:lnTo>
                  <a:lnTo>
                    <a:pt x="2853613" y="51661"/>
                  </a:lnTo>
                  <a:lnTo>
                    <a:pt x="2857499" y="71196"/>
                  </a:lnTo>
                  <a:lnTo>
                    <a:pt x="2857499" y="2786302"/>
                  </a:lnTo>
                  <a:lnTo>
                    <a:pt x="2841877" y="2827794"/>
                  </a:lnTo>
                  <a:lnTo>
                    <a:pt x="2805837" y="2853613"/>
                  </a:lnTo>
                  <a:lnTo>
                    <a:pt x="2791258" y="2857011"/>
                  </a:lnTo>
                  <a:lnTo>
                    <a:pt x="2786303" y="285749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043112" y="2681287"/>
              <a:ext cx="685800" cy="600075"/>
            </a:xfrm>
            <a:custGeom>
              <a:avLst/>
              <a:gdLst/>
              <a:ahLst/>
              <a:cxnLst/>
              <a:rect l="l" t="t" r="r" b="b"/>
              <a:pathLst>
                <a:path w="685800" h="600075">
                  <a:moveTo>
                    <a:pt x="621506" y="600075"/>
                  </a:moveTo>
                  <a:lnTo>
                    <a:pt x="64293" y="600075"/>
                  </a:lnTo>
                  <a:lnTo>
                    <a:pt x="39273" y="595020"/>
                  </a:lnTo>
                  <a:lnTo>
                    <a:pt x="18836" y="581238"/>
                  </a:lnTo>
                  <a:lnTo>
                    <a:pt x="5054" y="560801"/>
                  </a:lnTo>
                  <a:lnTo>
                    <a:pt x="0" y="535781"/>
                  </a:lnTo>
                  <a:lnTo>
                    <a:pt x="0" y="42862"/>
                  </a:lnTo>
                  <a:lnTo>
                    <a:pt x="3363" y="26163"/>
                  </a:lnTo>
                  <a:lnTo>
                    <a:pt x="12540" y="12540"/>
                  </a:lnTo>
                  <a:lnTo>
                    <a:pt x="26163" y="3363"/>
                  </a:lnTo>
                  <a:lnTo>
                    <a:pt x="42862" y="0"/>
                  </a:lnTo>
                  <a:lnTo>
                    <a:pt x="128587" y="0"/>
                  </a:lnTo>
                  <a:lnTo>
                    <a:pt x="168086" y="26163"/>
                  </a:lnTo>
                  <a:lnTo>
                    <a:pt x="171450" y="245655"/>
                  </a:lnTo>
                  <a:lnTo>
                    <a:pt x="381208" y="132739"/>
                  </a:lnTo>
                  <a:lnTo>
                    <a:pt x="397658" y="128867"/>
                  </a:lnTo>
                  <a:lnTo>
                    <a:pt x="412953" y="133409"/>
                  </a:lnTo>
                  <a:lnTo>
                    <a:pt x="424229" y="144681"/>
                  </a:lnTo>
                  <a:lnTo>
                    <a:pt x="428625" y="161002"/>
                  </a:lnTo>
                  <a:lnTo>
                    <a:pt x="428625" y="245655"/>
                  </a:lnTo>
                  <a:lnTo>
                    <a:pt x="638383" y="132739"/>
                  </a:lnTo>
                  <a:lnTo>
                    <a:pt x="654833" y="128867"/>
                  </a:lnTo>
                  <a:lnTo>
                    <a:pt x="670128" y="133409"/>
                  </a:lnTo>
                  <a:lnTo>
                    <a:pt x="681404" y="144681"/>
                  </a:lnTo>
                  <a:lnTo>
                    <a:pt x="685800" y="161002"/>
                  </a:lnTo>
                  <a:lnTo>
                    <a:pt x="685800" y="535781"/>
                  </a:lnTo>
                  <a:lnTo>
                    <a:pt x="680745" y="560801"/>
                  </a:lnTo>
                  <a:lnTo>
                    <a:pt x="666963" y="581238"/>
                  </a:lnTo>
                  <a:lnTo>
                    <a:pt x="646526" y="595020"/>
                  </a:lnTo>
                  <a:lnTo>
                    <a:pt x="621506" y="600075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4273550" y="1540899"/>
            <a:ext cx="6744970" cy="322370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4"/>
              </a:spcBef>
            </a:pPr>
            <a:r>
              <a:rPr spc="-55" dirty="0"/>
              <a:t>Meet</a:t>
            </a:r>
            <a:r>
              <a:rPr spc="-150" dirty="0"/>
              <a:t> </a:t>
            </a:r>
            <a:r>
              <a:rPr spc="-10" dirty="0"/>
              <a:t>Rakesh</a:t>
            </a:r>
          </a:p>
          <a:p>
            <a:pPr marL="12700" marR="5080" algn="just">
              <a:lnSpc>
                <a:spcPct val="119900"/>
              </a:lnSpc>
              <a:spcBef>
                <a:spcPts val="1510"/>
              </a:spcBef>
            </a:pPr>
            <a:r>
              <a:rPr lang="en-US" sz="1800" b="0" spc="-20" dirty="0">
                <a:solidFill>
                  <a:srgbClr val="444444"/>
                </a:solidFill>
                <a:latin typeface="Lucida Sans"/>
                <a:cs typeface="Lucida Sans"/>
              </a:rPr>
              <a:t>Owner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95" dirty="0">
                <a:solidFill>
                  <a:srgbClr val="444444"/>
                </a:solidFill>
                <a:latin typeface="Lucida Sans"/>
                <a:cs typeface="Lucida Sans"/>
              </a:rPr>
              <a:t>of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30" dirty="0">
                <a:solidFill>
                  <a:srgbClr val="444444"/>
                </a:solidFill>
                <a:latin typeface="Lucida Sans"/>
                <a:cs typeface="Lucida Sans"/>
              </a:rPr>
              <a:t>a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50" dirty="0">
                <a:solidFill>
                  <a:srgbClr val="444444"/>
                </a:solidFill>
                <a:latin typeface="Lucida Sans"/>
                <a:cs typeface="Lucida Sans"/>
              </a:rPr>
              <a:t>small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25" dirty="0">
                <a:solidFill>
                  <a:srgbClr val="444444"/>
                </a:solidFill>
                <a:latin typeface="Lucida Sans"/>
                <a:cs typeface="Lucida Sans"/>
              </a:rPr>
              <a:t>manufacturing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30" dirty="0">
                <a:solidFill>
                  <a:srgbClr val="444444"/>
                </a:solidFill>
                <a:latin typeface="Lucida Sans"/>
                <a:cs typeface="Lucida Sans"/>
              </a:rPr>
              <a:t>unit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45" dirty="0">
                <a:solidFill>
                  <a:srgbClr val="444444"/>
                </a:solidFill>
                <a:latin typeface="Lucida Sans"/>
                <a:cs typeface="Lucida Sans"/>
              </a:rPr>
              <a:t>in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35" dirty="0">
                <a:solidFill>
                  <a:srgbClr val="444444"/>
                </a:solidFill>
                <a:latin typeface="Lucida Sans"/>
                <a:cs typeface="Lucida Sans"/>
              </a:rPr>
              <a:t>Pune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15" dirty="0">
                <a:solidFill>
                  <a:srgbClr val="444444"/>
                </a:solidFill>
                <a:latin typeface="Lucida Sans"/>
                <a:cs typeface="Lucida Sans"/>
              </a:rPr>
              <a:t>with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380" dirty="0">
                <a:solidFill>
                  <a:srgbClr val="444444"/>
                </a:solidFill>
                <a:latin typeface="Lucida Sans"/>
                <a:cs typeface="Lucida Sans"/>
              </a:rPr>
              <a:t>15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45" dirty="0">
                <a:solidFill>
                  <a:srgbClr val="444444"/>
                </a:solidFill>
                <a:latin typeface="Lucida Sans"/>
                <a:cs typeface="Lucida Sans"/>
              </a:rPr>
              <a:t>employees</a:t>
            </a:r>
            <a:r>
              <a:rPr lang="en-US" sz="1800" b="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25" dirty="0">
                <a:solidFill>
                  <a:srgbClr val="444444"/>
                </a:solidFill>
                <a:latin typeface="Lucida Sans"/>
                <a:cs typeface="Lucida Sans"/>
              </a:rPr>
              <a:t>and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40" dirty="0">
                <a:solidFill>
                  <a:srgbClr val="444444"/>
                </a:solidFill>
                <a:latin typeface="Lucida Sans"/>
                <a:cs typeface="Lucida Sans"/>
              </a:rPr>
              <a:t>limited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80" dirty="0">
                <a:solidFill>
                  <a:srgbClr val="444444"/>
                </a:solidFill>
                <a:latin typeface="Lucida Sans"/>
                <a:cs typeface="Lucida Sans"/>
              </a:rPr>
              <a:t>resources.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50" spc="-155" dirty="0">
                <a:solidFill>
                  <a:srgbClr val="0056B3"/>
                </a:solidFill>
              </a:rPr>
              <a:t>His</a:t>
            </a:r>
            <a:r>
              <a:rPr lang="en-US" sz="1850" spc="-140" dirty="0">
                <a:solidFill>
                  <a:srgbClr val="0056B3"/>
                </a:solidFill>
              </a:rPr>
              <a:t> </a:t>
            </a:r>
            <a:r>
              <a:rPr lang="en-US" sz="1850" spc="-120" dirty="0">
                <a:solidFill>
                  <a:srgbClr val="0056B3"/>
                </a:solidFill>
              </a:rPr>
              <a:t>primary</a:t>
            </a:r>
            <a:r>
              <a:rPr lang="en-US" sz="1850" spc="-140" dirty="0">
                <a:solidFill>
                  <a:srgbClr val="0056B3"/>
                </a:solidFill>
              </a:rPr>
              <a:t> </a:t>
            </a:r>
            <a:r>
              <a:rPr lang="en-US" sz="1850" spc="-125" dirty="0">
                <a:solidFill>
                  <a:srgbClr val="0056B3"/>
                </a:solidFill>
              </a:rPr>
              <a:t>CNC</a:t>
            </a:r>
            <a:r>
              <a:rPr lang="en-US" sz="1850" spc="-140" dirty="0">
                <a:solidFill>
                  <a:srgbClr val="0056B3"/>
                </a:solidFill>
              </a:rPr>
              <a:t> </a:t>
            </a:r>
            <a:r>
              <a:rPr lang="en-US" sz="1850" spc="-85" dirty="0">
                <a:solidFill>
                  <a:srgbClr val="0056B3"/>
                </a:solidFill>
              </a:rPr>
              <a:t>machine</a:t>
            </a:r>
            <a:r>
              <a:rPr lang="en-US" sz="1850" spc="-140" dirty="0">
                <a:solidFill>
                  <a:srgbClr val="0056B3"/>
                </a:solidFill>
              </a:rPr>
              <a:t> </a:t>
            </a:r>
            <a:r>
              <a:rPr lang="en-US" sz="1850" spc="-114" dirty="0">
                <a:solidFill>
                  <a:srgbClr val="0056B3"/>
                </a:solidFill>
              </a:rPr>
              <a:t>suddenly</a:t>
            </a:r>
            <a:r>
              <a:rPr lang="en-US" sz="1850" spc="-140" dirty="0">
                <a:solidFill>
                  <a:srgbClr val="0056B3"/>
                </a:solidFill>
              </a:rPr>
              <a:t> </a:t>
            </a:r>
            <a:r>
              <a:rPr lang="en-US" sz="1850" spc="-150" dirty="0">
                <a:solidFill>
                  <a:srgbClr val="0056B3"/>
                </a:solidFill>
              </a:rPr>
              <a:t>fails</a:t>
            </a:r>
            <a:r>
              <a:rPr lang="en-US" sz="1850" spc="-120" dirty="0">
                <a:solidFill>
                  <a:srgbClr val="0056B3"/>
                </a:solidFill>
              </a:rPr>
              <a:t> </a:t>
            </a:r>
            <a:r>
              <a:rPr lang="en-US" sz="1800" b="0" spc="-35" dirty="0">
                <a:solidFill>
                  <a:srgbClr val="444444"/>
                </a:solidFill>
                <a:latin typeface="Lucida Sans"/>
                <a:cs typeface="Lucida Sans"/>
              </a:rPr>
              <a:t>during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30" dirty="0">
                <a:solidFill>
                  <a:srgbClr val="444444"/>
                </a:solidFill>
                <a:latin typeface="Lucida Sans"/>
                <a:cs typeface="Lucida Sans"/>
              </a:rPr>
              <a:t>a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50" dirty="0">
                <a:solidFill>
                  <a:srgbClr val="444444"/>
                </a:solidFill>
                <a:latin typeface="Lucida Sans"/>
                <a:cs typeface="Lucida Sans"/>
              </a:rPr>
              <a:t>critical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40" dirty="0">
                <a:solidFill>
                  <a:srgbClr val="444444"/>
                </a:solidFill>
                <a:latin typeface="Lucida Sans"/>
                <a:cs typeface="Lucida Sans"/>
              </a:rPr>
              <a:t>production</a:t>
            </a:r>
            <a:r>
              <a:rPr lang="en-US" sz="1800" b="0" spc="-1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lang="en-US" sz="1800" b="0" spc="-85" dirty="0">
                <a:solidFill>
                  <a:srgbClr val="444444"/>
                </a:solidFill>
                <a:latin typeface="Lucida Sans"/>
                <a:cs typeface="Lucida Sans"/>
              </a:rPr>
              <a:t>run.</a:t>
            </a:r>
            <a:endParaRPr lang="en-US" sz="1650" dirty="0">
              <a:latin typeface="Lucida Sans"/>
              <a:cs typeface="Lucida Sans"/>
            </a:endParaRPr>
          </a:p>
          <a:p>
            <a:pPr marL="12700" marR="102235">
              <a:lnSpc>
                <a:spcPct val="121500"/>
              </a:lnSpc>
              <a:spcBef>
                <a:spcPts val="5"/>
              </a:spcBef>
            </a:pPr>
            <a:r>
              <a:rPr sz="1800" b="0" spc="-30" dirty="0">
                <a:solidFill>
                  <a:srgbClr val="444444"/>
                </a:solidFill>
                <a:latin typeface="Lucida Sans"/>
                <a:cs typeface="Lucida Sans"/>
              </a:rPr>
              <a:t>Production</a:t>
            </a:r>
            <a:r>
              <a:rPr sz="1800" b="0" spc="-9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55" dirty="0">
                <a:solidFill>
                  <a:srgbClr val="444444"/>
                </a:solidFill>
                <a:latin typeface="Lucida Sans"/>
                <a:cs typeface="Lucida Sans"/>
              </a:rPr>
              <a:t>halts</a:t>
            </a:r>
            <a:r>
              <a:rPr sz="1800" b="0" spc="-9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65" dirty="0">
                <a:solidFill>
                  <a:srgbClr val="444444"/>
                </a:solidFill>
                <a:latin typeface="Lucida Sans"/>
                <a:cs typeface="Lucida Sans"/>
              </a:rPr>
              <a:t>completely.</a:t>
            </a:r>
            <a:r>
              <a:rPr sz="1800" b="0" spc="-9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70" dirty="0">
                <a:solidFill>
                  <a:srgbClr val="444444"/>
                </a:solidFill>
                <a:latin typeface="Lucida Sans"/>
                <a:cs typeface="Lucida Sans"/>
              </a:rPr>
              <a:t>Orders</a:t>
            </a:r>
            <a:r>
              <a:rPr sz="1800" b="0" spc="-9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60" dirty="0">
                <a:solidFill>
                  <a:srgbClr val="444444"/>
                </a:solidFill>
                <a:latin typeface="Lucida Sans"/>
                <a:cs typeface="Lucida Sans"/>
              </a:rPr>
              <a:t>are</a:t>
            </a:r>
            <a:r>
              <a:rPr sz="1800" b="0" spc="-9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75" dirty="0">
                <a:solidFill>
                  <a:srgbClr val="444444"/>
                </a:solidFill>
                <a:latin typeface="Lucida Sans"/>
                <a:cs typeface="Lucida Sans"/>
              </a:rPr>
              <a:t>delayed.</a:t>
            </a:r>
            <a:r>
              <a:rPr sz="1800" b="0" spc="-90" dirty="0">
                <a:solidFill>
                  <a:srgbClr val="444444"/>
                </a:solidFill>
                <a:latin typeface="Lucida Sans"/>
                <a:cs typeface="Lucida Sans"/>
              </a:rPr>
              <a:t> Costs </a:t>
            </a:r>
            <a:r>
              <a:rPr sz="1800" b="0" spc="-55" dirty="0">
                <a:solidFill>
                  <a:srgbClr val="444444"/>
                </a:solidFill>
                <a:latin typeface="Lucida Sans"/>
                <a:cs typeface="Lucida Sans"/>
              </a:rPr>
              <a:t>pile</a:t>
            </a:r>
            <a:r>
              <a:rPr sz="1800" b="0" spc="-8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25" dirty="0">
                <a:solidFill>
                  <a:srgbClr val="444444"/>
                </a:solidFill>
                <a:latin typeface="Lucida Sans"/>
                <a:cs typeface="Lucida Sans"/>
              </a:rPr>
              <a:t>up. </a:t>
            </a:r>
            <a:r>
              <a:rPr sz="1800" b="0" spc="-65" dirty="0">
                <a:solidFill>
                  <a:srgbClr val="444444"/>
                </a:solidFill>
                <a:latin typeface="Lucida Sans"/>
                <a:cs typeface="Lucida Sans"/>
              </a:rPr>
              <a:t>Technical</a:t>
            </a:r>
            <a:r>
              <a:rPr sz="1800" b="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50" dirty="0">
                <a:solidFill>
                  <a:srgbClr val="444444"/>
                </a:solidFill>
                <a:latin typeface="Lucida Sans"/>
                <a:cs typeface="Lucida Sans"/>
              </a:rPr>
              <a:t>support</a:t>
            </a:r>
            <a:r>
              <a:rPr sz="1800" b="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is</a:t>
            </a:r>
            <a:r>
              <a:rPr sz="1800" b="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70" dirty="0">
                <a:solidFill>
                  <a:srgbClr val="444444"/>
                </a:solidFill>
                <a:latin typeface="Lucida Sans"/>
                <a:cs typeface="Lucida Sans"/>
              </a:rPr>
              <a:t>days</a:t>
            </a:r>
            <a:r>
              <a:rPr sz="1800" b="0" spc="-11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90" dirty="0">
                <a:solidFill>
                  <a:srgbClr val="444444"/>
                </a:solidFill>
                <a:latin typeface="Lucida Sans"/>
                <a:cs typeface="Lucida Sans"/>
              </a:rPr>
              <a:t>away,</a:t>
            </a:r>
            <a:r>
              <a:rPr sz="1800" b="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30" dirty="0">
                <a:solidFill>
                  <a:srgbClr val="444444"/>
                </a:solidFill>
                <a:latin typeface="Lucida Sans"/>
                <a:cs typeface="Lucida Sans"/>
              </a:rPr>
              <a:t>and</a:t>
            </a:r>
            <a:r>
              <a:rPr sz="1800" b="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30" dirty="0">
                <a:solidFill>
                  <a:srgbClr val="444444"/>
                </a:solidFill>
                <a:latin typeface="Lucida Sans"/>
                <a:cs typeface="Lucida Sans"/>
              </a:rPr>
              <a:t>replacement</a:t>
            </a:r>
            <a:r>
              <a:rPr sz="1800" b="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55" dirty="0">
                <a:solidFill>
                  <a:srgbClr val="444444"/>
                </a:solidFill>
                <a:latin typeface="Lucida Sans"/>
                <a:cs typeface="Lucida Sans"/>
              </a:rPr>
              <a:t>parts</a:t>
            </a:r>
            <a:r>
              <a:rPr sz="1800" b="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50" dirty="0">
                <a:solidFill>
                  <a:srgbClr val="444444"/>
                </a:solidFill>
                <a:latin typeface="Lucida Sans"/>
                <a:cs typeface="Lucida Sans"/>
              </a:rPr>
              <a:t>will</a:t>
            </a:r>
            <a:r>
              <a:rPr sz="1800" b="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20" dirty="0">
                <a:solidFill>
                  <a:srgbClr val="444444"/>
                </a:solidFill>
                <a:latin typeface="Lucida Sans"/>
                <a:cs typeface="Lucida Sans"/>
              </a:rPr>
              <a:t>take </a:t>
            </a:r>
            <a:r>
              <a:rPr sz="1800" b="0" spc="-50" dirty="0">
                <a:solidFill>
                  <a:srgbClr val="444444"/>
                </a:solidFill>
                <a:latin typeface="Lucida Sans"/>
                <a:cs typeface="Lucida Sans"/>
              </a:rPr>
              <a:t>weeks</a:t>
            </a:r>
            <a:r>
              <a:rPr sz="1800" b="0" spc="-12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60" dirty="0">
                <a:solidFill>
                  <a:srgbClr val="444444"/>
                </a:solidFill>
                <a:latin typeface="Lucida Sans"/>
                <a:cs typeface="Lucida Sans"/>
              </a:rPr>
              <a:t>to</a:t>
            </a:r>
            <a:r>
              <a:rPr sz="1800" b="0" spc="-12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10" dirty="0">
                <a:solidFill>
                  <a:srgbClr val="444444"/>
                </a:solidFill>
                <a:latin typeface="Lucida Sans"/>
                <a:cs typeface="Lucida Sans"/>
              </a:rPr>
              <a:t>arrive.</a:t>
            </a:r>
            <a:endParaRPr sz="1650" dirty="0">
              <a:latin typeface="Lucida Sans"/>
              <a:cs typeface="Lucida Sans"/>
            </a:endParaRPr>
          </a:p>
          <a:p>
            <a:pPr marL="12700" marR="235585">
              <a:lnSpc>
                <a:spcPct val="121500"/>
              </a:lnSpc>
            </a:pPr>
            <a:r>
              <a:rPr sz="1800" b="0" spc="-45" dirty="0">
                <a:solidFill>
                  <a:srgbClr val="444444"/>
                </a:solidFill>
                <a:latin typeface="Lucida Sans"/>
                <a:cs typeface="Lucida Sans"/>
              </a:rPr>
              <a:t>For</a:t>
            </a:r>
            <a:r>
              <a:rPr sz="1800" b="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35" dirty="0">
                <a:solidFill>
                  <a:srgbClr val="444444"/>
                </a:solidFill>
                <a:latin typeface="Lucida Sans"/>
                <a:cs typeface="Lucida Sans"/>
              </a:rPr>
              <a:t>Indian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dirty="0">
                <a:solidFill>
                  <a:srgbClr val="444444"/>
                </a:solidFill>
                <a:latin typeface="Lucida Sans"/>
                <a:cs typeface="Lucida Sans"/>
              </a:rPr>
              <a:t>MSMEs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80" dirty="0">
                <a:solidFill>
                  <a:srgbClr val="444444"/>
                </a:solidFill>
                <a:latin typeface="Lucida Sans"/>
                <a:cs typeface="Lucida Sans"/>
              </a:rPr>
              <a:t>like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80" dirty="0">
                <a:solidFill>
                  <a:srgbClr val="444444"/>
                </a:solidFill>
                <a:latin typeface="Lucida Sans"/>
                <a:cs typeface="Lucida Sans"/>
              </a:rPr>
              <a:t>Rakesh's,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55" dirty="0">
                <a:solidFill>
                  <a:srgbClr val="444444"/>
                </a:solidFill>
                <a:latin typeface="Lucida Sans"/>
                <a:cs typeface="Lucida Sans"/>
              </a:rPr>
              <a:t>this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60" dirty="0">
                <a:solidFill>
                  <a:srgbClr val="444444"/>
                </a:solidFill>
                <a:latin typeface="Lucida Sans"/>
                <a:cs typeface="Lucida Sans"/>
              </a:rPr>
              <a:t>isn't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35" dirty="0">
                <a:solidFill>
                  <a:srgbClr val="444444"/>
                </a:solidFill>
                <a:latin typeface="Lucida Sans"/>
                <a:cs typeface="Lucida Sans"/>
              </a:rPr>
              <a:t>a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85" dirty="0">
                <a:solidFill>
                  <a:srgbClr val="444444"/>
                </a:solidFill>
                <a:latin typeface="Lucida Sans"/>
                <a:cs typeface="Lucida Sans"/>
              </a:rPr>
              <a:t>rare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75" dirty="0">
                <a:solidFill>
                  <a:srgbClr val="444444"/>
                </a:solidFill>
                <a:latin typeface="Lucida Sans"/>
                <a:cs typeface="Lucida Sans"/>
              </a:rPr>
              <a:t>scenario—it's</a:t>
            </a:r>
            <a:r>
              <a:rPr sz="1800" b="0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50" dirty="0">
                <a:solidFill>
                  <a:srgbClr val="444444"/>
                </a:solidFill>
                <a:latin typeface="Lucida Sans"/>
                <a:cs typeface="Lucida Sans"/>
              </a:rPr>
              <a:t>a routine</a:t>
            </a:r>
            <a:r>
              <a:rPr sz="1800" b="0" spc="-9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800" b="0" spc="-10" dirty="0">
                <a:solidFill>
                  <a:srgbClr val="444444"/>
                </a:solidFill>
                <a:latin typeface="Lucida Sans"/>
                <a:cs typeface="Lucida Sans"/>
              </a:rPr>
              <a:t>reality.</a:t>
            </a:r>
            <a:endParaRPr sz="1800" dirty="0">
              <a:latin typeface="Lucida Sans"/>
              <a:cs typeface="Lucida San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71549" y="5329236"/>
            <a:ext cx="3143250" cy="1095375"/>
            <a:chOff x="952499" y="5876924"/>
            <a:chExt cx="3143250" cy="1095375"/>
          </a:xfrm>
        </p:grpSpPr>
        <p:sp>
          <p:nvSpPr>
            <p:cNvPr id="8" name="object 8"/>
            <p:cNvSpPr/>
            <p:nvPr/>
          </p:nvSpPr>
          <p:spPr>
            <a:xfrm>
              <a:off x="971549" y="5876924"/>
              <a:ext cx="3124200" cy="1095375"/>
            </a:xfrm>
            <a:custGeom>
              <a:avLst/>
              <a:gdLst/>
              <a:ahLst/>
              <a:cxnLst/>
              <a:rect l="l" t="t" r="r" b="b"/>
              <a:pathLst>
                <a:path w="3124200" h="1095375">
                  <a:moveTo>
                    <a:pt x="3053002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053002" y="0"/>
                  </a:lnTo>
                  <a:lnTo>
                    <a:pt x="3057958" y="487"/>
                  </a:lnTo>
                  <a:lnTo>
                    <a:pt x="3094494" y="15621"/>
                  </a:lnTo>
                  <a:lnTo>
                    <a:pt x="3120313" y="51661"/>
                  </a:lnTo>
                  <a:lnTo>
                    <a:pt x="3124199" y="71196"/>
                  </a:lnTo>
                  <a:lnTo>
                    <a:pt x="3124199" y="1024177"/>
                  </a:lnTo>
                  <a:lnTo>
                    <a:pt x="3108577" y="1065668"/>
                  </a:lnTo>
                  <a:lnTo>
                    <a:pt x="3072537" y="1091487"/>
                  </a:lnTo>
                  <a:lnTo>
                    <a:pt x="3053002" y="10953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952499" y="5876924"/>
              <a:ext cx="38100" cy="1095375"/>
            </a:xfrm>
            <a:custGeom>
              <a:avLst/>
              <a:gdLst/>
              <a:ahLst/>
              <a:cxnLst/>
              <a:rect l="l" t="t" r="r" b="b"/>
              <a:pathLst>
                <a:path w="38100" h="1095375">
                  <a:moveTo>
                    <a:pt x="380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953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87449" y="5454789"/>
            <a:ext cx="145034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70" dirty="0">
                <a:solidFill>
                  <a:srgbClr val="0056B3"/>
                </a:solidFill>
                <a:latin typeface="Lucida Sans"/>
                <a:cs typeface="Lucida Sans"/>
              </a:rPr>
              <a:t>Production</a:t>
            </a:r>
            <a:r>
              <a:rPr sz="1500" b="1" spc="-6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05" dirty="0">
                <a:solidFill>
                  <a:srgbClr val="0056B3"/>
                </a:solidFill>
                <a:latin typeface="Lucida Sans"/>
                <a:cs typeface="Lucida Sans"/>
              </a:rPr>
              <a:t>Loss</a:t>
            </a:r>
            <a:endParaRPr sz="1500" dirty="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7449" y="5769266"/>
            <a:ext cx="1945639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100" spc="-20" dirty="0">
                <a:solidFill>
                  <a:srgbClr val="545454"/>
                </a:solidFill>
                <a:latin typeface="Arial"/>
                <a:cs typeface="Arial"/>
              </a:rPr>
              <a:t>₹</a:t>
            </a:r>
            <a:r>
              <a:rPr sz="1300" spc="-20" dirty="0">
                <a:solidFill>
                  <a:srgbClr val="545454"/>
                </a:solidFill>
                <a:latin typeface="Lucida Sans"/>
                <a:cs typeface="Lucida Sans"/>
              </a:rPr>
              <a:t>40,000</a:t>
            </a:r>
            <a:r>
              <a:rPr sz="1300" spc="-7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per</a:t>
            </a:r>
            <a:r>
              <a:rPr sz="1300" spc="-7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30" dirty="0">
                <a:solidFill>
                  <a:srgbClr val="545454"/>
                </a:solidFill>
                <a:latin typeface="Lucida Sans"/>
                <a:cs typeface="Lucida Sans"/>
              </a:rPr>
              <a:t>day</a:t>
            </a:r>
            <a:r>
              <a:rPr sz="1300" spc="-7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Lucida Sans"/>
                <a:cs typeface="Lucida Sans"/>
              </a:rPr>
              <a:t>in</a:t>
            </a:r>
            <a:r>
              <a:rPr sz="1300" spc="-7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direct </a:t>
            </a:r>
            <a:r>
              <a:rPr sz="1300" spc="-30" dirty="0">
                <a:solidFill>
                  <a:srgbClr val="545454"/>
                </a:solidFill>
                <a:latin typeface="Lucida Sans"/>
                <a:cs typeface="Lucida Sans"/>
              </a:rPr>
              <a:t>production</a:t>
            </a:r>
            <a:r>
              <a:rPr sz="1300" spc="-3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losses</a:t>
            </a:r>
            <a:endParaRPr sz="1300" dirty="0">
              <a:latin typeface="Lucida Sans"/>
              <a:cs typeface="Lucida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24375" y="5329236"/>
            <a:ext cx="3143250" cy="1095375"/>
            <a:chOff x="4619624" y="5876924"/>
            <a:chExt cx="3143250" cy="1095375"/>
          </a:xfrm>
        </p:grpSpPr>
        <p:sp>
          <p:nvSpPr>
            <p:cNvPr id="13" name="object 13"/>
            <p:cNvSpPr/>
            <p:nvPr/>
          </p:nvSpPr>
          <p:spPr>
            <a:xfrm>
              <a:off x="4638674" y="5876924"/>
              <a:ext cx="3124200" cy="1095375"/>
            </a:xfrm>
            <a:custGeom>
              <a:avLst/>
              <a:gdLst/>
              <a:ahLst/>
              <a:cxnLst/>
              <a:rect l="l" t="t" r="r" b="b"/>
              <a:pathLst>
                <a:path w="3124200" h="1095375">
                  <a:moveTo>
                    <a:pt x="3053002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053002" y="0"/>
                  </a:lnTo>
                  <a:lnTo>
                    <a:pt x="3057957" y="487"/>
                  </a:lnTo>
                  <a:lnTo>
                    <a:pt x="3094493" y="15621"/>
                  </a:lnTo>
                  <a:lnTo>
                    <a:pt x="3120313" y="51661"/>
                  </a:lnTo>
                  <a:lnTo>
                    <a:pt x="3124199" y="71196"/>
                  </a:lnTo>
                  <a:lnTo>
                    <a:pt x="3124199" y="1024177"/>
                  </a:lnTo>
                  <a:lnTo>
                    <a:pt x="3108576" y="1065668"/>
                  </a:lnTo>
                  <a:lnTo>
                    <a:pt x="3072536" y="1091487"/>
                  </a:lnTo>
                  <a:lnTo>
                    <a:pt x="3053002" y="10953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619624" y="5876924"/>
              <a:ext cx="38100" cy="1095375"/>
            </a:xfrm>
            <a:custGeom>
              <a:avLst/>
              <a:gdLst/>
              <a:ahLst/>
              <a:cxnLst/>
              <a:rect l="l" t="t" r="r" b="b"/>
              <a:pathLst>
                <a:path w="38100" h="1095375">
                  <a:moveTo>
                    <a:pt x="380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953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40275" y="5454789"/>
            <a:ext cx="138874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95" dirty="0">
                <a:solidFill>
                  <a:srgbClr val="0056B3"/>
                </a:solidFill>
                <a:latin typeface="Lucida Sans"/>
                <a:cs typeface="Lucida Sans"/>
              </a:rPr>
              <a:t>Customer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10" dirty="0">
                <a:solidFill>
                  <a:srgbClr val="0056B3"/>
                </a:solidFill>
                <a:latin typeface="Lucida Sans"/>
                <a:cs typeface="Lucida Sans"/>
              </a:rPr>
              <a:t>Trust</a:t>
            </a:r>
            <a:endParaRPr sz="1500" dirty="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0275" y="5769266"/>
            <a:ext cx="230759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Delayed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50" dirty="0">
                <a:solidFill>
                  <a:srgbClr val="545454"/>
                </a:solidFill>
                <a:latin typeface="Lucida Sans"/>
                <a:cs typeface="Lucida Sans"/>
              </a:rPr>
              <a:t>orders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dirty="0">
                <a:solidFill>
                  <a:srgbClr val="545454"/>
                </a:solidFill>
                <a:latin typeface="Lucida Sans"/>
                <a:cs typeface="Lucida Sans"/>
              </a:rPr>
              <a:t>damage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0" dirty="0">
                <a:solidFill>
                  <a:srgbClr val="545454"/>
                </a:solidFill>
                <a:latin typeface="Lucida Sans"/>
                <a:cs typeface="Lucida Sans"/>
              </a:rPr>
              <a:t>hard-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earned</a:t>
            </a:r>
            <a:r>
              <a:rPr sz="1300" spc="-5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reputation</a:t>
            </a:r>
            <a:endParaRPr sz="1300" dirty="0">
              <a:latin typeface="Lucida Sans"/>
              <a:cs typeface="Lucida San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91500" y="5329236"/>
            <a:ext cx="3143250" cy="1095375"/>
            <a:chOff x="8286749" y="5876924"/>
            <a:chExt cx="3143250" cy="1095375"/>
          </a:xfrm>
        </p:grpSpPr>
        <p:sp>
          <p:nvSpPr>
            <p:cNvPr id="18" name="object 18"/>
            <p:cNvSpPr/>
            <p:nvPr/>
          </p:nvSpPr>
          <p:spPr>
            <a:xfrm>
              <a:off x="8305799" y="5876924"/>
              <a:ext cx="3124200" cy="1095375"/>
            </a:xfrm>
            <a:custGeom>
              <a:avLst/>
              <a:gdLst/>
              <a:ahLst/>
              <a:cxnLst/>
              <a:rect l="l" t="t" r="r" b="b"/>
              <a:pathLst>
                <a:path w="3124200" h="1095375">
                  <a:moveTo>
                    <a:pt x="3053002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053002" y="0"/>
                  </a:lnTo>
                  <a:lnTo>
                    <a:pt x="3057957" y="487"/>
                  </a:lnTo>
                  <a:lnTo>
                    <a:pt x="3094493" y="15621"/>
                  </a:lnTo>
                  <a:lnTo>
                    <a:pt x="3120312" y="51661"/>
                  </a:lnTo>
                  <a:lnTo>
                    <a:pt x="3124198" y="71196"/>
                  </a:lnTo>
                  <a:lnTo>
                    <a:pt x="3124198" y="1024177"/>
                  </a:lnTo>
                  <a:lnTo>
                    <a:pt x="3108576" y="1065668"/>
                  </a:lnTo>
                  <a:lnTo>
                    <a:pt x="3072536" y="1091487"/>
                  </a:lnTo>
                  <a:lnTo>
                    <a:pt x="3053002" y="10953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8286749" y="5876924"/>
              <a:ext cx="38100" cy="1095375"/>
            </a:xfrm>
            <a:custGeom>
              <a:avLst/>
              <a:gdLst/>
              <a:ahLst/>
              <a:cxnLst/>
              <a:rect l="l" t="t" r="r" b="b"/>
              <a:pathLst>
                <a:path w="38100" h="1095375">
                  <a:moveTo>
                    <a:pt x="380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953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407401" y="5454789"/>
            <a:ext cx="112649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Repair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05" dirty="0">
                <a:solidFill>
                  <a:srgbClr val="0056B3"/>
                </a:solidFill>
                <a:latin typeface="Lucida Sans"/>
                <a:cs typeface="Lucida Sans"/>
              </a:rPr>
              <a:t>Costs</a:t>
            </a:r>
            <a:endParaRPr sz="1500" dirty="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07401" y="5769266"/>
            <a:ext cx="261937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300" dirty="0">
                <a:solidFill>
                  <a:srgbClr val="545454"/>
                </a:solidFill>
                <a:latin typeface="Lucida Sans"/>
                <a:cs typeface="Lucida Sans"/>
              </a:rPr>
              <a:t>Emergency</a:t>
            </a:r>
            <a:r>
              <a:rPr sz="1300" spc="-7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45" dirty="0">
                <a:solidFill>
                  <a:srgbClr val="545454"/>
                </a:solidFill>
                <a:latin typeface="Lucida Sans"/>
                <a:cs typeface="Lucida Sans"/>
              </a:rPr>
              <a:t>repairs</a:t>
            </a:r>
            <a:r>
              <a:rPr sz="1300" spc="-7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Lucida Sans"/>
                <a:cs typeface="Lucida Sans"/>
              </a:rPr>
              <a:t>cost</a:t>
            </a:r>
            <a:r>
              <a:rPr sz="1300" spc="-7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70" dirty="0">
                <a:solidFill>
                  <a:srgbClr val="545454"/>
                </a:solidFill>
                <a:latin typeface="Lucida Sans"/>
                <a:cs typeface="Lucida Sans"/>
              </a:rPr>
              <a:t>3x</a:t>
            </a:r>
            <a:r>
              <a:rPr sz="1300" spc="-7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regular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maintenance</a:t>
            </a:r>
            <a:endParaRPr sz="1300" dirty="0">
              <a:latin typeface="Lucida Sans"/>
              <a:cs typeface="Lucida San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7250" y="4959190"/>
            <a:ext cx="10477500" cy="1647825"/>
            <a:chOff x="952499" y="5295899"/>
            <a:chExt cx="10477500" cy="1647825"/>
          </a:xfrm>
        </p:grpSpPr>
        <p:sp>
          <p:nvSpPr>
            <p:cNvPr id="3" name="object 3"/>
            <p:cNvSpPr/>
            <p:nvPr/>
          </p:nvSpPr>
          <p:spPr>
            <a:xfrm>
              <a:off x="952499" y="5295899"/>
              <a:ext cx="10477500" cy="1647825"/>
            </a:xfrm>
            <a:custGeom>
              <a:avLst/>
              <a:gdLst/>
              <a:ahLst/>
              <a:cxnLst/>
              <a:rect l="l" t="t" r="r" b="b"/>
              <a:pathLst>
                <a:path w="10477500" h="1647825">
                  <a:moveTo>
                    <a:pt x="10406302" y="1647824"/>
                  </a:moveTo>
                  <a:lnTo>
                    <a:pt x="71196" y="1647824"/>
                  </a:lnTo>
                  <a:lnTo>
                    <a:pt x="66241" y="1647335"/>
                  </a:lnTo>
                  <a:lnTo>
                    <a:pt x="29705" y="1632201"/>
                  </a:lnTo>
                  <a:lnTo>
                    <a:pt x="3885" y="1596162"/>
                  </a:lnTo>
                  <a:lnTo>
                    <a:pt x="0" y="1576628"/>
                  </a:lnTo>
                  <a:lnTo>
                    <a:pt x="0" y="15716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0406302" y="0"/>
                  </a:lnTo>
                  <a:lnTo>
                    <a:pt x="10447792" y="15621"/>
                  </a:lnTo>
                  <a:lnTo>
                    <a:pt x="10473612" y="51661"/>
                  </a:lnTo>
                  <a:lnTo>
                    <a:pt x="10477498" y="71196"/>
                  </a:lnTo>
                  <a:lnTo>
                    <a:pt x="10477498" y="1576628"/>
                  </a:lnTo>
                  <a:lnTo>
                    <a:pt x="10461875" y="1618119"/>
                  </a:lnTo>
                  <a:lnTo>
                    <a:pt x="10425836" y="1643937"/>
                  </a:lnTo>
                  <a:lnTo>
                    <a:pt x="10411256" y="1647335"/>
                  </a:lnTo>
                  <a:lnTo>
                    <a:pt x="10406302" y="16478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2038349" y="55340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6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6"/>
                  </a:lnTo>
                  <a:lnTo>
                    <a:pt x="40653" y="432654"/>
                  </a:lnTo>
                  <a:lnTo>
                    <a:pt x="21751" y="395100"/>
                  </a:lnTo>
                  <a:lnTo>
                    <a:pt x="8563" y="355180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1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1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5" y="382015"/>
                  </a:lnTo>
                  <a:lnTo>
                    <a:pt x="537758" y="420450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7"/>
                  </a:lnTo>
                  <a:lnTo>
                    <a:pt x="382016" y="554795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8728" y="5704403"/>
              <a:ext cx="231055" cy="23105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39800" y="489309"/>
            <a:ext cx="10429240" cy="1225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0"/>
              </a:spcBef>
            </a:pPr>
            <a:r>
              <a:rPr sz="3600" spc="-445" dirty="0"/>
              <a:t>The</a:t>
            </a:r>
            <a:r>
              <a:rPr sz="3600" spc="-325" dirty="0"/>
              <a:t> </a:t>
            </a:r>
            <a:r>
              <a:rPr sz="3600" spc="-434" dirty="0"/>
              <a:t>Problem:</a:t>
            </a:r>
            <a:r>
              <a:rPr sz="3600" spc="-320" dirty="0"/>
              <a:t> </a:t>
            </a:r>
            <a:r>
              <a:rPr sz="3600" spc="-400" dirty="0"/>
              <a:t>Unplanned</a:t>
            </a:r>
            <a:r>
              <a:rPr sz="3600" spc="-320" dirty="0"/>
              <a:t> </a:t>
            </a:r>
            <a:r>
              <a:rPr sz="3600" spc="-420" dirty="0"/>
              <a:t>Downtime</a:t>
            </a:r>
            <a:r>
              <a:rPr sz="3600" spc="-320" dirty="0"/>
              <a:t> </a:t>
            </a:r>
            <a:r>
              <a:rPr sz="3600" spc="-409" dirty="0"/>
              <a:t>Costs</a:t>
            </a:r>
            <a:r>
              <a:rPr sz="3600" spc="-320" dirty="0"/>
              <a:t> </a:t>
            </a:r>
            <a:r>
              <a:rPr sz="3600" spc="-465" dirty="0"/>
              <a:t>MSMEs </a:t>
            </a:r>
            <a:r>
              <a:rPr sz="3600" spc="-360" dirty="0"/>
              <a:t>Billions</a:t>
            </a:r>
            <a:endParaRPr sz="3600" dirty="0"/>
          </a:p>
        </p:txBody>
      </p:sp>
      <p:sp>
        <p:nvSpPr>
          <p:cNvPr id="7" name="object 7"/>
          <p:cNvSpPr txBox="1"/>
          <p:nvPr/>
        </p:nvSpPr>
        <p:spPr>
          <a:xfrm>
            <a:off x="939800" y="4186440"/>
            <a:ext cx="10283825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95"/>
              </a:spcBef>
            </a:pP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Most</a:t>
            </a:r>
            <a:r>
              <a:rPr sz="1800" spc="-5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small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 manufacturers</a:t>
            </a:r>
            <a:r>
              <a:rPr sz="1800" spc="-5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444444"/>
                </a:solidFill>
                <a:latin typeface="Century Gothic"/>
                <a:cs typeface="Century Gothic"/>
              </a:rPr>
              <a:t>rely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80" dirty="0">
                <a:solidFill>
                  <a:srgbClr val="444444"/>
                </a:solidFill>
                <a:latin typeface="Century Gothic"/>
                <a:cs typeface="Century Gothic"/>
              </a:rPr>
              <a:t>on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5" dirty="0">
                <a:solidFill>
                  <a:srgbClr val="444444"/>
                </a:solidFill>
                <a:latin typeface="Century Gothic"/>
                <a:cs typeface="Century Gothic"/>
              </a:rPr>
              <a:t>reactive,</a:t>
            </a:r>
            <a:r>
              <a:rPr sz="1800" spc="-5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70" dirty="0">
                <a:solidFill>
                  <a:srgbClr val="444444"/>
                </a:solidFill>
                <a:latin typeface="Century Gothic"/>
                <a:cs typeface="Century Gothic"/>
              </a:rPr>
              <a:t>manual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90" dirty="0">
                <a:solidFill>
                  <a:srgbClr val="444444"/>
                </a:solidFill>
                <a:latin typeface="Century Gothic"/>
                <a:cs typeface="Century Gothic"/>
              </a:rPr>
              <a:t>maintenance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95" dirty="0">
                <a:solidFill>
                  <a:srgbClr val="444444"/>
                </a:solidFill>
                <a:latin typeface="Century Gothic"/>
                <a:cs typeface="Century Gothic"/>
              </a:rPr>
              <a:t>practices—</a:t>
            </a:r>
            <a:r>
              <a:rPr sz="1800" spc="-70" dirty="0">
                <a:solidFill>
                  <a:srgbClr val="444444"/>
                </a:solidFill>
                <a:latin typeface="Century Gothic"/>
                <a:cs typeface="Century Gothic"/>
              </a:rPr>
              <a:t>creating</a:t>
            </a:r>
            <a:r>
              <a:rPr sz="1800" spc="-5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260" dirty="0">
                <a:solidFill>
                  <a:srgbClr val="444444"/>
                </a:solidFill>
                <a:latin typeface="Century Gothic"/>
                <a:cs typeface="Century Gothic"/>
              </a:rPr>
              <a:t>a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35" dirty="0">
                <a:solidFill>
                  <a:srgbClr val="444444"/>
                </a:solidFill>
                <a:latin typeface="Century Gothic"/>
                <a:cs typeface="Century Gothic"/>
              </a:rPr>
              <a:t>costly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70" dirty="0">
                <a:solidFill>
                  <a:srgbClr val="444444"/>
                </a:solidFill>
                <a:latin typeface="Century Gothic"/>
                <a:cs typeface="Century Gothic"/>
              </a:rPr>
              <a:t>cycle </a:t>
            </a:r>
            <a:r>
              <a:rPr sz="1800" spc="-80" dirty="0">
                <a:solidFill>
                  <a:srgbClr val="444444"/>
                </a:solidFill>
                <a:latin typeface="Century Gothic"/>
                <a:cs typeface="Century Gothic"/>
              </a:rPr>
              <a:t>of</a:t>
            </a:r>
            <a:r>
              <a:rPr sz="1800" spc="-2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stress,</a:t>
            </a:r>
            <a:r>
              <a:rPr sz="1800" spc="-1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lost</a:t>
            </a:r>
            <a:r>
              <a:rPr sz="1800" spc="-1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opportunity,</a:t>
            </a:r>
            <a:r>
              <a:rPr sz="1800" spc="-1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30" dirty="0">
                <a:solidFill>
                  <a:srgbClr val="444444"/>
                </a:solidFill>
                <a:latin typeface="Century Gothic"/>
                <a:cs typeface="Century Gothic"/>
              </a:rPr>
              <a:t>and</a:t>
            </a:r>
            <a:r>
              <a:rPr sz="1800" spc="-1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95" dirty="0">
                <a:solidFill>
                  <a:srgbClr val="444444"/>
                </a:solidFill>
                <a:latin typeface="Century Gothic"/>
                <a:cs typeface="Century Gothic"/>
              </a:rPr>
              <a:t>preventable</a:t>
            </a:r>
            <a:r>
              <a:rPr sz="1800" spc="-1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expenses.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952499" y="2152649"/>
            <a:ext cx="3143250" cy="1714500"/>
          </a:xfrm>
          <a:custGeom>
            <a:avLst/>
            <a:gdLst/>
            <a:ahLst/>
            <a:cxnLst/>
            <a:rect l="l" t="t" r="r" b="b"/>
            <a:pathLst>
              <a:path w="3143250" h="1714500">
                <a:moveTo>
                  <a:pt x="3072053" y="1714499"/>
                </a:moveTo>
                <a:lnTo>
                  <a:pt x="71196" y="1714499"/>
                </a:lnTo>
                <a:lnTo>
                  <a:pt x="66241" y="1714011"/>
                </a:lnTo>
                <a:lnTo>
                  <a:pt x="29705" y="1698877"/>
                </a:lnTo>
                <a:lnTo>
                  <a:pt x="3885" y="1662837"/>
                </a:lnTo>
                <a:lnTo>
                  <a:pt x="0" y="1643303"/>
                </a:lnTo>
                <a:lnTo>
                  <a:pt x="0" y="1638299"/>
                </a:lnTo>
                <a:lnTo>
                  <a:pt x="0" y="71196"/>
                </a:lnTo>
                <a:lnTo>
                  <a:pt x="15621" y="29705"/>
                </a:lnTo>
                <a:lnTo>
                  <a:pt x="51662" y="3885"/>
                </a:lnTo>
                <a:lnTo>
                  <a:pt x="71196" y="0"/>
                </a:lnTo>
                <a:lnTo>
                  <a:pt x="3072053" y="0"/>
                </a:lnTo>
                <a:lnTo>
                  <a:pt x="3113544" y="15621"/>
                </a:lnTo>
                <a:lnTo>
                  <a:pt x="3139363" y="51661"/>
                </a:lnTo>
                <a:lnTo>
                  <a:pt x="3143249" y="71196"/>
                </a:lnTo>
                <a:lnTo>
                  <a:pt x="3143249" y="1643303"/>
                </a:lnTo>
                <a:lnTo>
                  <a:pt x="3127627" y="1684793"/>
                </a:lnTo>
                <a:lnTo>
                  <a:pt x="3091587" y="1710613"/>
                </a:lnTo>
                <a:lnTo>
                  <a:pt x="3077008" y="1714011"/>
                </a:lnTo>
                <a:lnTo>
                  <a:pt x="3072053" y="1714499"/>
                </a:lnTo>
                <a:close/>
              </a:path>
            </a:pathLst>
          </a:custGeom>
          <a:solidFill>
            <a:srgbClr val="F6F9F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209625" y="3131883"/>
            <a:ext cx="2628900" cy="490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0035" marR="5080" indent="-267970">
              <a:lnSpc>
                <a:spcPct val="107800"/>
              </a:lnSpc>
            </a:pPr>
            <a:r>
              <a:rPr sz="1450" spc="-65" dirty="0">
                <a:solidFill>
                  <a:srgbClr val="444444"/>
                </a:solidFill>
                <a:latin typeface="Lucida Sans"/>
                <a:cs typeface="Lucida Sans"/>
              </a:rPr>
              <a:t>of</a:t>
            </a:r>
            <a:r>
              <a:rPr sz="1450" spc="-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444444"/>
                </a:solidFill>
                <a:latin typeface="Lucida Sans"/>
                <a:cs typeface="Lucida Sans"/>
              </a:rPr>
              <a:t>MSMEs</a:t>
            </a:r>
            <a:r>
              <a:rPr sz="1450" spc="-4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5" dirty="0">
                <a:solidFill>
                  <a:srgbClr val="444444"/>
                </a:solidFill>
                <a:latin typeface="Lucida Sans"/>
                <a:cs typeface="Lucida Sans"/>
              </a:rPr>
              <a:t>experience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monthly </a:t>
            </a:r>
            <a:r>
              <a:rPr sz="1450" dirty="0">
                <a:solidFill>
                  <a:srgbClr val="444444"/>
                </a:solidFill>
                <a:latin typeface="Lucida Sans"/>
                <a:cs typeface="Lucida Sans"/>
              </a:rPr>
              <a:t>equipment</a:t>
            </a:r>
            <a:r>
              <a:rPr sz="1450" spc="-6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breakdowns</a:t>
            </a:r>
            <a:endParaRPr sz="1450" dirty="0">
              <a:latin typeface="Lucida Sans"/>
              <a:cs typeface="Lucida San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62790" y="3829049"/>
            <a:ext cx="3122930" cy="38100"/>
          </a:xfrm>
          <a:custGeom>
            <a:avLst/>
            <a:gdLst/>
            <a:ahLst/>
            <a:cxnLst/>
            <a:rect l="l" t="t" r="r" b="b"/>
            <a:pathLst>
              <a:path w="3122929" h="38100">
                <a:moveTo>
                  <a:pt x="3056759" y="38099"/>
                </a:moveTo>
                <a:lnTo>
                  <a:pt x="65909" y="38099"/>
                </a:lnTo>
                <a:lnTo>
                  <a:pt x="58402" y="37737"/>
                </a:lnTo>
                <a:lnTo>
                  <a:pt x="17591" y="20832"/>
                </a:lnTo>
                <a:lnTo>
                  <a:pt x="0" y="0"/>
                </a:lnTo>
                <a:lnTo>
                  <a:pt x="3122667" y="0"/>
                </a:lnTo>
                <a:lnTo>
                  <a:pt x="3092715" y="29091"/>
                </a:lnTo>
                <a:lnTo>
                  <a:pt x="3056759" y="380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619624" y="2152649"/>
            <a:ext cx="3143250" cy="1714500"/>
          </a:xfrm>
          <a:custGeom>
            <a:avLst/>
            <a:gdLst/>
            <a:ahLst/>
            <a:cxnLst/>
            <a:rect l="l" t="t" r="r" b="b"/>
            <a:pathLst>
              <a:path w="3143250" h="1714500">
                <a:moveTo>
                  <a:pt x="3072053" y="1714499"/>
                </a:moveTo>
                <a:lnTo>
                  <a:pt x="71196" y="1714499"/>
                </a:lnTo>
                <a:lnTo>
                  <a:pt x="66241" y="1714011"/>
                </a:lnTo>
                <a:lnTo>
                  <a:pt x="29705" y="1698877"/>
                </a:lnTo>
                <a:lnTo>
                  <a:pt x="3885" y="1662837"/>
                </a:lnTo>
                <a:lnTo>
                  <a:pt x="0" y="1643303"/>
                </a:lnTo>
                <a:lnTo>
                  <a:pt x="0" y="16382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072053" y="0"/>
                </a:lnTo>
                <a:lnTo>
                  <a:pt x="3113543" y="15621"/>
                </a:lnTo>
                <a:lnTo>
                  <a:pt x="3139363" y="51661"/>
                </a:lnTo>
                <a:lnTo>
                  <a:pt x="3143249" y="71196"/>
                </a:lnTo>
                <a:lnTo>
                  <a:pt x="3143249" y="1643303"/>
                </a:lnTo>
                <a:lnTo>
                  <a:pt x="3127627" y="1684793"/>
                </a:lnTo>
                <a:lnTo>
                  <a:pt x="3091586" y="1710613"/>
                </a:lnTo>
                <a:lnTo>
                  <a:pt x="3077008" y="1714011"/>
                </a:lnTo>
                <a:lnTo>
                  <a:pt x="3072053" y="1714499"/>
                </a:lnTo>
                <a:close/>
              </a:path>
            </a:pathLst>
          </a:custGeom>
          <a:solidFill>
            <a:srgbClr val="F6F9F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2032049" y="2384834"/>
            <a:ext cx="4551680" cy="612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78885" algn="l"/>
              </a:tabLst>
            </a:pPr>
            <a:r>
              <a:rPr sz="3850" b="1" spc="-25" dirty="0">
                <a:solidFill>
                  <a:srgbClr val="0056B3"/>
                </a:solidFill>
                <a:latin typeface="Arial"/>
                <a:cs typeface="Arial"/>
              </a:rPr>
              <a:t>72%</a:t>
            </a:r>
            <a:r>
              <a:rPr sz="3850" b="1" dirty="0">
                <a:solidFill>
                  <a:srgbClr val="0056B3"/>
                </a:solidFill>
                <a:latin typeface="Arial"/>
                <a:cs typeface="Arial"/>
              </a:rPr>
              <a:t>	</a:t>
            </a:r>
            <a:r>
              <a:rPr sz="3850" b="1" spc="-620" dirty="0">
                <a:solidFill>
                  <a:srgbClr val="0056B3"/>
                </a:solidFill>
                <a:latin typeface="Arial"/>
                <a:cs typeface="Arial"/>
              </a:rPr>
              <a:t>11%</a:t>
            </a:r>
            <a:endParaRPr sz="38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9286" y="3131883"/>
            <a:ext cx="2524125" cy="490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310" marR="5080" indent="-309245">
              <a:lnSpc>
                <a:spcPct val="107800"/>
              </a:lnSpc>
            </a:pPr>
            <a:r>
              <a:rPr sz="1450" spc="-65" dirty="0">
                <a:solidFill>
                  <a:srgbClr val="444444"/>
                </a:solidFill>
                <a:latin typeface="Lucida Sans"/>
                <a:cs typeface="Lucida Sans"/>
              </a:rPr>
              <a:t>of</a:t>
            </a:r>
            <a:r>
              <a:rPr sz="1450" spc="-8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annual</a:t>
            </a:r>
            <a:r>
              <a:rPr sz="1450" spc="-8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revenue</a:t>
            </a:r>
            <a:r>
              <a:rPr sz="1450" spc="-8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50" dirty="0">
                <a:solidFill>
                  <a:srgbClr val="444444"/>
                </a:solidFill>
                <a:latin typeface="Lucida Sans"/>
                <a:cs typeface="Lucida Sans"/>
              </a:rPr>
              <a:t>lost</a:t>
            </a:r>
            <a:r>
              <a:rPr sz="1450" spc="-8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444444"/>
                </a:solidFill>
                <a:latin typeface="Lucida Sans"/>
                <a:cs typeface="Lucida Sans"/>
              </a:rPr>
              <a:t>due</a:t>
            </a:r>
            <a:r>
              <a:rPr sz="1450" spc="-8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5" dirty="0">
                <a:solidFill>
                  <a:srgbClr val="444444"/>
                </a:solidFill>
                <a:latin typeface="Lucida Sans"/>
                <a:cs typeface="Lucida Sans"/>
              </a:rPr>
              <a:t>to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unplanned</a:t>
            </a:r>
            <a:r>
              <a:rPr sz="1450" spc="-6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downtime</a:t>
            </a:r>
            <a:endParaRPr sz="1450" dirty="0">
              <a:latin typeface="Lucida Sans"/>
              <a:cs typeface="Lucida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29915" y="3829049"/>
            <a:ext cx="3122930" cy="38100"/>
          </a:xfrm>
          <a:custGeom>
            <a:avLst/>
            <a:gdLst/>
            <a:ahLst/>
            <a:cxnLst/>
            <a:rect l="l" t="t" r="r" b="b"/>
            <a:pathLst>
              <a:path w="3122929" h="38100">
                <a:moveTo>
                  <a:pt x="3056759" y="38099"/>
                </a:moveTo>
                <a:lnTo>
                  <a:pt x="65909" y="38099"/>
                </a:lnTo>
                <a:lnTo>
                  <a:pt x="58402" y="37737"/>
                </a:lnTo>
                <a:lnTo>
                  <a:pt x="17591" y="20832"/>
                </a:lnTo>
                <a:lnTo>
                  <a:pt x="0" y="0"/>
                </a:lnTo>
                <a:lnTo>
                  <a:pt x="3122667" y="0"/>
                </a:lnTo>
                <a:lnTo>
                  <a:pt x="3092715" y="29091"/>
                </a:lnTo>
                <a:lnTo>
                  <a:pt x="3056759" y="380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8286748" y="2152649"/>
            <a:ext cx="3143250" cy="1714500"/>
          </a:xfrm>
          <a:custGeom>
            <a:avLst/>
            <a:gdLst/>
            <a:ahLst/>
            <a:cxnLst/>
            <a:rect l="l" t="t" r="r" b="b"/>
            <a:pathLst>
              <a:path w="3143250" h="1714500">
                <a:moveTo>
                  <a:pt x="3072053" y="1714499"/>
                </a:moveTo>
                <a:lnTo>
                  <a:pt x="71196" y="1714499"/>
                </a:lnTo>
                <a:lnTo>
                  <a:pt x="66241" y="1714011"/>
                </a:lnTo>
                <a:lnTo>
                  <a:pt x="29704" y="1698877"/>
                </a:lnTo>
                <a:lnTo>
                  <a:pt x="3884" y="1662837"/>
                </a:lnTo>
                <a:lnTo>
                  <a:pt x="0" y="1643303"/>
                </a:lnTo>
                <a:lnTo>
                  <a:pt x="0" y="16382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072053" y="0"/>
                </a:lnTo>
                <a:lnTo>
                  <a:pt x="3113544" y="15621"/>
                </a:lnTo>
                <a:lnTo>
                  <a:pt x="3139363" y="51661"/>
                </a:lnTo>
                <a:lnTo>
                  <a:pt x="3143249" y="71196"/>
                </a:lnTo>
                <a:lnTo>
                  <a:pt x="3143249" y="1643303"/>
                </a:lnTo>
                <a:lnTo>
                  <a:pt x="3127626" y="1684793"/>
                </a:lnTo>
                <a:lnTo>
                  <a:pt x="3091587" y="1710613"/>
                </a:lnTo>
                <a:lnTo>
                  <a:pt x="3077007" y="1714011"/>
                </a:lnTo>
                <a:lnTo>
                  <a:pt x="3072053" y="1714499"/>
                </a:lnTo>
                <a:close/>
              </a:path>
            </a:pathLst>
          </a:custGeom>
          <a:solidFill>
            <a:srgbClr val="F6F9F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9577933" y="2261009"/>
            <a:ext cx="560705" cy="612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50" b="1" spc="-25" dirty="0">
                <a:solidFill>
                  <a:srgbClr val="0056B3"/>
                </a:solidFill>
                <a:latin typeface="Arial"/>
                <a:cs typeface="Arial"/>
              </a:rPr>
              <a:t>3x</a:t>
            </a:r>
            <a:endParaRPr sz="385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09521" y="3008058"/>
            <a:ext cx="2298065" cy="738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7800"/>
              </a:lnSpc>
            </a:pP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higher</a:t>
            </a:r>
            <a:r>
              <a:rPr sz="1450" spc="-8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5" dirty="0">
                <a:solidFill>
                  <a:srgbClr val="444444"/>
                </a:solidFill>
                <a:latin typeface="Lucida Sans"/>
                <a:cs typeface="Lucida Sans"/>
              </a:rPr>
              <a:t>cost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for</a:t>
            </a:r>
            <a:r>
              <a:rPr sz="1450" spc="-8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emergency </a:t>
            </a:r>
            <a:r>
              <a:rPr sz="1450" spc="-45" dirty="0">
                <a:solidFill>
                  <a:srgbClr val="444444"/>
                </a:solidFill>
                <a:latin typeface="Lucida Sans"/>
                <a:cs typeface="Lucida Sans"/>
              </a:rPr>
              <a:t>repairs</a:t>
            </a:r>
            <a:r>
              <a:rPr sz="1450" spc="-9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0" dirty="0">
                <a:solidFill>
                  <a:srgbClr val="444444"/>
                </a:solidFill>
                <a:latin typeface="Lucida Sans"/>
                <a:cs typeface="Lucida Sans"/>
              </a:rPr>
              <a:t>vs.</a:t>
            </a:r>
            <a:r>
              <a:rPr sz="1450" spc="-8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preventive</a:t>
            </a:r>
            <a:endParaRPr sz="1450" dirty="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maintenance</a:t>
            </a:r>
            <a:endParaRPr sz="1450" dirty="0">
              <a:latin typeface="Lucida Sans"/>
              <a:cs typeface="Lucida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97039" y="3829049"/>
            <a:ext cx="3122930" cy="38100"/>
          </a:xfrm>
          <a:custGeom>
            <a:avLst/>
            <a:gdLst/>
            <a:ahLst/>
            <a:cxnLst/>
            <a:rect l="l" t="t" r="r" b="b"/>
            <a:pathLst>
              <a:path w="3122929" h="38100">
                <a:moveTo>
                  <a:pt x="3056760" y="38099"/>
                </a:moveTo>
                <a:lnTo>
                  <a:pt x="65910" y="38099"/>
                </a:lnTo>
                <a:lnTo>
                  <a:pt x="58403" y="37737"/>
                </a:lnTo>
                <a:lnTo>
                  <a:pt x="17592" y="20832"/>
                </a:lnTo>
                <a:lnTo>
                  <a:pt x="0" y="0"/>
                </a:lnTo>
                <a:lnTo>
                  <a:pt x="3122667" y="0"/>
                </a:lnTo>
                <a:lnTo>
                  <a:pt x="3092715" y="29091"/>
                </a:lnTo>
                <a:lnTo>
                  <a:pt x="3056760" y="380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1246982" y="5866461"/>
            <a:ext cx="19716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 marR="5080" indent="-637540">
              <a:lnSpc>
                <a:spcPct val="111100"/>
              </a:lnSpc>
              <a:spcBef>
                <a:spcPts val="100"/>
              </a:spcBef>
            </a:pPr>
            <a:r>
              <a:rPr sz="1350" spc="-55" dirty="0">
                <a:solidFill>
                  <a:srgbClr val="333333"/>
                </a:solidFill>
                <a:latin typeface="Verdana"/>
                <a:cs typeface="Verdana"/>
              </a:rPr>
              <a:t>Equipment</a:t>
            </a:r>
            <a:r>
              <a:rPr sz="135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333333"/>
                </a:solidFill>
                <a:latin typeface="Verdana"/>
                <a:cs typeface="Verdana"/>
              </a:rPr>
              <a:t>Fails</a:t>
            </a:r>
            <a:r>
              <a:rPr sz="1350" spc="-10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Verdana"/>
                <a:cs typeface="Verdana"/>
              </a:rPr>
              <a:t>Without </a:t>
            </a:r>
            <a:r>
              <a:rPr sz="1350" spc="-10" dirty="0">
                <a:solidFill>
                  <a:srgbClr val="333333"/>
                </a:solidFill>
                <a:latin typeface="Verdana"/>
                <a:cs typeface="Verdana"/>
              </a:rPr>
              <a:t>Warning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36603" y="5197315"/>
            <a:ext cx="6712584" cy="685800"/>
            <a:chOff x="3631852" y="5534024"/>
            <a:chExt cx="6712584" cy="68580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1852" y="5838824"/>
              <a:ext cx="168275" cy="14287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19624" y="56483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6"/>
                  </a:lnTo>
                  <a:lnTo>
                    <a:pt x="202800" y="559194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2" y="189483"/>
                  </a:lnTo>
                  <a:lnTo>
                    <a:pt x="33740" y="151047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2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7" y="5490"/>
                  </a:lnTo>
                  <a:lnTo>
                    <a:pt x="382015" y="16702"/>
                  </a:lnTo>
                  <a:lnTo>
                    <a:pt x="420450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5" y="115528"/>
                  </a:lnTo>
                  <a:lnTo>
                    <a:pt x="537758" y="151047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0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5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0" y="537758"/>
                  </a:lnTo>
                  <a:lnTo>
                    <a:pt x="382015" y="554795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1074" y="5819774"/>
              <a:ext cx="228599" cy="2285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7323" y="5953124"/>
              <a:ext cx="168275" cy="14287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191374" y="55340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6"/>
                  </a:lnTo>
                  <a:lnTo>
                    <a:pt x="40652" y="432654"/>
                  </a:lnTo>
                  <a:lnTo>
                    <a:pt x="21750" y="395100"/>
                  </a:lnTo>
                  <a:lnTo>
                    <a:pt x="8563" y="355180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7" y="56233"/>
                  </a:lnTo>
                  <a:lnTo>
                    <a:pt x="151047" y="33741"/>
                  </a:lnTo>
                  <a:lnTo>
                    <a:pt x="189482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5" y="5490"/>
                  </a:lnTo>
                  <a:lnTo>
                    <a:pt x="382015" y="16703"/>
                  </a:lnTo>
                  <a:lnTo>
                    <a:pt x="420449" y="33741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0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7"/>
                  </a:lnTo>
                  <a:lnTo>
                    <a:pt x="382016" y="554795"/>
                  </a:lnTo>
                  <a:lnTo>
                    <a:pt x="341495" y="566008"/>
                  </a:lnTo>
                  <a:lnTo>
                    <a:pt x="299770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1874" y="5719762"/>
              <a:ext cx="200560" cy="2019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2793" y="5838824"/>
              <a:ext cx="168275" cy="14287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772649" y="55340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0" y="568407"/>
                  </a:lnTo>
                  <a:lnTo>
                    <a:pt x="202800" y="559195"/>
                  </a:lnTo>
                  <a:lnTo>
                    <a:pt x="163574" y="544064"/>
                  </a:lnTo>
                  <a:lnTo>
                    <a:pt x="126993" y="523341"/>
                  </a:lnTo>
                  <a:lnTo>
                    <a:pt x="93851" y="497476"/>
                  </a:lnTo>
                  <a:lnTo>
                    <a:pt x="64861" y="467026"/>
                  </a:lnTo>
                  <a:lnTo>
                    <a:pt x="40653" y="432654"/>
                  </a:lnTo>
                  <a:lnTo>
                    <a:pt x="21749" y="395100"/>
                  </a:lnTo>
                  <a:lnTo>
                    <a:pt x="8562" y="355180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89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2" y="83693"/>
                  </a:lnTo>
                  <a:lnTo>
                    <a:pt x="115527" y="56233"/>
                  </a:lnTo>
                  <a:lnTo>
                    <a:pt x="151045" y="33741"/>
                  </a:lnTo>
                  <a:lnTo>
                    <a:pt x="189482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5" y="5490"/>
                  </a:lnTo>
                  <a:lnTo>
                    <a:pt x="382015" y="16703"/>
                  </a:lnTo>
                  <a:lnTo>
                    <a:pt x="420451" y="33741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7" y="151048"/>
                  </a:lnTo>
                  <a:lnTo>
                    <a:pt x="554795" y="189483"/>
                  </a:lnTo>
                  <a:lnTo>
                    <a:pt x="566007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7" y="341496"/>
                  </a:lnTo>
                  <a:lnTo>
                    <a:pt x="554795" y="382015"/>
                  </a:lnTo>
                  <a:lnTo>
                    <a:pt x="537756" y="420450"/>
                  </a:lnTo>
                  <a:lnTo>
                    <a:pt x="515265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7"/>
                  </a:lnTo>
                  <a:lnTo>
                    <a:pt x="382015" y="554795"/>
                  </a:lnTo>
                  <a:lnTo>
                    <a:pt x="341495" y="566008"/>
                  </a:lnTo>
                  <a:lnTo>
                    <a:pt x="299770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58375" y="5719751"/>
              <a:ext cx="207179" cy="20004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729881" y="6004484"/>
            <a:ext cx="215646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50" dirty="0">
                <a:solidFill>
                  <a:srgbClr val="333333"/>
                </a:solidFill>
                <a:latin typeface="Verdana"/>
                <a:cs typeface="Verdana"/>
              </a:rPr>
              <a:t>Production</a:t>
            </a:r>
            <a:r>
              <a:rPr sz="1350" spc="-1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333333"/>
                </a:solidFill>
                <a:latin typeface="Verdana"/>
                <a:cs typeface="Verdana"/>
              </a:rPr>
              <a:t>Comes</a:t>
            </a:r>
            <a:r>
              <a:rPr sz="1350" spc="-1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sz="1350" spc="-114" dirty="0">
                <a:solidFill>
                  <a:srgbClr val="333333"/>
                </a:solidFill>
                <a:latin typeface="Verdana"/>
                <a:cs typeface="Verdana"/>
              </a:rPr>
              <a:t> a</a:t>
            </a:r>
            <a:r>
              <a:rPr sz="1350" spc="-1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333333"/>
                </a:solidFill>
                <a:latin typeface="Verdana"/>
                <a:cs typeface="Verdana"/>
              </a:rPr>
              <a:t>Halt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23522" y="5866461"/>
            <a:ext cx="192023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7395" marR="5080" indent="-735330">
              <a:lnSpc>
                <a:spcPct val="111100"/>
              </a:lnSpc>
              <a:spcBef>
                <a:spcPts val="100"/>
              </a:spcBef>
            </a:pPr>
            <a:r>
              <a:rPr sz="1350" spc="-70" dirty="0">
                <a:solidFill>
                  <a:srgbClr val="333333"/>
                </a:solidFill>
                <a:latin typeface="Verdana"/>
                <a:cs typeface="Verdana"/>
              </a:rPr>
              <a:t>Emergency</a:t>
            </a:r>
            <a:r>
              <a:rPr sz="1350" spc="-114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333333"/>
                </a:solidFill>
                <a:latin typeface="Verdana"/>
                <a:cs typeface="Verdana"/>
              </a:rPr>
              <a:t>Repair</a:t>
            </a:r>
            <a:r>
              <a:rPr sz="135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333333"/>
                </a:solidFill>
                <a:latin typeface="Verdana"/>
                <a:cs typeface="Verdana"/>
              </a:rPr>
              <a:t>Costs </a:t>
            </a:r>
            <a:r>
              <a:rPr sz="1350" spc="-20" dirty="0">
                <a:solidFill>
                  <a:srgbClr val="333333"/>
                </a:solidFill>
                <a:latin typeface="Verdana"/>
                <a:cs typeface="Verdana"/>
              </a:rPr>
              <a:t>Spike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63137" y="5866461"/>
            <a:ext cx="17919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2440" marR="5080" indent="-460375">
              <a:lnSpc>
                <a:spcPct val="111100"/>
              </a:lnSpc>
              <a:spcBef>
                <a:spcPts val="100"/>
              </a:spcBef>
            </a:pPr>
            <a:r>
              <a:rPr sz="1350" spc="-85" dirty="0">
                <a:solidFill>
                  <a:srgbClr val="333333"/>
                </a:solidFill>
                <a:latin typeface="Verdana"/>
                <a:cs typeface="Verdana"/>
              </a:rPr>
              <a:t>Cycle</a:t>
            </a:r>
            <a:r>
              <a:rPr sz="1350" spc="-10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333333"/>
                </a:solidFill>
                <a:latin typeface="Verdana"/>
                <a:cs typeface="Verdana"/>
              </a:rPr>
              <a:t>Repeats</a:t>
            </a:r>
            <a:r>
              <a:rPr sz="1350" spc="-10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Verdana"/>
                <a:cs typeface="Verdana"/>
              </a:rPr>
              <a:t>Without </a:t>
            </a:r>
            <a:r>
              <a:rPr sz="1350" spc="-10" dirty="0">
                <a:solidFill>
                  <a:srgbClr val="333333"/>
                </a:solidFill>
                <a:latin typeface="Verdana"/>
                <a:cs typeface="Verdana"/>
              </a:rPr>
              <a:t>Prevention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dirty="0">
                <a:latin typeface="Arial"/>
                <a:cs typeface="Arial"/>
              </a:rPr>
              <a:t>Market</a:t>
            </a:r>
            <a:r>
              <a:rPr sz="3600" spc="-225" dirty="0">
                <a:latin typeface="Arial"/>
                <a:cs typeface="Arial"/>
              </a:rPr>
              <a:t> </a:t>
            </a:r>
            <a:r>
              <a:rPr sz="3600" spc="-65" dirty="0">
                <a:latin typeface="Arial"/>
                <a:cs typeface="Arial"/>
              </a:rPr>
              <a:t>Opportunity:</a:t>
            </a:r>
            <a:r>
              <a:rPr sz="3600" spc="-145" dirty="0">
                <a:latin typeface="Arial"/>
                <a:cs typeface="Arial"/>
              </a:rPr>
              <a:t> </a:t>
            </a:r>
            <a:r>
              <a:rPr sz="3600" spc="-215" dirty="0">
                <a:latin typeface="Arial"/>
                <a:cs typeface="Arial"/>
              </a:rPr>
              <a:t>A</a:t>
            </a:r>
            <a:r>
              <a:rPr sz="3600" spc="-110" dirty="0">
                <a:latin typeface="Arial"/>
                <a:cs typeface="Arial"/>
              </a:rPr>
              <a:t> </a:t>
            </a:r>
            <a:r>
              <a:rPr sz="3600" spc="-145" dirty="0">
                <a:latin typeface="Arial"/>
                <a:cs typeface="Arial"/>
              </a:rPr>
              <a:t>Massive</a:t>
            </a:r>
            <a:r>
              <a:rPr sz="3600" spc="-1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and</a:t>
            </a:r>
            <a:r>
              <a:rPr sz="3600" spc="-14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Urgent</a:t>
            </a:r>
            <a:r>
              <a:rPr sz="3600" spc="-150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Need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9800" y="1531626"/>
            <a:ext cx="3406140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350" b="1" spc="-150" dirty="0">
                <a:solidFill>
                  <a:srgbClr val="212121"/>
                </a:solidFill>
                <a:latin typeface="Lucida Sans"/>
                <a:cs typeface="Lucida Sans"/>
              </a:rPr>
              <a:t>India's</a:t>
            </a:r>
            <a:r>
              <a:rPr sz="2350" b="1" spc="-145" dirty="0">
                <a:solidFill>
                  <a:srgbClr val="212121"/>
                </a:solidFill>
                <a:latin typeface="Lucida Sans"/>
                <a:cs typeface="Lucida Sans"/>
              </a:rPr>
              <a:t> </a:t>
            </a:r>
            <a:r>
              <a:rPr sz="2350" b="1" spc="-80" dirty="0">
                <a:solidFill>
                  <a:srgbClr val="212121"/>
                </a:solidFill>
                <a:latin typeface="Lucida Sans"/>
                <a:cs typeface="Lucida Sans"/>
              </a:rPr>
              <a:t>MSME</a:t>
            </a:r>
            <a:r>
              <a:rPr sz="2350" b="1" spc="-140" dirty="0">
                <a:solidFill>
                  <a:srgbClr val="212121"/>
                </a:solidFill>
                <a:latin typeface="Lucida Sans"/>
                <a:cs typeface="Lucida Sans"/>
              </a:rPr>
              <a:t> </a:t>
            </a:r>
            <a:r>
              <a:rPr sz="2350" b="1" spc="-105" dirty="0">
                <a:solidFill>
                  <a:srgbClr val="212121"/>
                </a:solidFill>
                <a:latin typeface="Lucida Sans"/>
                <a:cs typeface="Lucida Sans"/>
              </a:rPr>
              <a:t>Landscape</a:t>
            </a:r>
            <a:endParaRPr sz="235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9800" y="2094756"/>
            <a:ext cx="5904230" cy="12369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80"/>
              </a:spcBef>
            </a:pPr>
            <a:r>
              <a:rPr sz="1650" spc="-100" dirty="0">
                <a:solidFill>
                  <a:srgbClr val="444444"/>
                </a:solidFill>
                <a:latin typeface="Verdana"/>
                <a:cs typeface="Verdana"/>
              </a:rPr>
              <a:t>India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100" dirty="0">
                <a:solidFill>
                  <a:srgbClr val="444444"/>
                </a:solidFill>
                <a:latin typeface="Verdana"/>
                <a:cs typeface="Verdana"/>
              </a:rPr>
              <a:t>has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114" dirty="0">
                <a:solidFill>
                  <a:srgbClr val="444444"/>
                </a:solidFill>
                <a:latin typeface="Verdana"/>
                <a:cs typeface="Verdana"/>
              </a:rPr>
              <a:t>a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70" dirty="0">
                <a:solidFill>
                  <a:srgbClr val="444444"/>
                </a:solidFill>
                <a:latin typeface="Verdana"/>
                <a:cs typeface="Verdana"/>
              </a:rPr>
              <a:t>thriving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50" dirty="0">
                <a:solidFill>
                  <a:srgbClr val="444444"/>
                </a:solidFill>
                <a:latin typeface="Verdana"/>
                <a:cs typeface="Verdana"/>
              </a:rPr>
              <a:t>MSME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90" dirty="0">
                <a:solidFill>
                  <a:srgbClr val="444444"/>
                </a:solidFill>
                <a:latin typeface="Verdana"/>
                <a:cs typeface="Verdana"/>
              </a:rPr>
              <a:t>sector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60" dirty="0">
                <a:solidFill>
                  <a:srgbClr val="444444"/>
                </a:solidFill>
                <a:latin typeface="Verdana"/>
                <a:cs typeface="Verdana"/>
              </a:rPr>
              <a:t>that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95" dirty="0">
                <a:solidFill>
                  <a:srgbClr val="444444"/>
                </a:solidFill>
                <a:latin typeface="Verdana"/>
                <a:cs typeface="Verdana"/>
              </a:rPr>
              <a:t>forms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444444"/>
                </a:solidFill>
                <a:latin typeface="Verdana"/>
                <a:cs typeface="Verdana"/>
              </a:rPr>
              <a:t>the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444444"/>
                </a:solidFill>
                <a:latin typeface="Verdana"/>
                <a:cs typeface="Verdana"/>
              </a:rPr>
              <a:t>backbone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444444"/>
                </a:solidFill>
                <a:latin typeface="Verdana"/>
                <a:cs typeface="Verdana"/>
              </a:rPr>
              <a:t>of </a:t>
            </a:r>
            <a:r>
              <a:rPr sz="1650" spc="-80" dirty="0">
                <a:solidFill>
                  <a:srgbClr val="444444"/>
                </a:solidFill>
                <a:latin typeface="Verdana"/>
                <a:cs typeface="Verdana"/>
              </a:rPr>
              <a:t>our</a:t>
            </a:r>
            <a:r>
              <a:rPr sz="1650" spc="-1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75" dirty="0">
                <a:solidFill>
                  <a:srgbClr val="444444"/>
                </a:solidFill>
                <a:latin typeface="Verdana"/>
                <a:cs typeface="Verdana"/>
              </a:rPr>
              <a:t>industrial</a:t>
            </a:r>
            <a:r>
              <a:rPr sz="1650" spc="-14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120" dirty="0">
                <a:solidFill>
                  <a:srgbClr val="444444"/>
                </a:solidFill>
                <a:latin typeface="Verdana"/>
                <a:cs typeface="Verdana"/>
              </a:rPr>
              <a:t>ecosystem.</a:t>
            </a:r>
            <a:r>
              <a:rPr sz="1650" spc="-14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45" dirty="0">
                <a:solidFill>
                  <a:srgbClr val="444444"/>
                </a:solidFill>
                <a:latin typeface="Verdana"/>
                <a:cs typeface="Verdana"/>
              </a:rPr>
              <a:t>With</a:t>
            </a:r>
            <a:r>
              <a:rPr sz="1650" spc="-14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700" b="1" spc="-140" dirty="0">
                <a:solidFill>
                  <a:srgbClr val="0056B3"/>
                </a:solidFill>
                <a:latin typeface="Lucida Sans"/>
                <a:cs typeface="Lucida Sans"/>
              </a:rPr>
              <a:t>6.3</a:t>
            </a:r>
            <a:r>
              <a:rPr sz="1700" b="1" spc="-8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20" dirty="0">
                <a:solidFill>
                  <a:srgbClr val="0056B3"/>
                </a:solidFill>
                <a:latin typeface="Lucida Sans"/>
                <a:cs typeface="Lucida Sans"/>
              </a:rPr>
              <a:t>crore</a:t>
            </a:r>
            <a:r>
              <a:rPr sz="1700" b="1" spc="-8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10" dirty="0">
                <a:solidFill>
                  <a:srgbClr val="0056B3"/>
                </a:solidFill>
                <a:latin typeface="Lucida Sans"/>
                <a:cs typeface="Lucida Sans"/>
              </a:rPr>
              <a:t>MSMEs </a:t>
            </a:r>
            <a:r>
              <a:rPr sz="1650" spc="-10" dirty="0">
                <a:solidFill>
                  <a:srgbClr val="444444"/>
                </a:solidFill>
                <a:latin typeface="Verdana"/>
                <a:cs typeface="Verdana"/>
              </a:rPr>
              <a:t>nationwide, </a:t>
            </a:r>
            <a:r>
              <a:rPr sz="1650" spc="-45" dirty="0">
                <a:solidFill>
                  <a:srgbClr val="444444"/>
                </a:solidFill>
                <a:latin typeface="Verdana"/>
                <a:cs typeface="Verdana"/>
              </a:rPr>
              <a:t>including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700" b="1" spc="-340" dirty="0">
                <a:solidFill>
                  <a:srgbClr val="0056B3"/>
                </a:solidFill>
                <a:latin typeface="Lucida Sans"/>
                <a:cs typeface="Lucida Sans"/>
              </a:rPr>
              <a:t>11-</a:t>
            </a:r>
            <a:r>
              <a:rPr sz="1700" b="1" spc="-370" dirty="0">
                <a:solidFill>
                  <a:srgbClr val="0056B3"/>
                </a:solidFill>
                <a:latin typeface="Lucida Sans"/>
                <a:cs typeface="Lucida Sans"/>
              </a:rPr>
              <a:t>15</a:t>
            </a:r>
            <a:r>
              <a:rPr sz="17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20" dirty="0">
                <a:solidFill>
                  <a:srgbClr val="0056B3"/>
                </a:solidFill>
                <a:latin typeface="Lucida Sans"/>
                <a:cs typeface="Lucida Sans"/>
              </a:rPr>
              <a:t>lakh</a:t>
            </a:r>
            <a:r>
              <a:rPr sz="1700" b="1" spc="-9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14" dirty="0">
                <a:solidFill>
                  <a:srgbClr val="0056B3"/>
                </a:solidFill>
                <a:latin typeface="Lucida Sans"/>
                <a:cs typeface="Lucida Sans"/>
              </a:rPr>
              <a:t>in</a:t>
            </a:r>
            <a:r>
              <a:rPr sz="1700" b="1" spc="-9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20" dirty="0">
                <a:solidFill>
                  <a:srgbClr val="0056B3"/>
                </a:solidFill>
                <a:latin typeface="Lucida Sans"/>
                <a:cs typeface="Lucida Sans"/>
              </a:rPr>
              <a:t>manufacturing</a:t>
            </a:r>
            <a:r>
              <a:rPr sz="1650" spc="-120" dirty="0">
                <a:solidFill>
                  <a:srgbClr val="444444"/>
                </a:solidFill>
                <a:latin typeface="Verdana"/>
                <a:cs typeface="Verdana"/>
              </a:rPr>
              <a:t>,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444444"/>
                </a:solidFill>
                <a:latin typeface="Verdana"/>
                <a:cs typeface="Verdana"/>
              </a:rPr>
              <a:t>the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60" dirty="0">
                <a:solidFill>
                  <a:srgbClr val="444444"/>
                </a:solidFill>
                <a:latin typeface="Verdana"/>
                <a:cs typeface="Verdana"/>
              </a:rPr>
              <a:t>need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95" dirty="0">
                <a:solidFill>
                  <a:srgbClr val="444444"/>
                </a:solidFill>
                <a:latin typeface="Verdana"/>
                <a:cs typeface="Verdana"/>
              </a:rPr>
              <a:t>for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50" dirty="0">
                <a:solidFill>
                  <a:srgbClr val="444444"/>
                </a:solidFill>
                <a:latin typeface="Verdana"/>
                <a:cs typeface="Verdana"/>
              </a:rPr>
              <a:t>accessible </a:t>
            </a:r>
            <a:r>
              <a:rPr sz="1650" spc="-90" dirty="0">
                <a:solidFill>
                  <a:srgbClr val="444444"/>
                </a:solidFill>
                <a:latin typeface="Verdana"/>
                <a:cs typeface="Verdana"/>
              </a:rPr>
              <a:t>smart</a:t>
            </a:r>
            <a:r>
              <a:rPr sz="1650" spc="-1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444444"/>
                </a:solidFill>
                <a:latin typeface="Verdana"/>
                <a:cs typeface="Verdana"/>
              </a:rPr>
              <a:t>manufacturing</a:t>
            </a:r>
            <a:r>
              <a:rPr sz="1650" spc="-1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80" dirty="0">
                <a:solidFill>
                  <a:srgbClr val="444444"/>
                </a:solidFill>
                <a:latin typeface="Verdana"/>
                <a:cs typeface="Verdana"/>
              </a:rPr>
              <a:t>solutions</a:t>
            </a:r>
            <a:r>
              <a:rPr sz="1650" spc="-1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105" dirty="0">
                <a:solidFill>
                  <a:srgbClr val="444444"/>
                </a:solidFill>
                <a:latin typeface="Verdana"/>
                <a:cs typeface="Verdana"/>
              </a:rPr>
              <a:t>is</a:t>
            </a:r>
            <a:r>
              <a:rPr sz="1650" spc="-1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444444"/>
                </a:solidFill>
                <a:latin typeface="Verdana"/>
                <a:cs typeface="Verdana"/>
              </a:rPr>
              <a:t>critical.</a:t>
            </a:r>
            <a:endParaRPr sz="165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9800" y="3618756"/>
            <a:ext cx="5810885" cy="12369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60"/>
              </a:spcBef>
            </a:pPr>
            <a:r>
              <a:rPr sz="1650" spc="-100" dirty="0">
                <a:solidFill>
                  <a:srgbClr val="444444"/>
                </a:solidFill>
                <a:latin typeface="Verdana"/>
                <a:cs typeface="Verdana"/>
              </a:rPr>
              <a:t>The</a:t>
            </a:r>
            <a:r>
              <a:rPr sz="1650" spc="-14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110" dirty="0">
                <a:solidFill>
                  <a:srgbClr val="444444"/>
                </a:solidFill>
                <a:latin typeface="Verdana"/>
                <a:cs typeface="Verdana"/>
              </a:rPr>
              <a:t>Industry</a:t>
            </a:r>
            <a:r>
              <a:rPr sz="1650" spc="-140" dirty="0">
                <a:solidFill>
                  <a:srgbClr val="444444"/>
                </a:solidFill>
                <a:latin typeface="Verdana"/>
                <a:cs typeface="Verdana"/>
              </a:rPr>
              <a:t> 4.0 </a:t>
            </a:r>
            <a:r>
              <a:rPr sz="1650" spc="-60" dirty="0">
                <a:solidFill>
                  <a:srgbClr val="444444"/>
                </a:solidFill>
                <a:latin typeface="Verdana"/>
                <a:cs typeface="Verdana"/>
              </a:rPr>
              <a:t>and</a:t>
            </a:r>
            <a:r>
              <a:rPr sz="1650" spc="-13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75" dirty="0">
                <a:solidFill>
                  <a:srgbClr val="444444"/>
                </a:solidFill>
                <a:latin typeface="Verdana"/>
                <a:cs typeface="Verdana"/>
              </a:rPr>
              <a:t>predictive</a:t>
            </a:r>
            <a:r>
              <a:rPr sz="1650" spc="-14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70" dirty="0">
                <a:solidFill>
                  <a:srgbClr val="444444"/>
                </a:solidFill>
                <a:latin typeface="Verdana"/>
                <a:cs typeface="Verdana"/>
              </a:rPr>
              <a:t>maintenance</a:t>
            </a:r>
            <a:r>
              <a:rPr sz="1650" spc="-14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90" dirty="0">
                <a:solidFill>
                  <a:srgbClr val="444444"/>
                </a:solidFill>
                <a:latin typeface="Verdana"/>
                <a:cs typeface="Verdana"/>
              </a:rPr>
              <a:t>market</a:t>
            </a:r>
            <a:r>
              <a:rPr sz="1650" spc="-13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444444"/>
                </a:solidFill>
                <a:latin typeface="Verdana"/>
                <a:cs typeface="Verdana"/>
              </a:rPr>
              <a:t>is </a:t>
            </a:r>
            <a:r>
              <a:rPr sz="1650" spc="-80" dirty="0">
                <a:solidFill>
                  <a:srgbClr val="444444"/>
                </a:solidFill>
                <a:latin typeface="Verdana"/>
                <a:cs typeface="Verdana"/>
              </a:rPr>
              <a:t>projected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75" dirty="0">
                <a:solidFill>
                  <a:srgbClr val="444444"/>
                </a:solidFill>
                <a:latin typeface="Verdana"/>
                <a:cs typeface="Verdana"/>
              </a:rPr>
              <a:t>to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90" dirty="0">
                <a:solidFill>
                  <a:srgbClr val="444444"/>
                </a:solidFill>
                <a:latin typeface="Verdana"/>
                <a:cs typeface="Verdana"/>
              </a:rPr>
              <a:t>reach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400" b="1" spc="-130" dirty="0">
                <a:solidFill>
                  <a:srgbClr val="0056B3"/>
                </a:solidFill>
                <a:latin typeface="Arial"/>
                <a:cs typeface="Arial"/>
              </a:rPr>
              <a:t>₹</a:t>
            </a:r>
            <a:r>
              <a:rPr sz="1700" b="1" spc="-130" dirty="0">
                <a:solidFill>
                  <a:srgbClr val="0056B3"/>
                </a:solidFill>
                <a:latin typeface="Lucida Sans"/>
                <a:cs typeface="Lucida Sans"/>
              </a:rPr>
              <a:t>1200</a:t>
            </a:r>
            <a:r>
              <a:rPr sz="17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35" dirty="0">
                <a:solidFill>
                  <a:srgbClr val="0056B3"/>
                </a:solidFill>
                <a:latin typeface="Lucida Sans"/>
                <a:cs typeface="Lucida Sans"/>
              </a:rPr>
              <a:t>crore+</a:t>
            </a:r>
            <a:r>
              <a:rPr sz="17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40" dirty="0">
                <a:solidFill>
                  <a:srgbClr val="0056B3"/>
                </a:solidFill>
                <a:latin typeface="Lucida Sans"/>
                <a:cs typeface="Lucida Sans"/>
              </a:rPr>
              <a:t>by</a:t>
            </a:r>
            <a:r>
              <a:rPr sz="1700" b="1" spc="-10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200" dirty="0">
                <a:solidFill>
                  <a:srgbClr val="0056B3"/>
                </a:solidFill>
                <a:latin typeface="Lucida Sans"/>
                <a:cs typeface="Lucida Sans"/>
              </a:rPr>
              <a:t>2027</a:t>
            </a:r>
            <a:r>
              <a:rPr sz="1650" spc="-200" dirty="0">
                <a:solidFill>
                  <a:srgbClr val="444444"/>
                </a:solidFill>
                <a:latin typeface="Verdana"/>
                <a:cs typeface="Verdana"/>
              </a:rPr>
              <a:t>,</a:t>
            </a:r>
            <a:r>
              <a:rPr sz="1650" spc="-16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90" dirty="0">
                <a:solidFill>
                  <a:srgbClr val="444444"/>
                </a:solidFill>
                <a:latin typeface="Verdana"/>
                <a:cs typeface="Verdana"/>
              </a:rPr>
              <a:t>driven</a:t>
            </a:r>
            <a:r>
              <a:rPr sz="1650" spc="-15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444444"/>
                </a:solidFill>
                <a:latin typeface="Verdana"/>
                <a:cs typeface="Verdana"/>
              </a:rPr>
              <a:t>by </a:t>
            </a:r>
            <a:r>
              <a:rPr sz="1650" spc="-80" dirty="0">
                <a:solidFill>
                  <a:srgbClr val="444444"/>
                </a:solidFill>
                <a:latin typeface="Verdana"/>
                <a:cs typeface="Verdana"/>
              </a:rPr>
              <a:t>government</a:t>
            </a:r>
            <a:r>
              <a:rPr sz="1650" spc="-14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85" dirty="0">
                <a:solidFill>
                  <a:srgbClr val="444444"/>
                </a:solidFill>
                <a:latin typeface="Verdana"/>
                <a:cs typeface="Verdana"/>
              </a:rPr>
              <a:t>initiatives</a:t>
            </a:r>
            <a:r>
              <a:rPr sz="1650" spc="-14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85" dirty="0">
                <a:solidFill>
                  <a:srgbClr val="444444"/>
                </a:solidFill>
                <a:latin typeface="Verdana"/>
                <a:cs typeface="Verdana"/>
              </a:rPr>
              <a:t>like</a:t>
            </a:r>
            <a:r>
              <a:rPr sz="1650" spc="-140" dirty="0">
                <a:solidFill>
                  <a:srgbClr val="444444"/>
                </a:solidFill>
                <a:latin typeface="Verdana"/>
                <a:cs typeface="Verdana"/>
              </a:rPr>
              <a:t> PLI, </a:t>
            </a:r>
            <a:r>
              <a:rPr sz="1650" spc="-85" dirty="0">
                <a:solidFill>
                  <a:srgbClr val="444444"/>
                </a:solidFill>
                <a:latin typeface="Verdana"/>
                <a:cs typeface="Verdana"/>
              </a:rPr>
              <a:t>SAMARTH</a:t>
            </a:r>
            <a:r>
              <a:rPr sz="1650" spc="-14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110" dirty="0">
                <a:solidFill>
                  <a:srgbClr val="444444"/>
                </a:solidFill>
                <a:latin typeface="Verdana"/>
                <a:cs typeface="Verdana"/>
              </a:rPr>
              <a:t>Udyog,</a:t>
            </a:r>
            <a:r>
              <a:rPr sz="1650" spc="-13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60" dirty="0">
                <a:solidFill>
                  <a:srgbClr val="444444"/>
                </a:solidFill>
                <a:latin typeface="Verdana"/>
                <a:cs typeface="Verdana"/>
              </a:rPr>
              <a:t>and</a:t>
            </a:r>
            <a:r>
              <a:rPr sz="1650" spc="-14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444444"/>
                </a:solidFill>
                <a:latin typeface="Verdana"/>
                <a:cs typeface="Verdana"/>
              </a:rPr>
              <a:t>urgent </a:t>
            </a:r>
            <a:r>
              <a:rPr sz="1650" spc="-80" dirty="0">
                <a:solidFill>
                  <a:srgbClr val="444444"/>
                </a:solidFill>
                <a:latin typeface="Verdana"/>
                <a:cs typeface="Verdana"/>
              </a:rPr>
              <a:t>operational</a:t>
            </a:r>
            <a:r>
              <a:rPr sz="1650" spc="-1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444444"/>
                </a:solidFill>
                <a:latin typeface="Verdana"/>
                <a:cs typeface="Verdana"/>
              </a:rPr>
              <a:t>demands.</a:t>
            </a:r>
            <a:endParaRPr sz="165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391399" y="1552575"/>
            <a:ext cx="4229100" cy="1114450"/>
            <a:chOff x="7391399" y="1552574"/>
            <a:chExt cx="4038600" cy="1381125"/>
          </a:xfrm>
        </p:grpSpPr>
        <p:sp>
          <p:nvSpPr>
            <p:cNvPr id="7" name="object 7"/>
            <p:cNvSpPr/>
            <p:nvPr/>
          </p:nvSpPr>
          <p:spPr>
            <a:xfrm>
              <a:off x="7410449" y="1552574"/>
              <a:ext cx="4019550" cy="1381125"/>
            </a:xfrm>
            <a:custGeom>
              <a:avLst/>
              <a:gdLst/>
              <a:ahLst/>
              <a:cxnLst/>
              <a:rect l="l" t="t" r="r" b="b"/>
              <a:pathLst>
                <a:path w="4019550" h="1381125">
                  <a:moveTo>
                    <a:pt x="3948352" y="1381124"/>
                  </a:moveTo>
                  <a:lnTo>
                    <a:pt x="0" y="1381124"/>
                  </a:lnTo>
                  <a:lnTo>
                    <a:pt x="0" y="0"/>
                  </a:lnTo>
                  <a:lnTo>
                    <a:pt x="3948352" y="0"/>
                  </a:lnTo>
                  <a:lnTo>
                    <a:pt x="3953307" y="488"/>
                  </a:lnTo>
                  <a:lnTo>
                    <a:pt x="3989843" y="15621"/>
                  </a:lnTo>
                  <a:lnTo>
                    <a:pt x="4015662" y="51661"/>
                  </a:lnTo>
                  <a:lnTo>
                    <a:pt x="4019548" y="71196"/>
                  </a:lnTo>
                  <a:lnTo>
                    <a:pt x="4019548" y="1309928"/>
                  </a:lnTo>
                  <a:lnTo>
                    <a:pt x="4003926" y="1351418"/>
                  </a:lnTo>
                  <a:lnTo>
                    <a:pt x="3967886" y="1377238"/>
                  </a:lnTo>
                  <a:lnTo>
                    <a:pt x="3948352" y="13811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7391399" y="1552574"/>
              <a:ext cx="38100" cy="1381125"/>
            </a:xfrm>
            <a:custGeom>
              <a:avLst/>
              <a:gdLst/>
              <a:ahLst/>
              <a:cxnLst/>
              <a:rect l="l" t="t" r="r" b="b"/>
              <a:pathLst>
                <a:path w="38100" h="1381125">
                  <a:moveTo>
                    <a:pt x="38099" y="1381124"/>
                  </a:moveTo>
                  <a:lnTo>
                    <a:pt x="0" y="13811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8112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27215" y="1291766"/>
            <a:ext cx="1401721" cy="1179169"/>
          </a:xfrm>
          <a:prstGeom prst="rect">
            <a:avLst/>
          </a:prstGeom>
        </p:spPr>
        <p:txBody>
          <a:bodyPr vert="horz" wrap="square" lIns="0" tIns="283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600" b="1" spc="-60" dirty="0">
                <a:solidFill>
                  <a:srgbClr val="0056B3"/>
                </a:solidFill>
                <a:latin typeface="Arial"/>
                <a:cs typeface="Arial"/>
              </a:rPr>
              <a:t>6.3</a:t>
            </a:r>
            <a:r>
              <a:rPr sz="3600" b="1" spc="-190" dirty="0">
                <a:solidFill>
                  <a:srgbClr val="0056B3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0056B3"/>
                </a:solidFill>
                <a:latin typeface="Arial"/>
                <a:cs typeface="Arial"/>
              </a:rPr>
              <a:t>Cr</a:t>
            </a:r>
            <a:endParaRPr sz="3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450" dirty="0">
                <a:solidFill>
                  <a:srgbClr val="545454"/>
                </a:solidFill>
                <a:latin typeface="Lucida Sans"/>
                <a:cs typeface="Lucida Sans"/>
              </a:rPr>
              <a:t>MSMEs</a:t>
            </a:r>
            <a:r>
              <a:rPr sz="1450" spc="-4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545454"/>
                </a:solidFill>
                <a:latin typeface="Lucida Sans"/>
                <a:cs typeface="Lucida Sans"/>
              </a:rPr>
              <a:t>in</a:t>
            </a:r>
            <a:r>
              <a:rPr sz="1450" spc="-3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545454"/>
                </a:solidFill>
                <a:latin typeface="Lucida Sans"/>
                <a:cs typeface="Lucida Sans"/>
              </a:rPr>
              <a:t>India</a:t>
            </a:r>
            <a:endParaRPr sz="1450" dirty="0">
              <a:latin typeface="Lucida Sans"/>
              <a:cs typeface="Lucida San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91399" y="2883543"/>
            <a:ext cx="4229100" cy="1278222"/>
            <a:chOff x="7391399" y="3124199"/>
            <a:chExt cx="4038600" cy="1381125"/>
          </a:xfrm>
        </p:grpSpPr>
        <p:sp>
          <p:nvSpPr>
            <p:cNvPr id="11" name="object 11"/>
            <p:cNvSpPr/>
            <p:nvPr/>
          </p:nvSpPr>
          <p:spPr>
            <a:xfrm>
              <a:off x="7410449" y="3124199"/>
              <a:ext cx="4019550" cy="1381125"/>
            </a:xfrm>
            <a:custGeom>
              <a:avLst/>
              <a:gdLst/>
              <a:ahLst/>
              <a:cxnLst/>
              <a:rect l="l" t="t" r="r" b="b"/>
              <a:pathLst>
                <a:path w="4019550" h="1381125">
                  <a:moveTo>
                    <a:pt x="3948352" y="1381124"/>
                  </a:moveTo>
                  <a:lnTo>
                    <a:pt x="0" y="1381124"/>
                  </a:lnTo>
                  <a:lnTo>
                    <a:pt x="0" y="0"/>
                  </a:lnTo>
                  <a:lnTo>
                    <a:pt x="3948352" y="0"/>
                  </a:lnTo>
                  <a:lnTo>
                    <a:pt x="3953307" y="488"/>
                  </a:lnTo>
                  <a:lnTo>
                    <a:pt x="3989843" y="15621"/>
                  </a:lnTo>
                  <a:lnTo>
                    <a:pt x="4015662" y="51661"/>
                  </a:lnTo>
                  <a:lnTo>
                    <a:pt x="4019548" y="71196"/>
                  </a:lnTo>
                  <a:lnTo>
                    <a:pt x="4019548" y="1309928"/>
                  </a:lnTo>
                  <a:lnTo>
                    <a:pt x="4003926" y="1351418"/>
                  </a:lnTo>
                  <a:lnTo>
                    <a:pt x="3967886" y="1377238"/>
                  </a:lnTo>
                  <a:lnTo>
                    <a:pt x="3948352" y="13811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391399" y="3124199"/>
              <a:ext cx="38100" cy="1381125"/>
            </a:xfrm>
            <a:custGeom>
              <a:avLst/>
              <a:gdLst/>
              <a:ahLst/>
              <a:cxnLst/>
              <a:rect l="l" t="t" r="r" b="b"/>
              <a:pathLst>
                <a:path w="38100" h="1381125">
                  <a:moveTo>
                    <a:pt x="38099" y="1381124"/>
                  </a:moveTo>
                  <a:lnTo>
                    <a:pt x="0" y="13811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8112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76185" y="2721787"/>
            <a:ext cx="2516182" cy="1179169"/>
          </a:xfrm>
          <a:prstGeom prst="rect">
            <a:avLst/>
          </a:prstGeom>
        </p:spPr>
        <p:txBody>
          <a:bodyPr vert="horz" wrap="square" lIns="0" tIns="283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000" b="1" dirty="0">
                <a:solidFill>
                  <a:srgbClr val="0056B3"/>
                </a:solidFill>
                <a:latin typeface="Arial"/>
                <a:cs typeface="Arial"/>
              </a:rPr>
              <a:t>₹</a:t>
            </a:r>
            <a:r>
              <a:rPr sz="3600" b="1" dirty="0">
                <a:solidFill>
                  <a:srgbClr val="0056B3"/>
                </a:solidFill>
                <a:latin typeface="Arial"/>
                <a:cs typeface="Arial"/>
              </a:rPr>
              <a:t>1200</a:t>
            </a:r>
            <a:r>
              <a:rPr sz="3600" b="1" spc="-215" dirty="0">
                <a:solidFill>
                  <a:srgbClr val="0056B3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0056B3"/>
                </a:solidFill>
                <a:latin typeface="Arial"/>
                <a:cs typeface="Arial"/>
              </a:rPr>
              <a:t>Cr+</a:t>
            </a:r>
            <a:endParaRPr sz="3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450" spc="-25" dirty="0">
                <a:solidFill>
                  <a:srgbClr val="545454"/>
                </a:solidFill>
                <a:latin typeface="Lucida Sans"/>
                <a:cs typeface="Lucida Sans"/>
              </a:rPr>
              <a:t>Industry</a:t>
            </a:r>
            <a:r>
              <a:rPr sz="1450" spc="-8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450" spc="-80" dirty="0">
                <a:solidFill>
                  <a:srgbClr val="545454"/>
                </a:solidFill>
                <a:latin typeface="Lucida Sans"/>
                <a:cs typeface="Lucida Sans"/>
              </a:rPr>
              <a:t>4.0 </a:t>
            </a:r>
            <a:r>
              <a:rPr sz="1450" spc="-25" dirty="0">
                <a:solidFill>
                  <a:srgbClr val="545454"/>
                </a:solidFill>
                <a:latin typeface="Lucida Sans"/>
                <a:cs typeface="Lucida Sans"/>
              </a:rPr>
              <a:t>Market</a:t>
            </a:r>
            <a:r>
              <a:rPr sz="1450" spc="-8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450" spc="-25" dirty="0">
                <a:solidFill>
                  <a:srgbClr val="545454"/>
                </a:solidFill>
                <a:latin typeface="Lucida Sans"/>
                <a:cs typeface="Lucida Sans"/>
              </a:rPr>
              <a:t>by</a:t>
            </a:r>
            <a:r>
              <a:rPr sz="1450" spc="-8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450" spc="-85" dirty="0">
                <a:solidFill>
                  <a:srgbClr val="545454"/>
                </a:solidFill>
                <a:latin typeface="Lucida Sans"/>
                <a:cs typeface="Lucida Sans"/>
              </a:rPr>
              <a:t>2027</a:t>
            </a:r>
            <a:endParaRPr sz="1450" dirty="0">
              <a:latin typeface="Lucida Sans"/>
              <a:cs typeface="Lucida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91399" y="4363415"/>
            <a:ext cx="4229100" cy="1095374"/>
            <a:chOff x="7391399" y="4695824"/>
            <a:chExt cx="4038600" cy="1381125"/>
          </a:xfrm>
        </p:grpSpPr>
        <p:sp>
          <p:nvSpPr>
            <p:cNvPr id="15" name="object 15"/>
            <p:cNvSpPr/>
            <p:nvPr/>
          </p:nvSpPr>
          <p:spPr>
            <a:xfrm>
              <a:off x="7410449" y="4695824"/>
              <a:ext cx="4019550" cy="1381125"/>
            </a:xfrm>
            <a:custGeom>
              <a:avLst/>
              <a:gdLst/>
              <a:ahLst/>
              <a:cxnLst/>
              <a:rect l="l" t="t" r="r" b="b"/>
              <a:pathLst>
                <a:path w="4019550" h="1381125">
                  <a:moveTo>
                    <a:pt x="3948352" y="1381124"/>
                  </a:moveTo>
                  <a:lnTo>
                    <a:pt x="0" y="1381124"/>
                  </a:lnTo>
                  <a:lnTo>
                    <a:pt x="0" y="0"/>
                  </a:lnTo>
                  <a:lnTo>
                    <a:pt x="3948352" y="0"/>
                  </a:lnTo>
                  <a:lnTo>
                    <a:pt x="3953307" y="488"/>
                  </a:lnTo>
                  <a:lnTo>
                    <a:pt x="3989843" y="15621"/>
                  </a:lnTo>
                  <a:lnTo>
                    <a:pt x="4015662" y="51661"/>
                  </a:lnTo>
                  <a:lnTo>
                    <a:pt x="4019548" y="71196"/>
                  </a:lnTo>
                  <a:lnTo>
                    <a:pt x="4019548" y="1309927"/>
                  </a:lnTo>
                  <a:lnTo>
                    <a:pt x="4003926" y="1351419"/>
                  </a:lnTo>
                  <a:lnTo>
                    <a:pt x="3967886" y="1377239"/>
                  </a:lnTo>
                  <a:lnTo>
                    <a:pt x="3948352" y="13811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7391399" y="4695824"/>
              <a:ext cx="38100" cy="1381125"/>
            </a:xfrm>
            <a:custGeom>
              <a:avLst/>
              <a:gdLst/>
              <a:ahLst/>
              <a:cxnLst/>
              <a:rect l="l" t="t" r="r" b="b"/>
              <a:pathLst>
                <a:path w="38100" h="1381125">
                  <a:moveTo>
                    <a:pt x="38099" y="1381124"/>
                  </a:moveTo>
                  <a:lnTo>
                    <a:pt x="0" y="13811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8112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27215" y="4062712"/>
            <a:ext cx="2117209" cy="1179169"/>
          </a:xfrm>
          <a:prstGeom prst="rect">
            <a:avLst/>
          </a:prstGeom>
        </p:spPr>
        <p:txBody>
          <a:bodyPr vert="horz" wrap="square" lIns="0" tIns="283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600" b="1" spc="-540" dirty="0">
                <a:solidFill>
                  <a:srgbClr val="0056B3"/>
                </a:solidFill>
                <a:latin typeface="Arial"/>
                <a:cs typeface="Arial"/>
              </a:rPr>
              <a:t>11-</a:t>
            </a:r>
            <a:r>
              <a:rPr sz="3600" b="1" spc="-459" dirty="0">
                <a:solidFill>
                  <a:srgbClr val="0056B3"/>
                </a:solidFill>
                <a:latin typeface="Arial"/>
                <a:cs typeface="Arial"/>
              </a:rPr>
              <a:t>15</a:t>
            </a:r>
            <a:r>
              <a:rPr sz="3600" b="1" spc="-110" dirty="0">
                <a:solidFill>
                  <a:srgbClr val="0056B3"/>
                </a:solidFill>
                <a:latin typeface="Arial"/>
                <a:cs typeface="Arial"/>
              </a:rPr>
              <a:t> </a:t>
            </a:r>
            <a:r>
              <a:rPr sz="3600" b="1" spc="-55" dirty="0">
                <a:solidFill>
                  <a:srgbClr val="0056B3"/>
                </a:solidFill>
                <a:latin typeface="Arial"/>
                <a:cs typeface="Arial"/>
              </a:rPr>
              <a:t>Lakh</a:t>
            </a:r>
            <a:endParaRPr sz="3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450" spc="-20" dirty="0">
                <a:solidFill>
                  <a:srgbClr val="545454"/>
                </a:solidFill>
                <a:latin typeface="Lucida Sans"/>
                <a:cs typeface="Lucida Sans"/>
              </a:rPr>
              <a:t>Manufacturing</a:t>
            </a:r>
            <a:r>
              <a:rPr sz="145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545454"/>
                </a:solidFill>
                <a:latin typeface="Lucida Sans"/>
                <a:cs typeface="Lucida Sans"/>
              </a:rPr>
              <a:t>MSMEs</a:t>
            </a:r>
            <a:endParaRPr sz="1450" dirty="0">
              <a:latin typeface="Lucida Sans"/>
              <a:cs typeface="Lucida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8665" y="5542584"/>
            <a:ext cx="3143250" cy="1095375"/>
            <a:chOff x="952499" y="6648449"/>
            <a:chExt cx="3143250" cy="1095375"/>
          </a:xfrm>
        </p:grpSpPr>
        <p:sp>
          <p:nvSpPr>
            <p:cNvPr id="19" name="object 19"/>
            <p:cNvSpPr/>
            <p:nvPr/>
          </p:nvSpPr>
          <p:spPr>
            <a:xfrm>
              <a:off x="971549" y="6648449"/>
              <a:ext cx="3124200" cy="1095375"/>
            </a:xfrm>
            <a:custGeom>
              <a:avLst/>
              <a:gdLst/>
              <a:ahLst/>
              <a:cxnLst/>
              <a:rect l="l" t="t" r="r" b="b"/>
              <a:pathLst>
                <a:path w="3124200" h="1095375">
                  <a:moveTo>
                    <a:pt x="3053002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053002" y="0"/>
                  </a:lnTo>
                  <a:lnTo>
                    <a:pt x="3057958" y="487"/>
                  </a:lnTo>
                  <a:lnTo>
                    <a:pt x="3094494" y="15621"/>
                  </a:lnTo>
                  <a:lnTo>
                    <a:pt x="3120313" y="51661"/>
                  </a:lnTo>
                  <a:lnTo>
                    <a:pt x="3124199" y="71196"/>
                  </a:lnTo>
                  <a:lnTo>
                    <a:pt x="3124199" y="1024177"/>
                  </a:lnTo>
                  <a:lnTo>
                    <a:pt x="3108577" y="1065669"/>
                  </a:lnTo>
                  <a:lnTo>
                    <a:pt x="3072537" y="1091487"/>
                  </a:lnTo>
                  <a:lnTo>
                    <a:pt x="3053002" y="10953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952499" y="6648449"/>
              <a:ext cx="38100" cy="1095375"/>
            </a:xfrm>
            <a:custGeom>
              <a:avLst/>
              <a:gdLst/>
              <a:ahLst/>
              <a:cxnLst/>
              <a:rect l="l" t="t" r="r" b="b"/>
              <a:pathLst>
                <a:path w="38100" h="1095375">
                  <a:moveTo>
                    <a:pt x="380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953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64565" y="5668137"/>
            <a:ext cx="158242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Untapped</a:t>
            </a:r>
            <a:r>
              <a:rPr sz="1500" b="1" spc="-5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Market</a:t>
            </a:r>
            <a:endParaRPr sz="1500" dirty="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4565" y="5982614"/>
            <a:ext cx="26187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300" spc="-30" dirty="0">
                <a:solidFill>
                  <a:srgbClr val="545454"/>
                </a:solidFill>
                <a:latin typeface="Lucida Sans"/>
                <a:cs typeface="Lucida Sans"/>
              </a:rPr>
              <a:t>86%</a:t>
            </a:r>
            <a:r>
              <a:rPr sz="1300" spc="-7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65" dirty="0">
                <a:solidFill>
                  <a:srgbClr val="545454"/>
                </a:solidFill>
                <a:latin typeface="Lucida Sans"/>
                <a:cs typeface="Lucida Sans"/>
              </a:rPr>
              <a:t>of</a:t>
            </a:r>
            <a:r>
              <a:rPr sz="1300" spc="-7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dirty="0">
                <a:solidFill>
                  <a:srgbClr val="545454"/>
                </a:solidFill>
                <a:latin typeface="Lucida Sans"/>
                <a:cs typeface="Lucida Sans"/>
              </a:rPr>
              <a:t>MSMEs</a:t>
            </a:r>
            <a:r>
              <a:rPr sz="1300" spc="-7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still</a:t>
            </a:r>
            <a:r>
              <a:rPr sz="1300" spc="-7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45" dirty="0">
                <a:solidFill>
                  <a:srgbClr val="545454"/>
                </a:solidFill>
                <a:latin typeface="Lucida Sans"/>
                <a:cs typeface="Lucida Sans"/>
              </a:rPr>
              <a:t>rely</a:t>
            </a:r>
            <a:r>
              <a:rPr sz="1300" spc="-7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35" dirty="0">
                <a:solidFill>
                  <a:srgbClr val="545454"/>
                </a:solidFill>
                <a:latin typeface="Lucida Sans"/>
                <a:cs typeface="Lucida Sans"/>
              </a:rPr>
              <a:t>on</a:t>
            </a:r>
            <a:r>
              <a:rPr sz="1300" spc="-7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0" dirty="0">
                <a:solidFill>
                  <a:srgbClr val="545454"/>
                </a:solidFill>
                <a:latin typeface="Lucida Sans"/>
                <a:cs typeface="Lucida Sans"/>
              </a:rPr>
              <a:t>reactive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maintenance</a:t>
            </a:r>
            <a:r>
              <a:rPr sz="1300" spc="-9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practices</a:t>
            </a:r>
            <a:endParaRPr sz="1300" dirty="0">
              <a:latin typeface="Lucida Sans"/>
              <a:cs typeface="Lucida San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415790" y="5542584"/>
            <a:ext cx="3143250" cy="1095375"/>
            <a:chOff x="4619624" y="6648449"/>
            <a:chExt cx="3143250" cy="1095375"/>
          </a:xfrm>
        </p:grpSpPr>
        <p:sp>
          <p:nvSpPr>
            <p:cNvPr id="24" name="object 24"/>
            <p:cNvSpPr/>
            <p:nvPr/>
          </p:nvSpPr>
          <p:spPr>
            <a:xfrm>
              <a:off x="4638674" y="6648449"/>
              <a:ext cx="3124200" cy="1095375"/>
            </a:xfrm>
            <a:custGeom>
              <a:avLst/>
              <a:gdLst/>
              <a:ahLst/>
              <a:cxnLst/>
              <a:rect l="l" t="t" r="r" b="b"/>
              <a:pathLst>
                <a:path w="3124200" h="1095375">
                  <a:moveTo>
                    <a:pt x="3053002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053002" y="0"/>
                  </a:lnTo>
                  <a:lnTo>
                    <a:pt x="3057957" y="487"/>
                  </a:lnTo>
                  <a:lnTo>
                    <a:pt x="3094493" y="15621"/>
                  </a:lnTo>
                  <a:lnTo>
                    <a:pt x="3120313" y="51661"/>
                  </a:lnTo>
                  <a:lnTo>
                    <a:pt x="3124199" y="71196"/>
                  </a:lnTo>
                  <a:lnTo>
                    <a:pt x="3124199" y="1024177"/>
                  </a:lnTo>
                  <a:lnTo>
                    <a:pt x="3108576" y="1065669"/>
                  </a:lnTo>
                  <a:lnTo>
                    <a:pt x="3072536" y="1091487"/>
                  </a:lnTo>
                  <a:lnTo>
                    <a:pt x="3053002" y="10953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619624" y="6648449"/>
              <a:ext cx="38100" cy="1095375"/>
            </a:xfrm>
            <a:custGeom>
              <a:avLst/>
              <a:gdLst/>
              <a:ahLst/>
              <a:cxnLst/>
              <a:rect l="l" t="t" r="r" b="b"/>
              <a:pathLst>
                <a:path w="38100" h="1095375">
                  <a:moveTo>
                    <a:pt x="380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953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631690" y="5668137"/>
            <a:ext cx="114808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110" dirty="0">
                <a:solidFill>
                  <a:srgbClr val="0056B3"/>
                </a:solidFill>
                <a:latin typeface="Lucida Sans"/>
                <a:cs typeface="Lucida Sans"/>
              </a:rPr>
              <a:t>Cost</a:t>
            </a:r>
            <a:r>
              <a:rPr sz="1500" b="1" spc="-10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Savings</a:t>
            </a:r>
            <a:endParaRPr sz="1500" dirty="0">
              <a:latin typeface="Lucida Sans"/>
              <a:cs typeface="Lucida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31690" y="5982614"/>
            <a:ext cx="218503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300" spc="-229" dirty="0">
                <a:solidFill>
                  <a:srgbClr val="545454"/>
                </a:solidFill>
                <a:latin typeface="Lucida Sans"/>
                <a:cs typeface="Lucida Sans"/>
              </a:rPr>
              <a:t>11%</a:t>
            </a:r>
            <a:r>
              <a:rPr sz="1300" spc="-7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65" dirty="0">
                <a:solidFill>
                  <a:srgbClr val="545454"/>
                </a:solidFill>
                <a:latin typeface="Lucida Sans"/>
                <a:cs typeface="Lucida Sans"/>
              </a:rPr>
              <a:t>of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annual</a:t>
            </a:r>
            <a:r>
              <a:rPr sz="1300" spc="-6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30" dirty="0">
                <a:solidFill>
                  <a:srgbClr val="545454"/>
                </a:solidFill>
                <a:latin typeface="Lucida Sans"/>
                <a:cs typeface="Lucida Sans"/>
              </a:rPr>
              <a:t>revenue</a:t>
            </a:r>
            <a:r>
              <a:rPr sz="1300" spc="-7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55" dirty="0">
                <a:solidFill>
                  <a:srgbClr val="545454"/>
                </a:solidFill>
                <a:latin typeface="Lucida Sans"/>
                <a:cs typeface="Lucida Sans"/>
              </a:rPr>
              <a:t>lost</a:t>
            </a:r>
            <a:r>
              <a:rPr sz="1300" spc="-6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to </a:t>
            </a:r>
            <a:r>
              <a:rPr sz="1300" spc="-20" dirty="0">
                <a:solidFill>
                  <a:srgbClr val="545454"/>
                </a:solidFill>
                <a:latin typeface="Lucida Sans"/>
                <a:cs typeface="Lucida Sans"/>
              </a:rPr>
              <a:t>unplanned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downtime</a:t>
            </a:r>
            <a:endParaRPr sz="1300" dirty="0">
              <a:latin typeface="Lucida Sans"/>
              <a:cs typeface="Lucida San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82915" y="5542584"/>
            <a:ext cx="3143250" cy="1095375"/>
            <a:chOff x="8286749" y="6648449"/>
            <a:chExt cx="3143250" cy="1095375"/>
          </a:xfrm>
        </p:grpSpPr>
        <p:sp>
          <p:nvSpPr>
            <p:cNvPr id="29" name="object 29"/>
            <p:cNvSpPr/>
            <p:nvPr/>
          </p:nvSpPr>
          <p:spPr>
            <a:xfrm>
              <a:off x="8305799" y="6648449"/>
              <a:ext cx="3124200" cy="1095375"/>
            </a:xfrm>
            <a:custGeom>
              <a:avLst/>
              <a:gdLst/>
              <a:ahLst/>
              <a:cxnLst/>
              <a:rect l="l" t="t" r="r" b="b"/>
              <a:pathLst>
                <a:path w="3124200" h="1095375">
                  <a:moveTo>
                    <a:pt x="3053002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053002" y="0"/>
                  </a:lnTo>
                  <a:lnTo>
                    <a:pt x="3057957" y="487"/>
                  </a:lnTo>
                  <a:lnTo>
                    <a:pt x="3094493" y="15621"/>
                  </a:lnTo>
                  <a:lnTo>
                    <a:pt x="3120312" y="51661"/>
                  </a:lnTo>
                  <a:lnTo>
                    <a:pt x="3124198" y="71196"/>
                  </a:lnTo>
                  <a:lnTo>
                    <a:pt x="3124198" y="1024177"/>
                  </a:lnTo>
                  <a:lnTo>
                    <a:pt x="3108576" y="1065669"/>
                  </a:lnTo>
                  <a:lnTo>
                    <a:pt x="3072536" y="1091487"/>
                  </a:lnTo>
                  <a:lnTo>
                    <a:pt x="3053002" y="10953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8286749" y="6648449"/>
              <a:ext cx="38100" cy="1095375"/>
            </a:xfrm>
            <a:custGeom>
              <a:avLst/>
              <a:gdLst/>
              <a:ahLst/>
              <a:cxnLst/>
              <a:rect l="l" t="t" r="r" b="b"/>
              <a:pathLst>
                <a:path w="38100" h="1095375">
                  <a:moveTo>
                    <a:pt x="380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953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298816" y="5668137"/>
            <a:ext cx="190055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Government</a:t>
            </a:r>
            <a:r>
              <a:rPr sz="1500" b="1" spc="-50" dirty="0">
                <a:solidFill>
                  <a:srgbClr val="0056B3"/>
                </a:solidFill>
                <a:latin typeface="Lucida Sans"/>
                <a:cs typeface="Lucida Sans"/>
              </a:rPr>
              <a:t> Support</a:t>
            </a:r>
            <a:endParaRPr sz="1500" dirty="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98816" y="5982614"/>
            <a:ext cx="264731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300" dirty="0">
                <a:solidFill>
                  <a:srgbClr val="545454"/>
                </a:solidFill>
                <a:latin typeface="Lucida Sans"/>
                <a:cs typeface="Lucida Sans"/>
              </a:rPr>
              <a:t>PLI</a:t>
            </a:r>
            <a:r>
              <a:rPr sz="1300" spc="-4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14" dirty="0">
                <a:solidFill>
                  <a:srgbClr val="545454"/>
                </a:solidFill>
                <a:latin typeface="Lucida Sans"/>
                <a:cs typeface="Lucida Sans"/>
              </a:rPr>
              <a:t>&amp;</a:t>
            </a:r>
            <a:r>
              <a:rPr sz="1300" spc="-4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SAMARTH</a:t>
            </a:r>
            <a:r>
              <a:rPr sz="1300" spc="-4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schemes </a:t>
            </a:r>
            <a:r>
              <a:rPr sz="1300" spc="-30" dirty="0">
                <a:solidFill>
                  <a:srgbClr val="545454"/>
                </a:solidFill>
                <a:latin typeface="Lucida Sans"/>
                <a:cs typeface="Lucida Sans"/>
              </a:rPr>
              <a:t>accelerating</a:t>
            </a:r>
            <a:r>
              <a:rPr sz="1300" spc="-35" dirty="0">
                <a:solidFill>
                  <a:srgbClr val="545454"/>
                </a:solidFill>
                <a:latin typeface="Lucida Sans"/>
                <a:cs typeface="Lucida Sans"/>
              </a:rPr>
              <a:t> Industry </a:t>
            </a:r>
            <a:r>
              <a:rPr sz="1300" spc="-80" dirty="0">
                <a:solidFill>
                  <a:srgbClr val="545454"/>
                </a:solidFill>
                <a:latin typeface="Lucida Sans"/>
                <a:cs typeface="Lucida Sans"/>
              </a:rPr>
              <a:t>4.0</a:t>
            </a:r>
            <a:r>
              <a:rPr sz="1300" spc="-3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0" dirty="0">
                <a:solidFill>
                  <a:srgbClr val="545454"/>
                </a:solidFill>
                <a:latin typeface="Lucida Sans"/>
                <a:cs typeface="Lucida Sans"/>
              </a:rPr>
              <a:t>adoption</a:t>
            </a:r>
            <a:endParaRPr sz="1300" dirty="0">
              <a:latin typeface="Lucida Sans"/>
              <a:cs typeface="Lucida San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7250" y="5735445"/>
            <a:ext cx="10477500" cy="1066800"/>
            <a:chOff x="952499" y="6124574"/>
            <a:chExt cx="10477500" cy="1066800"/>
          </a:xfrm>
        </p:grpSpPr>
        <p:sp>
          <p:nvSpPr>
            <p:cNvPr id="3" name="object 3"/>
            <p:cNvSpPr/>
            <p:nvPr/>
          </p:nvSpPr>
          <p:spPr>
            <a:xfrm>
              <a:off x="971549" y="6124574"/>
              <a:ext cx="10458450" cy="1066800"/>
            </a:xfrm>
            <a:custGeom>
              <a:avLst/>
              <a:gdLst/>
              <a:ahLst/>
              <a:cxnLst/>
              <a:rect l="l" t="t" r="r" b="b"/>
              <a:pathLst>
                <a:path w="10458450" h="1066800">
                  <a:moveTo>
                    <a:pt x="10387252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10387252" y="0"/>
                  </a:lnTo>
                  <a:lnTo>
                    <a:pt x="10392206" y="488"/>
                  </a:lnTo>
                  <a:lnTo>
                    <a:pt x="10428742" y="15621"/>
                  </a:lnTo>
                  <a:lnTo>
                    <a:pt x="10454562" y="51661"/>
                  </a:lnTo>
                  <a:lnTo>
                    <a:pt x="10458448" y="71196"/>
                  </a:lnTo>
                  <a:lnTo>
                    <a:pt x="10458448" y="995603"/>
                  </a:lnTo>
                  <a:lnTo>
                    <a:pt x="10442825" y="1037092"/>
                  </a:lnTo>
                  <a:lnTo>
                    <a:pt x="10406786" y="1062913"/>
                  </a:lnTo>
                  <a:lnTo>
                    <a:pt x="10387252" y="1066799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952499" y="6124574"/>
              <a:ext cx="38100" cy="1066800"/>
            </a:xfrm>
            <a:custGeom>
              <a:avLst/>
              <a:gdLst/>
              <a:ahLst/>
              <a:cxnLst/>
              <a:rect l="l" t="t" r="r" b="b"/>
              <a:pathLst>
                <a:path w="38100" h="1066800">
                  <a:moveTo>
                    <a:pt x="38099" y="1066799"/>
                  </a:moveTo>
                  <a:lnTo>
                    <a:pt x="0" y="10667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6679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39800" y="534778"/>
            <a:ext cx="7754620" cy="5803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b="1" spc="-220" dirty="0">
                <a:latin typeface="Lucida Sans"/>
                <a:cs typeface="Lucida Sans"/>
              </a:rPr>
              <a:t>Market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210" dirty="0">
                <a:latin typeface="Lucida Sans"/>
                <a:cs typeface="Lucida Sans"/>
              </a:rPr>
              <a:t>Validation: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220" dirty="0">
                <a:latin typeface="Lucida Sans"/>
                <a:cs typeface="Lucida Sans"/>
              </a:rPr>
              <a:t>MSMEs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175" dirty="0">
                <a:latin typeface="Lucida Sans"/>
                <a:cs typeface="Lucida Sans"/>
              </a:rPr>
              <a:t>Speak</a:t>
            </a:r>
            <a:r>
              <a:rPr sz="3600" b="1" spc="-240" dirty="0">
                <a:latin typeface="Lucida Sans"/>
                <a:cs typeface="Lucida Sans"/>
              </a:rPr>
              <a:t> </a:t>
            </a:r>
            <a:r>
              <a:rPr sz="3600" b="1" spc="-65" dirty="0">
                <a:latin typeface="Lucida Sans"/>
                <a:cs typeface="Lucida Sans"/>
              </a:rPr>
              <a:t>Out</a:t>
            </a:r>
            <a:endParaRPr sz="3600" dirty="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800" y="1495069"/>
            <a:ext cx="9959340" cy="711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950" spc="-30" dirty="0">
                <a:solidFill>
                  <a:srgbClr val="444444"/>
                </a:solidFill>
                <a:latin typeface="Lucida Sans"/>
                <a:cs typeface="Lucida Sans"/>
              </a:rPr>
              <a:t>Survey</a:t>
            </a:r>
            <a:r>
              <a:rPr sz="1950" spc="-11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95" dirty="0">
                <a:solidFill>
                  <a:srgbClr val="444444"/>
                </a:solidFill>
                <a:latin typeface="Lucida Sans"/>
                <a:cs typeface="Lucida Sans"/>
              </a:rPr>
              <a:t>of</a:t>
            </a:r>
            <a:r>
              <a:rPr sz="195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140" dirty="0">
                <a:solidFill>
                  <a:srgbClr val="444444"/>
                </a:solidFill>
                <a:latin typeface="Lucida Sans"/>
                <a:cs typeface="Lucida Sans"/>
              </a:rPr>
              <a:t>50</a:t>
            </a:r>
            <a:r>
              <a:rPr sz="195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dirty="0">
                <a:solidFill>
                  <a:srgbClr val="444444"/>
                </a:solidFill>
                <a:latin typeface="Lucida Sans"/>
                <a:cs typeface="Lucida Sans"/>
              </a:rPr>
              <a:t>MSMEs</a:t>
            </a:r>
            <a:r>
              <a:rPr sz="1950" spc="-11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80" dirty="0">
                <a:solidFill>
                  <a:srgbClr val="444444"/>
                </a:solidFill>
                <a:latin typeface="Lucida Sans"/>
                <a:cs typeface="Lucida Sans"/>
              </a:rPr>
              <a:t>across</a:t>
            </a:r>
            <a:r>
              <a:rPr sz="195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25" dirty="0">
                <a:solidFill>
                  <a:srgbClr val="444444"/>
                </a:solidFill>
                <a:latin typeface="Lucida Sans"/>
                <a:cs typeface="Lucida Sans"/>
              </a:rPr>
              <a:t>manufacturing</a:t>
            </a:r>
            <a:r>
              <a:rPr sz="195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65" dirty="0">
                <a:solidFill>
                  <a:srgbClr val="444444"/>
                </a:solidFill>
                <a:latin typeface="Lucida Sans"/>
                <a:cs typeface="Lucida Sans"/>
              </a:rPr>
              <a:t>sectors</a:t>
            </a:r>
            <a:r>
              <a:rPr sz="1950" spc="-11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70" dirty="0">
                <a:solidFill>
                  <a:srgbClr val="444444"/>
                </a:solidFill>
                <a:latin typeface="Lucida Sans"/>
                <a:cs typeface="Lucida Sans"/>
              </a:rPr>
              <a:t>reveals</a:t>
            </a:r>
            <a:r>
              <a:rPr sz="195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50" dirty="0">
                <a:solidFill>
                  <a:srgbClr val="444444"/>
                </a:solidFill>
                <a:latin typeface="Lucida Sans"/>
                <a:cs typeface="Lucida Sans"/>
              </a:rPr>
              <a:t>clear</a:t>
            </a:r>
            <a:r>
              <a:rPr sz="195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40" dirty="0">
                <a:solidFill>
                  <a:srgbClr val="444444"/>
                </a:solidFill>
                <a:latin typeface="Lucida Sans"/>
                <a:cs typeface="Lucida Sans"/>
              </a:rPr>
              <a:t>pain</a:t>
            </a:r>
            <a:r>
              <a:rPr sz="1950" spc="-11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55" dirty="0">
                <a:solidFill>
                  <a:srgbClr val="444444"/>
                </a:solidFill>
                <a:latin typeface="Lucida Sans"/>
                <a:cs typeface="Lucida Sans"/>
              </a:rPr>
              <a:t>points</a:t>
            </a:r>
            <a:r>
              <a:rPr sz="195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20" dirty="0">
                <a:solidFill>
                  <a:srgbClr val="444444"/>
                </a:solidFill>
                <a:latin typeface="Lucida Sans"/>
                <a:cs typeface="Lucida Sans"/>
              </a:rPr>
              <a:t>and</a:t>
            </a:r>
            <a:r>
              <a:rPr sz="1950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950" spc="-10" dirty="0">
                <a:solidFill>
                  <a:srgbClr val="444444"/>
                </a:solidFill>
                <a:latin typeface="Lucida Sans"/>
                <a:cs typeface="Lucida Sans"/>
              </a:rPr>
              <a:t>market needs:</a:t>
            </a:r>
            <a:endParaRPr sz="1950" dirty="0">
              <a:latin typeface="Lucida Sans"/>
              <a:cs typeface="Lucida San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52499" y="2714624"/>
            <a:ext cx="3143250" cy="2838450"/>
            <a:chOff x="952499" y="2714624"/>
            <a:chExt cx="3143250" cy="2838450"/>
          </a:xfrm>
        </p:grpSpPr>
        <p:sp>
          <p:nvSpPr>
            <p:cNvPr id="8" name="object 8"/>
            <p:cNvSpPr/>
            <p:nvPr/>
          </p:nvSpPr>
          <p:spPr>
            <a:xfrm>
              <a:off x="952499" y="2714624"/>
              <a:ext cx="3143250" cy="2838450"/>
            </a:xfrm>
            <a:custGeom>
              <a:avLst/>
              <a:gdLst/>
              <a:ahLst/>
              <a:cxnLst/>
              <a:rect l="l" t="t" r="r" b="b"/>
              <a:pathLst>
                <a:path w="3143250" h="2838450">
                  <a:moveTo>
                    <a:pt x="3054253" y="2838449"/>
                  </a:moveTo>
                  <a:lnTo>
                    <a:pt x="88995" y="2838449"/>
                  </a:lnTo>
                  <a:lnTo>
                    <a:pt x="82801" y="2837839"/>
                  </a:lnTo>
                  <a:lnTo>
                    <a:pt x="37131" y="2818922"/>
                  </a:lnTo>
                  <a:lnTo>
                    <a:pt x="9643" y="2785428"/>
                  </a:lnTo>
                  <a:lnTo>
                    <a:pt x="0" y="2749453"/>
                  </a:lnTo>
                  <a:lnTo>
                    <a:pt x="0" y="27431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3054253" y="0"/>
                  </a:lnTo>
                  <a:lnTo>
                    <a:pt x="3095717" y="12577"/>
                  </a:lnTo>
                  <a:lnTo>
                    <a:pt x="3130671" y="47531"/>
                  </a:lnTo>
                  <a:lnTo>
                    <a:pt x="3143249" y="88995"/>
                  </a:lnTo>
                  <a:lnTo>
                    <a:pt x="3143249" y="2749453"/>
                  </a:lnTo>
                  <a:lnTo>
                    <a:pt x="3130671" y="2790917"/>
                  </a:lnTo>
                  <a:lnTo>
                    <a:pt x="3095717" y="2825871"/>
                  </a:lnTo>
                  <a:lnTo>
                    <a:pt x="3060447" y="2837839"/>
                  </a:lnTo>
                  <a:lnTo>
                    <a:pt x="3054253" y="2838449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2333624" y="30860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525" y="380981"/>
                  </a:moveTo>
                  <a:lnTo>
                    <a:pt x="209326" y="290661"/>
                  </a:lnTo>
                  <a:lnTo>
                    <a:pt x="193123" y="258663"/>
                  </a:lnTo>
                  <a:lnTo>
                    <a:pt x="193190" y="240976"/>
                  </a:lnTo>
                  <a:lnTo>
                    <a:pt x="198685" y="223986"/>
                  </a:lnTo>
                  <a:lnTo>
                    <a:pt x="117574" y="142875"/>
                  </a:lnTo>
                  <a:lnTo>
                    <a:pt x="71809" y="142875"/>
                  </a:lnTo>
                  <a:lnTo>
                    <a:pt x="66526" y="140270"/>
                  </a:lnTo>
                  <a:lnTo>
                    <a:pt x="63177" y="135880"/>
                  </a:lnTo>
                  <a:lnTo>
                    <a:pt x="3646" y="58489"/>
                  </a:lnTo>
                  <a:lnTo>
                    <a:pt x="709" y="52690"/>
                  </a:lnTo>
                  <a:lnTo>
                    <a:pt x="18" y="46425"/>
                  </a:lnTo>
                  <a:lnTo>
                    <a:pt x="1532" y="40312"/>
                  </a:lnTo>
                  <a:lnTo>
                    <a:pt x="5208" y="34974"/>
                  </a:lnTo>
                  <a:lnTo>
                    <a:pt x="34974" y="5208"/>
                  </a:lnTo>
                  <a:lnTo>
                    <a:pt x="40354" y="1533"/>
                  </a:lnTo>
                  <a:lnTo>
                    <a:pt x="46594" y="0"/>
                  </a:lnTo>
                  <a:lnTo>
                    <a:pt x="46236" y="0"/>
                  </a:lnTo>
                  <a:lnTo>
                    <a:pt x="52732" y="740"/>
                  </a:lnTo>
                  <a:lnTo>
                    <a:pt x="58489" y="3720"/>
                  </a:lnTo>
                  <a:lnTo>
                    <a:pt x="140270" y="66600"/>
                  </a:lnTo>
                  <a:lnTo>
                    <a:pt x="142874" y="71809"/>
                  </a:lnTo>
                  <a:lnTo>
                    <a:pt x="142874" y="117574"/>
                  </a:lnTo>
                  <a:lnTo>
                    <a:pt x="223986" y="198685"/>
                  </a:lnTo>
                  <a:lnTo>
                    <a:pt x="275898" y="198685"/>
                  </a:lnTo>
                  <a:lnTo>
                    <a:pt x="290661" y="209326"/>
                  </a:lnTo>
                  <a:lnTo>
                    <a:pt x="374005" y="292670"/>
                  </a:lnTo>
                  <a:lnTo>
                    <a:pt x="379237" y="300553"/>
                  </a:lnTo>
                  <a:lnTo>
                    <a:pt x="380981" y="309525"/>
                  </a:lnTo>
                  <a:lnTo>
                    <a:pt x="379237" y="318496"/>
                  </a:lnTo>
                  <a:lnTo>
                    <a:pt x="374005" y="326380"/>
                  </a:lnTo>
                  <a:lnTo>
                    <a:pt x="326380" y="374005"/>
                  </a:lnTo>
                  <a:lnTo>
                    <a:pt x="318496" y="379237"/>
                  </a:lnTo>
                  <a:lnTo>
                    <a:pt x="309525" y="380981"/>
                  </a:lnTo>
                  <a:close/>
                </a:path>
                <a:path w="381000" h="381000">
                  <a:moveTo>
                    <a:pt x="230162" y="171226"/>
                  </a:moveTo>
                  <a:lnTo>
                    <a:pt x="166687" y="107751"/>
                  </a:lnTo>
                  <a:lnTo>
                    <a:pt x="166687" y="107156"/>
                  </a:lnTo>
                  <a:lnTo>
                    <a:pt x="175111" y="65455"/>
                  </a:lnTo>
                  <a:lnTo>
                    <a:pt x="198080" y="31393"/>
                  </a:lnTo>
                  <a:lnTo>
                    <a:pt x="232142" y="8423"/>
                  </a:lnTo>
                  <a:lnTo>
                    <a:pt x="273843" y="0"/>
                  </a:lnTo>
                  <a:lnTo>
                    <a:pt x="281657" y="0"/>
                  </a:lnTo>
                  <a:lnTo>
                    <a:pt x="288525" y="740"/>
                  </a:lnTo>
                  <a:lnTo>
                    <a:pt x="288882" y="740"/>
                  </a:lnTo>
                  <a:lnTo>
                    <a:pt x="304948" y="4167"/>
                  </a:lnTo>
                  <a:lnTo>
                    <a:pt x="307106" y="14361"/>
                  </a:lnTo>
                  <a:lnTo>
                    <a:pt x="251296" y="70172"/>
                  </a:lnTo>
                  <a:lnTo>
                    <a:pt x="250031" y="73223"/>
                  </a:lnTo>
                  <a:lnTo>
                    <a:pt x="250031" y="125685"/>
                  </a:lnTo>
                  <a:lnTo>
                    <a:pt x="255389" y="131043"/>
                  </a:lnTo>
                  <a:lnTo>
                    <a:pt x="377501" y="131043"/>
                  </a:lnTo>
                  <a:lnTo>
                    <a:pt x="376477" y="138036"/>
                  </a:lnTo>
                  <a:lnTo>
                    <a:pt x="363791" y="165394"/>
                  </a:lnTo>
                  <a:lnTo>
                    <a:pt x="360877" y="168755"/>
                  </a:lnTo>
                  <a:lnTo>
                    <a:pt x="250605" y="168755"/>
                  </a:lnTo>
                  <a:lnTo>
                    <a:pt x="230162" y="171226"/>
                  </a:lnTo>
                  <a:close/>
                </a:path>
                <a:path w="381000" h="381000">
                  <a:moveTo>
                    <a:pt x="377501" y="131043"/>
                  </a:moveTo>
                  <a:lnTo>
                    <a:pt x="307776" y="131043"/>
                  </a:lnTo>
                  <a:lnTo>
                    <a:pt x="310827" y="129778"/>
                  </a:lnTo>
                  <a:lnTo>
                    <a:pt x="366638" y="73967"/>
                  </a:lnTo>
                  <a:lnTo>
                    <a:pt x="376832" y="76125"/>
                  </a:lnTo>
                  <a:lnTo>
                    <a:pt x="380181" y="91752"/>
                  </a:lnTo>
                  <a:lnTo>
                    <a:pt x="381000" y="99342"/>
                  </a:lnTo>
                  <a:lnTo>
                    <a:pt x="380912" y="107751"/>
                  </a:lnTo>
                  <a:lnTo>
                    <a:pt x="377501" y="131043"/>
                  </a:lnTo>
                  <a:close/>
                </a:path>
                <a:path w="381000" h="381000">
                  <a:moveTo>
                    <a:pt x="319236" y="204266"/>
                  </a:moveTo>
                  <a:lnTo>
                    <a:pt x="307553" y="192583"/>
                  </a:lnTo>
                  <a:lnTo>
                    <a:pt x="290375" y="179441"/>
                  </a:lnTo>
                  <a:lnTo>
                    <a:pt x="271034" y="171496"/>
                  </a:lnTo>
                  <a:lnTo>
                    <a:pt x="250605" y="168755"/>
                  </a:lnTo>
                  <a:lnTo>
                    <a:pt x="360877" y="168755"/>
                  </a:lnTo>
                  <a:lnTo>
                    <a:pt x="344269" y="187910"/>
                  </a:lnTo>
                  <a:lnTo>
                    <a:pt x="319236" y="204266"/>
                  </a:lnTo>
                  <a:close/>
                </a:path>
                <a:path w="381000" h="381000">
                  <a:moveTo>
                    <a:pt x="50714" y="380981"/>
                  </a:moveTo>
                  <a:lnTo>
                    <a:pt x="50434" y="380981"/>
                  </a:lnTo>
                  <a:lnTo>
                    <a:pt x="30859" y="377029"/>
                  </a:lnTo>
                  <a:lnTo>
                    <a:pt x="14792" y="366191"/>
                  </a:lnTo>
                  <a:lnTo>
                    <a:pt x="3970" y="350140"/>
                  </a:lnTo>
                  <a:lnTo>
                    <a:pt x="0" y="330472"/>
                  </a:lnTo>
                  <a:lnTo>
                    <a:pt x="895" y="321468"/>
                  </a:lnTo>
                  <a:lnTo>
                    <a:pt x="984" y="320569"/>
                  </a:lnTo>
                  <a:lnTo>
                    <a:pt x="3860" y="311134"/>
                  </a:lnTo>
                  <a:lnTo>
                    <a:pt x="8507" y="302438"/>
                  </a:lnTo>
                  <a:lnTo>
                    <a:pt x="14808" y="294754"/>
                  </a:lnTo>
                  <a:lnTo>
                    <a:pt x="125313" y="184174"/>
                  </a:lnTo>
                  <a:lnTo>
                    <a:pt x="171226" y="230088"/>
                  </a:lnTo>
                  <a:lnTo>
                    <a:pt x="169133" y="242220"/>
                  </a:lnTo>
                  <a:lnTo>
                    <a:pt x="168882" y="254477"/>
                  </a:lnTo>
                  <a:lnTo>
                    <a:pt x="170473" y="266651"/>
                  </a:lnTo>
                  <a:lnTo>
                    <a:pt x="173905" y="278531"/>
                  </a:lnTo>
                  <a:lnTo>
                    <a:pt x="148828" y="303609"/>
                  </a:lnTo>
                  <a:lnTo>
                    <a:pt x="57162" y="303609"/>
                  </a:lnTo>
                  <a:lnTo>
                    <a:pt x="54884" y="304062"/>
                  </a:lnTo>
                  <a:lnTo>
                    <a:pt x="41671" y="323837"/>
                  </a:lnTo>
                  <a:lnTo>
                    <a:pt x="42125" y="326115"/>
                  </a:lnTo>
                  <a:lnTo>
                    <a:pt x="57162" y="339328"/>
                  </a:lnTo>
                  <a:lnTo>
                    <a:pt x="113109" y="339328"/>
                  </a:lnTo>
                  <a:lnTo>
                    <a:pt x="86245" y="366191"/>
                  </a:lnTo>
                  <a:lnTo>
                    <a:pt x="78561" y="372492"/>
                  </a:lnTo>
                  <a:lnTo>
                    <a:pt x="70072" y="377029"/>
                  </a:lnTo>
                  <a:lnTo>
                    <a:pt x="70227" y="377029"/>
                  </a:lnTo>
                  <a:lnTo>
                    <a:pt x="60430" y="380015"/>
                  </a:lnTo>
                  <a:lnTo>
                    <a:pt x="50714" y="380981"/>
                  </a:lnTo>
                  <a:close/>
                </a:path>
                <a:path w="381000" h="381000">
                  <a:moveTo>
                    <a:pt x="275898" y="198685"/>
                  </a:moveTo>
                  <a:lnTo>
                    <a:pt x="223986" y="198685"/>
                  </a:lnTo>
                  <a:lnTo>
                    <a:pt x="241130" y="193151"/>
                  </a:lnTo>
                  <a:lnTo>
                    <a:pt x="258663" y="193151"/>
                  </a:lnTo>
                  <a:lnTo>
                    <a:pt x="275680" y="198528"/>
                  </a:lnTo>
                  <a:lnTo>
                    <a:pt x="275898" y="198685"/>
                  </a:lnTo>
                  <a:close/>
                </a:path>
                <a:path w="381000" h="381000">
                  <a:moveTo>
                    <a:pt x="113109" y="339328"/>
                  </a:moveTo>
                  <a:lnTo>
                    <a:pt x="61899" y="339328"/>
                  </a:lnTo>
                  <a:lnTo>
                    <a:pt x="64177" y="338874"/>
                  </a:lnTo>
                  <a:lnTo>
                    <a:pt x="68553" y="337062"/>
                  </a:lnTo>
                  <a:lnTo>
                    <a:pt x="70485" y="335771"/>
                  </a:lnTo>
                  <a:lnTo>
                    <a:pt x="73834" y="332422"/>
                  </a:lnTo>
                  <a:lnTo>
                    <a:pt x="75132" y="330472"/>
                  </a:lnTo>
                  <a:lnTo>
                    <a:pt x="76827" y="326380"/>
                  </a:lnTo>
                  <a:lnTo>
                    <a:pt x="76937" y="326115"/>
                  </a:lnTo>
                  <a:lnTo>
                    <a:pt x="77390" y="323837"/>
                  </a:lnTo>
                  <a:lnTo>
                    <a:pt x="77270" y="318496"/>
                  </a:lnTo>
                  <a:lnTo>
                    <a:pt x="76937" y="316822"/>
                  </a:lnTo>
                  <a:lnTo>
                    <a:pt x="61899" y="303609"/>
                  </a:lnTo>
                  <a:lnTo>
                    <a:pt x="148828" y="303609"/>
                  </a:lnTo>
                  <a:lnTo>
                    <a:pt x="113109" y="339328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32049" y="3765959"/>
            <a:ext cx="984250" cy="612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50" b="1" spc="-25" dirty="0">
                <a:solidFill>
                  <a:srgbClr val="0056B3"/>
                </a:solidFill>
                <a:latin typeface="Century Gothic"/>
                <a:cs typeface="Century Gothic"/>
              </a:rPr>
              <a:t>72%</a:t>
            </a:r>
            <a:endParaRPr sz="385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9713" y="4513007"/>
            <a:ext cx="2169160" cy="728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7800"/>
              </a:lnSpc>
            </a:pP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face</a:t>
            </a:r>
            <a:r>
              <a:rPr sz="1450" spc="-8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monthly</a:t>
            </a:r>
            <a:r>
              <a:rPr sz="1450" spc="-8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equipment downtimes</a:t>
            </a:r>
            <a:r>
              <a:rPr sz="1450" spc="-6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affecting production</a:t>
            </a:r>
            <a:endParaRPr sz="1450" dirty="0">
              <a:latin typeface="Lucida Sans"/>
              <a:cs typeface="Lucida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19624" y="2714624"/>
            <a:ext cx="3143250" cy="2838450"/>
            <a:chOff x="4619624" y="2714624"/>
            <a:chExt cx="3143250" cy="2838450"/>
          </a:xfrm>
        </p:grpSpPr>
        <p:sp>
          <p:nvSpPr>
            <p:cNvPr id="13" name="object 13"/>
            <p:cNvSpPr/>
            <p:nvPr/>
          </p:nvSpPr>
          <p:spPr>
            <a:xfrm>
              <a:off x="4619624" y="2714624"/>
              <a:ext cx="3143250" cy="2838450"/>
            </a:xfrm>
            <a:custGeom>
              <a:avLst/>
              <a:gdLst/>
              <a:ahLst/>
              <a:cxnLst/>
              <a:rect l="l" t="t" r="r" b="b"/>
              <a:pathLst>
                <a:path w="3143250" h="2838450">
                  <a:moveTo>
                    <a:pt x="3054253" y="2838449"/>
                  </a:moveTo>
                  <a:lnTo>
                    <a:pt x="88995" y="2838449"/>
                  </a:lnTo>
                  <a:lnTo>
                    <a:pt x="82801" y="2837839"/>
                  </a:lnTo>
                  <a:lnTo>
                    <a:pt x="37131" y="2818922"/>
                  </a:lnTo>
                  <a:lnTo>
                    <a:pt x="9643" y="2785428"/>
                  </a:lnTo>
                  <a:lnTo>
                    <a:pt x="0" y="2749453"/>
                  </a:lnTo>
                  <a:lnTo>
                    <a:pt x="0" y="27431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3054253" y="0"/>
                  </a:lnTo>
                  <a:lnTo>
                    <a:pt x="3095716" y="12577"/>
                  </a:lnTo>
                  <a:lnTo>
                    <a:pt x="3130671" y="47531"/>
                  </a:lnTo>
                  <a:lnTo>
                    <a:pt x="3143249" y="88995"/>
                  </a:lnTo>
                  <a:lnTo>
                    <a:pt x="3143249" y="2749453"/>
                  </a:lnTo>
                  <a:lnTo>
                    <a:pt x="3130671" y="2790917"/>
                  </a:lnTo>
                  <a:lnTo>
                    <a:pt x="3095716" y="2825871"/>
                  </a:lnTo>
                  <a:lnTo>
                    <a:pt x="3060447" y="2837839"/>
                  </a:lnTo>
                  <a:lnTo>
                    <a:pt x="3054253" y="2838449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6000777" y="3109912"/>
              <a:ext cx="381000" cy="333375"/>
            </a:xfrm>
            <a:custGeom>
              <a:avLst/>
              <a:gdLst/>
              <a:ahLst/>
              <a:cxnLst/>
              <a:rect l="l" t="t" r="r" b="b"/>
              <a:pathLst>
                <a:path w="381000" h="333375">
                  <a:moveTo>
                    <a:pt x="351206" y="333375"/>
                  </a:moveTo>
                  <a:lnTo>
                    <a:pt x="29737" y="333375"/>
                  </a:lnTo>
                  <a:lnTo>
                    <a:pt x="21956" y="332335"/>
                  </a:lnTo>
                  <a:lnTo>
                    <a:pt x="0" y="303469"/>
                  </a:lnTo>
                  <a:lnTo>
                    <a:pt x="1038" y="295804"/>
                  </a:lnTo>
                  <a:lnTo>
                    <a:pt x="164799" y="14733"/>
                  </a:lnTo>
                  <a:lnTo>
                    <a:pt x="190472" y="0"/>
                  </a:lnTo>
                  <a:lnTo>
                    <a:pt x="198187" y="1015"/>
                  </a:lnTo>
                  <a:lnTo>
                    <a:pt x="263404" y="95250"/>
                  </a:lnTo>
                  <a:lnTo>
                    <a:pt x="180575" y="95250"/>
                  </a:lnTo>
                  <a:lnTo>
                    <a:pt x="172612" y="103212"/>
                  </a:lnTo>
                  <a:lnTo>
                    <a:pt x="172612" y="206350"/>
                  </a:lnTo>
                  <a:lnTo>
                    <a:pt x="180575" y="214312"/>
                  </a:lnTo>
                  <a:lnTo>
                    <a:pt x="333288" y="214312"/>
                  </a:lnTo>
                  <a:lnTo>
                    <a:pt x="347265" y="238125"/>
                  </a:lnTo>
                  <a:lnTo>
                    <a:pt x="187314" y="238125"/>
                  </a:lnTo>
                  <a:lnTo>
                    <a:pt x="166659" y="258779"/>
                  </a:lnTo>
                  <a:lnTo>
                    <a:pt x="166659" y="265095"/>
                  </a:lnTo>
                  <a:lnTo>
                    <a:pt x="375219" y="285749"/>
                  </a:lnTo>
                  <a:lnTo>
                    <a:pt x="376879" y="288577"/>
                  </a:lnTo>
                  <a:lnTo>
                    <a:pt x="379924" y="295804"/>
                  </a:lnTo>
                  <a:lnTo>
                    <a:pt x="380968" y="303469"/>
                  </a:lnTo>
                  <a:lnTo>
                    <a:pt x="379999" y="311149"/>
                  </a:lnTo>
                  <a:lnTo>
                    <a:pt x="377028" y="318417"/>
                  </a:lnTo>
                  <a:lnTo>
                    <a:pt x="372261" y="324647"/>
                  </a:lnTo>
                  <a:lnTo>
                    <a:pt x="366126" y="329356"/>
                  </a:lnTo>
                  <a:lnTo>
                    <a:pt x="358987" y="332335"/>
                  </a:lnTo>
                  <a:lnTo>
                    <a:pt x="351206" y="333375"/>
                  </a:lnTo>
                  <a:close/>
                </a:path>
                <a:path w="381000" h="333375">
                  <a:moveTo>
                    <a:pt x="333288" y="214312"/>
                  </a:moveTo>
                  <a:lnTo>
                    <a:pt x="200369" y="214312"/>
                  </a:lnTo>
                  <a:lnTo>
                    <a:pt x="208331" y="206350"/>
                  </a:lnTo>
                  <a:lnTo>
                    <a:pt x="208331" y="103212"/>
                  </a:lnTo>
                  <a:lnTo>
                    <a:pt x="200369" y="95250"/>
                  </a:lnTo>
                  <a:lnTo>
                    <a:pt x="263404" y="95250"/>
                  </a:lnTo>
                  <a:lnTo>
                    <a:pt x="333288" y="214312"/>
                  </a:lnTo>
                  <a:close/>
                </a:path>
                <a:path w="381000" h="333375">
                  <a:moveTo>
                    <a:pt x="375219" y="285749"/>
                  </a:moveTo>
                  <a:lnTo>
                    <a:pt x="193629" y="285749"/>
                  </a:lnTo>
                  <a:lnTo>
                    <a:pt x="196667" y="285145"/>
                  </a:lnTo>
                  <a:lnTo>
                    <a:pt x="202502" y="282728"/>
                  </a:lnTo>
                  <a:lnTo>
                    <a:pt x="214284" y="265095"/>
                  </a:lnTo>
                  <a:lnTo>
                    <a:pt x="214284" y="258779"/>
                  </a:lnTo>
                  <a:lnTo>
                    <a:pt x="193629" y="238125"/>
                  </a:lnTo>
                  <a:lnTo>
                    <a:pt x="347265" y="238125"/>
                  </a:lnTo>
                  <a:lnTo>
                    <a:pt x="375219" y="2857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686077" y="3765959"/>
            <a:ext cx="1010285" cy="612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50" b="1" spc="-25" dirty="0">
                <a:solidFill>
                  <a:srgbClr val="0056B3"/>
                </a:solidFill>
                <a:latin typeface="Century Gothic"/>
                <a:cs typeface="Century Gothic"/>
              </a:rPr>
              <a:t>86%</a:t>
            </a:r>
            <a:endParaRPr sz="385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33900" y="4513007"/>
            <a:ext cx="2514600" cy="490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2280" marR="5080" indent="-450215">
              <a:lnSpc>
                <a:spcPct val="107800"/>
              </a:lnSpc>
            </a:pPr>
            <a:r>
              <a:rPr sz="1450" spc="-45" dirty="0">
                <a:solidFill>
                  <a:srgbClr val="444444"/>
                </a:solidFill>
                <a:latin typeface="Lucida Sans"/>
                <a:cs typeface="Lucida Sans"/>
              </a:rPr>
              <a:t>rely</a:t>
            </a:r>
            <a:r>
              <a:rPr sz="1450" spc="-8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on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reactive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maintenance </a:t>
            </a:r>
            <a:r>
              <a:rPr sz="1450" spc="-40" dirty="0">
                <a:solidFill>
                  <a:srgbClr val="444444"/>
                </a:solidFill>
                <a:latin typeface="Lucida Sans"/>
                <a:cs typeface="Lucida Sans"/>
              </a:rPr>
              <a:t>after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failures </a:t>
            </a: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occur</a:t>
            </a:r>
            <a:endParaRPr sz="1450" dirty="0">
              <a:latin typeface="Lucida Sans"/>
              <a:cs typeface="Lucida San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286748" y="2714624"/>
            <a:ext cx="3143250" cy="2838450"/>
            <a:chOff x="8286748" y="2714624"/>
            <a:chExt cx="3143250" cy="2838450"/>
          </a:xfrm>
        </p:grpSpPr>
        <p:sp>
          <p:nvSpPr>
            <p:cNvPr id="18" name="object 18"/>
            <p:cNvSpPr/>
            <p:nvPr/>
          </p:nvSpPr>
          <p:spPr>
            <a:xfrm>
              <a:off x="8286748" y="2714624"/>
              <a:ext cx="3143250" cy="2838450"/>
            </a:xfrm>
            <a:custGeom>
              <a:avLst/>
              <a:gdLst/>
              <a:ahLst/>
              <a:cxnLst/>
              <a:rect l="l" t="t" r="r" b="b"/>
              <a:pathLst>
                <a:path w="3143250" h="2838450">
                  <a:moveTo>
                    <a:pt x="3054254" y="2838449"/>
                  </a:moveTo>
                  <a:lnTo>
                    <a:pt x="88996" y="2838449"/>
                  </a:lnTo>
                  <a:lnTo>
                    <a:pt x="82801" y="2837839"/>
                  </a:lnTo>
                  <a:lnTo>
                    <a:pt x="37130" y="2818922"/>
                  </a:lnTo>
                  <a:lnTo>
                    <a:pt x="9643" y="2785428"/>
                  </a:lnTo>
                  <a:lnTo>
                    <a:pt x="0" y="2749453"/>
                  </a:lnTo>
                  <a:lnTo>
                    <a:pt x="0" y="27431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6" y="0"/>
                  </a:lnTo>
                  <a:lnTo>
                    <a:pt x="3054254" y="0"/>
                  </a:lnTo>
                  <a:lnTo>
                    <a:pt x="3095716" y="12577"/>
                  </a:lnTo>
                  <a:lnTo>
                    <a:pt x="3130670" y="47531"/>
                  </a:lnTo>
                  <a:lnTo>
                    <a:pt x="3143249" y="88995"/>
                  </a:lnTo>
                  <a:lnTo>
                    <a:pt x="3143249" y="2749453"/>
                  </a:lnTo>
                  <a:lnTo>
                    <a:pt x="3130670" y="2790917"/>
                  </a:lnTo>
                  <a:lnTo>
                    <a:pt x="3095716" y="2825871"/>
                  </a:lnTo>
                  <a:lnTo>
                    <a:pt x="3060447" y="2837839"/>
                  </a:lnTo>
                  <a:lnTo>
                    <a:pt x="3054254" y="2838449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9667874" y="3086099"/>
              <a:ext cx="381000" cy="381635"/>
            </a:xfrm>
            <a:custGeom>
              <a:avLst/>
              <a:gdLst/>
              <a:ahLst/>
              <a:cxnLst/>
              <a:rect l="l" t="t" r="r" b="b"/>
              <a:pathLst>
                <a:path w="381000" h="381635">
                  <a:moveTo>
                    <a:pt x="154781" y="309562"/>
                  </a:moveTo>
                  <a:lnTo>
                    <a:pt x="105851" y="301673"/>
                  </a:lnTo>
                  <a:lnTo>
                    <a:pt x="63361" y="279704"/>
                  </a:lnTo>
                  <a:lnTo>
                    <a:pt x="30712" y="247054"/>
                  </a:lnTo>
                  <a:lnTo>
                    <a:pt x="10813" y="209366"/>
                  </a:lnTo>
                  <a:lnTo>
                    <a:pt x="0" y="154781"/>
                  </a:lnTo>
                  <a:lnTo>
                    <a:pt x="7889" y="105851"/>
                  </a:lnTo>
                  <a:lnTo>
                    <a:pt x="29858" y="63361"/>
                  </a:lnTo>
                  <a:lnTo>
                    <a:pt x="63361" y="29858"/>
                  </a:lnTo>
                  <a:lnTo>
                    <a:pt x="105851" y="7889"/>
                  </a:lnTo>
                  <a:lnTo>
                    <a:pt x="154781" y="0"/>
                  </a:lnTo>
                  <a:lnTo>
                    <a:pt x="203711" y="7889"/>
                  </a:lnTo>
                  <a:lnTo>
                    <a:pt x="246201" y="29858"/>
                  </a:lnTo>
                  <a:lnTo>
                    <a:pt x="278850" y="62507"/>
                  </a:lnTo>
                  <a:lnTo>
                    <a:pt x="146595" y="62507"/>
                  </a:lnTo>
                  <a:lnTo>
                    <a:pt x="139898" y="69205"/>
                  </a:lnTo>
                  <a:lnTo>
                    <a:pt x="139898" y="87808"/>
                  </a:lnTo>
                  <a:lnTo>
                    <a:pt x="134242" y="89073"/>
                  </a:lnTo>
                  <a:lnTo>
                    <a:pt x="128587" y="91082"/>
                  </a:lnTo>
                  <a:lnTo>
                    <a:pt x="104179" y="126801"/>
                  </a:lnTo>
                  <a:lnTo>
                    <a:pt x="105754" y="137111"/>
                  </a:lnTo>
                  <a:lnTo>
                    <a:pt x="135833" y="163245"/>
                  </a:lnTo>
                  <a:lnTo>
                    <a:pt x="159692" y="170705"/>
                  </a:lnTo>
                  <a:lnTo>
                    <a:pt x="166538" y="172938"/>
                  </a:lnTo>
                  <a:lnTo>
                    <a:pt x="174947" y="178221"/>
                  </a:lnTo>
                  <a:lnTo>
                    <a:pt x="175467" y="179857"/>
                  </a:lnTo>
                  <a:lnTo>
                    <a:pt x="175554" y="182537"/>
                  </a:lnTo>
                  <a:lnTo>
                    <a:pt x="115937" y="182537"/>
                  </a:lnTo>
                  <a:lnTo>
                    <a:pt x="107528" y="186779"/>
                  </a:lnTo>
                  <a:lnTo>
                    <a:pt x="102319" y="202257"/>
                  </a:lnTo>
                  <a:lnTo>
                    <a:pt x="106560" y="210740"/>
                  </a:lnTo>
                  <a:lnTo>
                    <a:pt x="114300" y="213345"/>
                  </a:lnTo>
                  <a:lnTo>
                    <a:pt x="117276" y="214312"/>
                  </a:lnTo>
                  <a:lnTo>
                    <a:pt x="118839" y="214907"/>
                  </a:lnTo>
                  <a:lnTo>
                    <a:pt x="132159" y="219521"/>
                  </a:lnTo>
                  <a:lnTo>
                    <a:pt x="139824" y="221158"/>
                  </a:lnTo>
                  <a:lnTo>
                    <a:pt x="139824" y="240357"/>
                  </a:lnTo>
                  <a:lnTo>
                    <a:pt x="146521" y="247054"/>
                  </a:lnTo>
                  <a:lnTo>
                    <a:pt x="280763" y="247054"/>
                  </a:lnTo>
                  <a:lnTo>
                    <a:pt x="313387" y="279704"/>
                  </a:lnTo>
                  <a:lnTo>
                    <a:pt x="246237" y="279704"/>
                  </a:lnTo>
                  <a:lnTo>
                    <a:pt x="225824" y="292358"/>
                  </a:lnTo>
                  <a:lnTo>
                    <a:pt x="203734" y="301673"/>
                  </a:lnTo>
                  <a:lnTo>
                    <a:pt x="179857" y="307548"/>
                  </a:lnTo>
                  <a:lnTo>
                    <a:pt x="154781" y="309562"/>
                  </a:lnTo>
                  <a:close/>
                </a:path>
                <a:path w="381000" h="381635">
                  <a:moveTo>
                    <a:pt x="304271" y="121964"/>
                  </a:moveTo>
                  <a:lnTo>
                    <a:pt x="185663" y="121964"/>
                  </a:lnTo>
                  <a:lnTo>
                    <a:pt x="193774" y="117276"/>
                  </a:lnTo>
                  <a:lnTo>
                    <a:pt x="198090" y="101351"/>
                  </a:lnTo>
                  <a:lnTo>
                    <a:pt x="193327" y="93240"/>
                  </a:lnTo>
                  <a:lnTo>
                    <a:pt x="180528" y="89817"/>
                  </a:lnTo>
                  <a:lnTo>
                    <a:pt x="175170" y="88552"/>
                  </a:lnTo>
                  <a:lnTo>
                    <a:pt x="169664" y="87585"/>
                  </a:lnTo>
                  <a:lnTo>
                    <a:pt x="169664" y="69205"/>
                  </a:lnTo>
                  <a:lnTo>
                    <a:pt x="162966" y="62507"/>
                  </a:lnTo>
                  <a:lnTo>
                    <a:pt x="278850" y="62507"/>
                  </a:lnTo>
                  <a:lnTo>
                    <a:pt x="279704" y="63361"/>
                  </a:lnTo>
                  <a:lnTo>
                    <a:pt x="301673" y="105851"/>
                  </a:lnTo>
                  <a:lnTo>
                    <a:pt x="304247" y="121815"/>
                  </a:lnTo>
                  <a:lnTo>
                    <a:pt x="304271" y="121964"/>
                  </a:lnTo>
                  <a:close/>
                </a:path>
                <a:path w="381000" h="381635">
                  <a:moveTo>
                    <a:pt x="280763" y="247054"/>
                  </a:moveTo>
                  <a:lnTo>
                    <a:pt x="162892" y="247054"/>
                  </a:lnTo>
                  <a:lnTo>
                    <a:pt x="169589" y="240357"/>
                  </a:lnTo>
                  <a:lnTo>
                    <a:pt x="169589" y="221902"/>
                  </a:lnTo>
                  <a:lnTo>
                    <a:pt x="204015" y="192581"/>
                  </a:lnTo>
                  <a:lnTo>
                    <a:pt x="205210" y="182537"/>
                  </a:lnTo>
                  <a:lnTo>
                    <a:pt x="205308" y="181719"/>
                  </a:lnTo>
                  <a:lnTo>
                    <a:pt x="180250" y="147114"/>
                  </a:lnTo>
                  <a:lnTo>
                    <a:pt x="142577" y="134466"/>
                  </a:lnTo>
                  <a:lnTo>
                    <a:pt x="133945" y="129331"/>
                  </a:lnTo>
                  <a:lnTo>
                    <a:pt x="133870" y="123899"/>
                  </a:lnTo>
                  <a:lnTo>
                    <a:pt x="134838" y="121964"/>
                  </a:lnTo>
                  <a:lnTo>
                    <a:pt x="134912" y="121815"/>
                  </a:lnTo>
                  <a:lnTo>
                    <a:pt x="142628" y="117276"/>
                  </a:lnTo>
                  <a:lnTo>
                    <a:pt x="142824" y="117276"/>
                  </a:lnTo>
                  <a:lnTo>
                    <a:pt x="148604" y="115937"/>
                  </a:lnTo>
                  <a:lnTo>
                    <a:pt x="160876" y="115937"/>
                  </a:lnTo>
                  <a:lnTo>
                    <a:pt x="169515" y="117648"/>
                  </a:lnTo>
                  <a:lnTo>
                    <a:pt x="177700" y="119881"/>
                  </a:lnTo>
                  <a:lnTo>
                    <a:pt x="185663" y="121964"/>
                  </a:lnTo>
                  <a:lnTo>
                    <a:pt x="304271" y="121964"/>
                  </a:lnTo>
                  <a:lnTo>
                    <a:pt x="309562" y="154781"/>
                  </a:lnTo>
                  <a:lnTo>
                    <a:pt x="307538" y="179857"/>
                  </a:lnTo>
                  <a:lnTo>
                    <a:pt x="301683" y="203643"/>
                  </a:lnTo>
                  <a:lnTo>
                    <a:pt x="292327" y="225824"/>
                  </a:lnTo>
                  <a:lnTo>
                    <a:pt x="279796" y="246087"/>
                  </a:lnTo>
                  <a:lnTo>
                    <a:pt x="280763" y="247054"/>
                  </a:lnTo>
                  <a:close/>
                </a:path>
                <a:path w="381000" h="381635">
                  <a:moveTo>
                    <a:pt x="161552" y="193476"/>
                  </a:moveTo>
                  <a:lnTo>
                    <a:pt x="155227" y="193253"/>
                  </a:lnTo>
                  <a:lnTo>
                    <a:pt x="148701" y="192581"/>
                  </a:lnTo>
                  <a:lnTo>
                    <a:pt x="148904" y="192581"/>
                  </a:lnTo>
                  <a:lnTo>
                    <a:pt x="142865" y="191262"/>
                  </a:lnTo>
                  <a:lnTo>
                    <a:pt x="136297" y="189318"/>
                  </a:lnTo>
                  <a:lnTo>
                    <a:pt x="125378" y="185663"/>
                  </a:lnTo>
                  <a:lnTo>
                    <a:pt x="123750" y="185142"/>
                  </a:lnTo>
                  <a:lnTo>
                    <a:pt x="115937" y="182537"/>
                  </a:lnTo>
                  <a:lnTo>
                    <a:pt x="175554" y="182537"/>
                  </a:lnTo>
                  <a:lnTo>
                    <a:pt x="175617" y="185663"/>
                  </a:lnTo>
                  <a:lnTo>
                    <a:pt x="174203" y="187895"/>
                  </a:lnTo>
                  <a:lnTo>
                    <a:pt x="171152" y="189755"/>
                  </a:lnTo>
                  <a:lnTo>
                    <a:pt x="167431" y="192062"/>
                  </a:lnTo>
                  <a:lnTo>
                    <a:pt x="161552" y="193476"/>
                  </a:lnTo>
                  <a:close/>
                </a:path>
                <a:path w="381000" h="381635">
                  <a:moveTo>
                    <a:pt x="357150" y="381055"/>
                  </a:moveTo>
                  <a:lnTo>
                    <a:pt x="348178" y="379311"/>
                  </a:lnTo>
                  <a:lnTo>
                    <a:pt x="340295" y="374079"/>
                  </a:lnTo>
                  <a:lnTo>
                    <a:pt x="245994" y="279704"/>
                  </a:lnTo>
                  <a:lnTo>
                    <a:pt x="313387" y="279704"/>
                  </a:lnTo>
                  <a:lnTo>
                    <a:pt x="374005" y="340369"/>
                  </a:lnTo>
                  <a:lnTo>
                    <a:pt x="379237" y="348253"/>
                  </a:lnTo>
                  <a:lnTo>
                    <a:pt x="380981" y="357224"/>
                  </a:lnTo>
                  <a:lnTo>
                    <a:pt x="379237" y="366196"/>
                  </a:lnTo>
                  <a:lnTo>
                    <a:pt x="374005" y="374079"/>
                  </a:lnTo>
                  <a:lnTo>
                    <a:pt x="366121" y="379311"/>
                  </a:lnTo>
                  <a:lnTo>
                    <a:pt x="357150" y="381055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50969" y="3765959"/>
            <a:ext cx="1015365" cy="612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50" b="1" spc="-25" dirty="0">
                <a:solidFill>
                  <a:srgbClr val="0056B3"/>
                </a:solidFill>
                <a:latin typeface="Century Gothic"/>
                <a:cs typeface="Century Gothic"/>
              </a:rPr>
              <a:t>68%</a:t>
            </a:r>
            <a:endParaRPr sz="385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81839" y="4513007"/>
            <a:ext cx="2353310" cy="490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875" marR="5080" indent="-130810">
              <a:lnSpc>
                <a:spcPct val="107800"/>
              </a:lnSpc>
            </a:pPr>
            <a:r>
              <a:rPr sz="1450" spc="-35" dirty="0">
                <a:solidFill>
                  <a:srgbClr val="444444"/>
                </a:solidFill>
                <a:latin typeface="Lucida Sans"/>
                <a:cs typeface="Lucida Sans"/>
              </a:rPr>
              <a:t>seek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45" dirty="0">
                <a:solidFill>
                  <a:srgbClr val="444444"/>
                </a:solidFill>
                <a:latin typeface="Lucida Sans"/>
                <a:cs typeface="Lucida Sans"/>
              </a:rPr>
              <a:t>affordable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5" dirty="0">
                <a:solidFill>
                  <a:srgbClr val="444444"/>
                </a:solidFill>
                <a:latin typeface="Lucida Sans"/>
                <a:cs typeface="Lucida Sans"/>
              </a:rPr>
              <a:t>monitoring </a:t>
            </a:r>
            <a:r>
              <a:rPr sz="1450" spc="-45" dirty="0">
                <a:solidFill>
                  <a:srgbClr val="444444"/>
                </a:solidFill>
                <a:latin typeface="Lucida Sans"/>
                <a:cs typeface="Lucida Sans"/>
              </a:rPr>
              <a:t>solutions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for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equipment</a:t>
            </a:r>
            <a:endParaRPr sz="1450" dirty="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3150" y="5870028"/>
            <a:ext cx="98374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sz="2050" b="1" spc="-125" dirty="0">
                <a:solidFill>
                  <a:srgbClr val="444444"/>
                </a:solidFill>
                <a:latin typeface="Lucida Sans"/>
                <a:cs typeface="Lucida Sans"/>
              </a:rPr>
              <a:t>Demand</a:t>
            </a:r>
            <a:r>
              <a:rPr sz="2050" b="1" spc="-9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90" dirty="0">
                <a:solidFill>
                  <a:srgbClr val="444444"/>
                </a:solidFill>
                <a:latin typeface="Lucida Sans"/>
                <a:cs typeface="Lucida Sans"/>
              </a:rPr>
              <a:t>for</a:t>
            </a:r>
            <a:r>
              <a:rPr sz="2050" b="1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35" dirty="0">
                <a:solidFill>
                  <a:srgbClr val="444444"/>
                </a:solidFill>
                <a:latin typeface="Lucida Sans"/>
                <a:cs typeface="Lucida Sans"/>
              </a:rPr>
              <a:t>accessible,</a:t>
            </a:r>
            <a:r>
              <a:rPr sz="2050" b="1" spc="-9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00" dirty="0">
                <a:solidFill>
                  <a:srgbClr val="444444"/>
                </a:solidFill>
                <a:latin typeface="Lucida Sans"/>
                <a:cs typeface="Lucida Sans"/>
              </a:rPr>
              <a:t>cost-</a:t>
            </a:r>
            <a:r>
              <a:rPr sz="2050" b="1" spc="-135" dirty="0">
                <a:solidFill>
                  <a:srgbClr val="444444"/>
                </a:solidFill>
                <a:latin typeface="Lucida Sans"/>
                <a:cs typeface="Lucida Sans"/>
              </a:rPr>
              <a:t>effective</a:t>
            </a:r>
            <a:r>
              <a:rPr sz="2050" b="1" spc="-9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30" dirty="0">
                <a:solidFill>
                  <a:srgbClr val="444444"/>
                </a:solidFill>
                <a:latin typeface="Lucida Sans"/>
                <a:cs typeface="Lucida Sans"/>
              </a:rPr>
              <a:t>predictive</a:t>
            </a:r>
            <a:r>
              <a:rPr sz="2050" b="1" spc="-9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14" dirty="0">
                <a:solidFill>
                  <a:srgbClr val="444444"/>
                </a:solidFill>
                <a:latin typeface="Lucida Sans"/>
                <a:cs typeface="Lucida Sans"/>
              </a:rPr>
              <a:t>maintenance</a:t>
            </a:r>
            <a:r>
              <a:rPr sz="2050" b="1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65" dirty="0">
                <a:solidFill>
                  <a:srgbClr val="444444"/>
                </a:solidFill>
                <a:latin typeface="Lucida Sans"/>
                <a:cs typeface="Lucida Sans"/>
              </a:rPr>
              <a:t>solutions</a:t>
            </a:r>
            <a:r>
              <a:rPr sz="2050" b="1" spc="-9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200" dirty="0">
                <a:solidFill>
                  <a:srgbClr val="444444"/>
                </a:solidFill>
                <a:latin typeface="Lucida Sans"/>
                <a:cs typeface="Lucida Sans"/>
              </a:rPr>
              <a:t>is</a:t>
            </a:r>
            <a:r>
              <a:rPr sz="2050" b="1" spc="-9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35" dirty="0">
                <a:solidFill>
                  <a:srgbClr val="444444"/>
                </a:solidFill>
                <a:latin typeface="Lucida Sans"/>
                <a:cs typeface="Lucida Sans"/>
              </a:rPr>
              <a:t>clear</a:t>
            </a:r>
            <a:r>
              <a:rPr sz="2050" b="1" spc="-10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25" dirty="0">
                <a:solidFill>
                  <a:srgbClr val="444444"/>
                </a:solidFill>
                <a:latin typeface="Lucida Sans"/>
                <a:cs typeface="Lucida Sans"/>
              </a:rPr>
              <a:t>and </a:t>
            </a:r>
            <a:r>
              <a:rPr sz="2050" b="1" spc="-150" dirty="0">
                <a:solidFill>
                  <a:srgbClr val="444444"/>
                </a:solidFill>
                <a:latin typeface="Lucida Sans"/>
                <a:cs typeface="Lucida Sans"/>
              </a:rPr>
              <a:t>growing</a:t>
            </a:r>
            <a:r>
              <a:rPr sz="2050" b="1" spc="-11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75" dirty="0">
                <a:solidFill>
                  <a:srgbClr val="444444"/>
                </a:solidFill>
                <a:latin typeface="Lucida Sans"/>
                <a:cs typeface="Lucida Sans"/>
              </a:rPr>
              <a:t>across</a:t>
            </a:r>
            <a:r>
              <a:rPr sz="2050" b="1" spc="-11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30" dirty="0">
                <a:solidFill>
                  <a:srgbClr val="444444"/>
                </a:solidFill>
                <a:latin typeface="Lucida Sans"/>
                <a:cs typeface="Lucida Sans"/>
              </a:rPr>
              <a:t>Indian</a:t>
            </a:r>
            <a:r>
              <a:rPr sz="2050" b="1" spc="-10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30" dirty="0">
                <a:solidFill>
                  <a:srgbClr val="444444"/>
                </a:solidFill>
                <a:latin typeface="Lucida Sans"/>
                <a:cs typeface="Lucida Sans"/>
              </a:rPr>
              <a:t>manufacturing</a:t>
            </a:r>
            <a:r>
              <a:rPr sz="2050" b="1" spc="-114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2050" b="1" spc="-10" dirty="0">
                <a:solidFill>
                  <a:srgbClr val="444444"/>
                </a:solidFill>
                <a:latin typeface="Lucida Sans"/>
                <a:cs typeface="Lucida Sans"/>
              </a:rPr>
              <a:t>MSMEs.</a:t>
            </a:r>
            <a:endParaRPr sz="2050" dirty="0">
              <a:latin typeface="Lucida Sans"/>
              <a:cs typeface="Lucida San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7599" y="0"/>
            <a:ext cx="8534400" cy="6858000"/>
          </a:xfrm>
          <a:custGeom>
            <a:avLst/>
            <a:gdLst/>
            <a:ahLst/>
            <a:cxnLst/>
            <a:rect l="l" t="t" r="r" b="b"/>
            <a:pathLst>
              <a:path w="8534400" h="6858000">
                <a:moveTo>
                  <a:pt x="8534399" y="6857999"/>
                </a:moveTo>
                <a:lnTo>
                  <a:pt x="0" y="6857999"/>
                </a:lnTo>
                <a:lnTo>
                  <a:pt x="1706879" y="0"/>
                </a:lnTo>
                <a:lnTo>
                  <a:pt x="8534399" y="0"/>
                </a:lnTo>
                <a:lnTo>
                  <a:pt x="8534399" y="6857999"/>
                </a:lnTo>
                <a:close/>
              </a:path>
            </a:pathLst>
          </a:custGeom>
          <a:solidFill>
            <a:srgbClr val="F0F5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9800" y="483464"/>
            <a:ext cx="766318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400"/>
              </a:lnSpc>
              <a:spcBef>
                <a:spcPts val="100"/>
              </a:spcBef>
            </a:pPr>
            <a:r>
              <a:rPr sz="4150" spc="-220" dirty="0">
                <a:latin typeface="Tahoma"/>
                <a:cs typeface="Tahoma"/>
              </a:rPr>
              <a:t>Our</a:t>
            </a:r>
            <a:r>
              <a:rPr sz="4150" spc="-155" dirty="0">
                <a:latin typeface="Tahoma"/>
                <a:cs typeface="Tahoma"/>
              </a:rPr>
              <a:t> </a:t>
            </a:r>
            <a:r>
              <a:rPr sz="4150" spc="-254" dirty="0">
                <a:latin typeface="Tahoma"/>
                <a:cs typeface="Tahoma"/>
              </a:rPr>
              <a:t>Solution:</a:t>
            </a:r>
            <a:r>
              <a:rPr sz="4150" spc="-150" dirty="0">
                <a:latin typeface="Tahoma"/>
                <a:cs typeface="Tahoma"/>
              </a:rPr>
              <a:t> </a:t>
            </a:r>
            <a:r>
              <a:rPr sz="4150" spc="-220" dirty="0">
                <a:latin typeface="Tahoma"/>
                <a:cs typeface="Tahoma"/>
              </a:rPr>
              <a:t>Affordable,</a:t>
            </a:r>
            <a:r>
              <a:rPr sz="4150" spc="-145" dirty="0">
                <a:latin typeface="Tahoma"/>
                <a:cs typeface="Tahoma"/>
              </a:rPr>
              <a:t> </a:t>
            </a:r>
            <a:r>
              <a:rPr sz="4150" spc="-265" dirty="0">
                <a:latin typeface="Tahoma"/>
                <a:cs typeface="Tahoma"/>
              </a:rPr>
              <a:t>Smart, </a:t>
            </a:r>
            <a:r>
              <a:rPr sz="4150" spc="-315" dirty="0">
                <a:latin typeface="Tahoma"/>
                <a:cs typeface="Tahoma"/>
              </a:rPr>
              <a:t>MSME-</a:t>
            </a:r>
            <a:r>
              <a:rPr sz="4150" spc="-55" dirty="0">
                <a:latin typeface="Tahoma"/>
                <a:cs typeface="Tahoma"/>
              </a:rPr>
              <a:t>Friendly</a:t>
            </a:r>
            <a:endParaRPr sz="415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2499" y="3295650"/>
            <a:ext cx="457200" cy="457200"/>
            <a:chOff x="952499" y="3295650"/>
            <a:chExt cx="457200" cy="457200"/>
          </a:xfrm>
        </p:grpSpPr>
        <p:sp>
          <p:nvSpPr>
            <p:cNvPr id="6" name="object 6"/>
            <p:cNvSpPr/>
            <p:nvPr/>
          </p:nvSpPr>
          <p:spPr>
            <a:xfrm>
              <a:off x="952499" y="32956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2" y="176659"/>
                  </a:lnTo>
                  <a:lnTo>
                    <a:pt x="20266" y="134201"/>
                  </a:lnTo>
                  <a:lnTo>
                    <a:pt x="42685" y="95370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2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40"/>
                  </a:lnTo>
                  <a:lnTo>
                    <a:pt x="436933" y="322997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7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56B3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4424" y="3428999"/>
              <a:ext cx="142874" cy="19049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952499" y="3943350"/>
            <a:ext cx="457200" cy="457200"/>
            <a:chOff x="952499" y="3943350"/>
            <a:chExt cx="457200" cy="457200"/>
          </a:xfrm>
        </p:grpSpPr>
        <p:sp>
          <p:nvSpPr>
            <p:cNvPr id="9" name="object 9"/>
            <p:cNvSpPr/>
            <p:nvPr/>
          </p:nvSpPr>
          <p:spPr>
            <a:xfrm>
              <a:off x="952499" y="3943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5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2" y="176658"/>
                  </a:lnTo>
                  <a:lnTo>
                    <a:pt x="20266" y="134201"/>
                  </a:lnTo>
                  <a:lnTo>
                    <a:pt x="42685" y="95370"/>
                  </a:lnTo>
                  <a:lnTo>
                    <a:pt x="72249" y="61660"/>
                  </a:lnTo>
                  <a:lnTo>
                    <a:pt x="107821" y="34365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2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8"/>
                  </a:lnTo>
                  <a:lnTo>
                    <a:pt x="422833" y="107820"/>
                  </a:lnTo>
                  <a:lnTo>
                    <a:pt x="442663" y="148034"/>
                  </a:lnTo>
                  <a:lnTo>
                    <a:pt x="454268" y="191344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40"/>
                  </a:lnTo>
                  <a:lnTo>
                    <a:pt x="436933" y="322997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7" y="422832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56B3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6324" y="4075062"/>
              <a:ext cx="214312" cy="19213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952499" y="4648200"/>
            <a:ext cx="457200" cy="457200"/>
            <a:chOff x="952499" y="4648200"/>
            <a:chExt cx="457200" cy="457200"/>
          </a:xfrm>
        </p:grpSpPr>
        <p:sp>
          <p:nvSpPr>
            <p:cNvPr id="12" name="object 12"/>
            <p:cNvSpPr/>
            <p:nvPr/>
          </p:nvSpPr>
          <p:spPr>
            <a:xfrm>
              <a:off x="952499" y="46482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5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2"/>
                  </a:lnTo>
                  <a:lnTo>
                    <a:pt x="5852" y="176658"/>
                  </a:lnTo>
                  <a:lnTo>
                    <a:pt x="20266" y="134201"/>
                  </a:lnTo>
                  <a:lnTo>
                    <a:pt x="42685" y="95370"/>
                  </a:lnTo>
                  <a:lnTo>
                    <a:pt x="72249" y="61661"/>
                  </a:lnTo>
                  <a:lnTo>
                    <a:pt x="107821" y="34365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2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4"/>
                  </a:lnTo>
                  <a:lnTo>
                    <a:pt x="454268" y="191344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6" y="280540"/>
                  </a:lnTo>
                  <a:lnTo>
                    <a:pt x="436933" y="322997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7" y="422832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56B3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5849" y="4781549"/>
              <a:ext cx="190499" cy="190499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952499" y="5353050"/>
            <a:ext cx="457200" cy="457200"/>
            <a:chOff x="952499" y="5353050"/>
            <a:chExt cx="457200" cy="457200"/>
          </a:xfrm>
        </p:grpSpPr>
        <p:sp>
          <p:nvSpPr>
            <p:cNvPr id="15" name="object 15"/>
            <p:cNvSpPr/>
            <p:nvPr/>
          </p:nvSpPr>
          <p:spPr>
            <a:xfrm>
              <a:off x="952499" y="5353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5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2"/>
                  </a:lnTo>
                  <a:lnTo>
                    <a:pt x="1834" y="258456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2" y="176657"/>
                  </a:lnTo>
                  <a:lnTo>
                    <a:pt x="20266" y="134200"/>
                  </a:lnTo>
                  <a:lnTo>
                    <a:pt x="42685" y="95370"/>
                  </a:lnTo>
                  <a:lnTo>
                    <a:pt x="72249" y="61660"/>
                  </a:lnTo>
                  <a:lnTo>
                    <a:pt x="107821" y="34365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2"/>
                  </a:lnTo>
                  <a:lnTo>
                    <a:pt x="322998" y="20266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0"/>
                  </a:lnTo>
                  <a:lnTo>
                    <a:pt x="442663" y="148034"/>
                  </a:lnTo>
                  <a:lnTo>
                    <a:pt x="454268" y="191344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39"/>
                  </a:lnTo>
                  <a:lnTo>
                    <a:pt x="436933" y="322997"/>
                  </a:lnTo>
                  <a:lnTo>
                    <a:pt x="414514" y="361827"/>
                  </a:lnTo>
                  <a:lnTo>
                    <a:pt x="384950" y="395538"/>
                  </a:lnTo>
                  <a:lnTo>
                    <a:pt x="349377" y="422832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56B3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6324" y="5498305"/>
              <a:ext cx="214312" cy="16668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952499" y="6057900"/>
            <a:ext cx="457200" cy="457200"/>
            <a:chOff x="952499" y="6057900"/>
            <a:chExt cx="457200" cy="457200"/>
          </a:xfrm>
        </p:grpSpPr>
        <p:sp>
          <p:nvSpPr>
            <p:cNvPr id="18" name="object 18"/>
            <p:cNvSpPr/>
            <p:nvPr/>
          </p:nvSpPr>
          <p:spPr>
            <a:xfrm>
              <a:off x="952499" y="60579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5"/>
                  </a:lnTo>
                  <a:lnTo>
                    <a:pt x="89365" y="410059"/>
                  </a:lnTo>
                  <a:lnTo>
                    <a:pt x="56639" y="379408"/>
                  </a:lnTo>
                  <a:lnTo>
                    <a:pt x="30522" y="342962"/>
                  </a:lnTo>
                  <a:lnTo>
                    <a:pt x="12016" y="302122"/>
                  </a:lnTo>
                  <a:lnTo>
                    <a:pt x="1834" y="258456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2" y="176658"/>
                  </a:lnTo>
                  <a:lnTo>
                    <a:pt x="20266" y="134200"/>
                  </a:lnTo>
                  <a:lnTo>
                    <a:pt x="42685" y="95370"/>
                  </a:lnTo>
                  <a:lnTo>
                    <a:pt x="72249" y="61660"/>
                  </a:lnTo>
                  <a:lnTo>
                    <a:pt x="107821" y="34364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2"/>
                  </a:lnTo>
                  <a:lnTo>
                    <a:pt x="322998" y="20265"/>
                  </a:lnTo>
                  <a:lnTo>
                    <a:pt x="361828" y="42683"/>
                  </a:lnTo>
                  <a:lnTo>
                    <a:pt x="395538" y="72248"/>
                  </a:lnTo>
                  <a:lnTo>
                    <a:pt x="422833" y="107820"/>
                  </a:lnTo>
                  <a:lnTo>
                    <a:pt x="442663" y="148035"/>
                  </a:lnTo>
                  <a:lnTo>
                    <a:pt x="454268" y="191344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39"/>
                  </a:lnTo>
                  <a:lnTo>
                    <a:pt x="436933" y="322997"/>
                  </a:lnTo>
                  <a:lnTo>
                    <a:pt x="414514" y="361827"/>
                  </a:lnTo>
                  <a:lnTo>
                    <a:pt x="384950" y="395538"/>
                  </a:lnTo>
                  <a:lnTo>
                    <a:pt x="349377" y="422832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56B3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799" y="6203155"/>
              <a:ext cx="238124" cy="16668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39800" y="2268182"/>
            <a:ext cx="5185410" cy="427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655">
              <a:lnSpc>
                <a:spcPct val="109800"/>
              </a:lnSpc>
              <a:spcBef>
                <a:spcPts val="100"/>
              </a:spcBef>
            </a:pPr>
            <a:r>
              <a:rPr sz="2050" b="1" spc="-130" dirty="0">
                <a:solidFill>
                  <a:srgbClr val="333333"/>
                </a:solidFill>
                <a:latin typeface="Lucida Sans"/>
                <a:cs typeface="Lucida Sans"/>
              </a:rPr>
              <a:t>Introducing</a:t>
            </a:r>
            <a:r>
              <a:rPr sz="2050" b="1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00" dirty="0">
                <a:solidFill>
                  <a:srgbClr val="333333"/>
                </a:solidFill>
                <a:latin typeface="Lucida Sans"/>
                <a:cs typeface="Lucida Sans"/>
              </a:rPr>
              <a:t>ISF's</a:t>
            </a:r>
            <a:r>
              <a:rPr sz="2050" b="1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70" dirty="0">
                <a:solidFill>
                  <a:srgbClr val="333333"/>
                </a:solidFill>
                <a:latin typeface="Lucida Sans"/>
                <a:cs typeface="Lucida Sans"/>
              </a:rPr>
              <a:t>AI-</a:t>
            </a:r>
            <a:r>
              <a:rPr sz="2050" b="1" spc="-120" dirty="0">
                <a:solidFill>
                  <a:srgbClr val="333333"/>
                </a:solidFill>
                <a:latin typeface="Lucida Sans"/>
                <a:cs typeface="Lucida Sans"/>
              </a:rPr>
              <a:t>Powered</a:t>
            </a:r>
            <a:r>
              <a:rPr sz="2050" b="1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40" dirty="0">
                <a:solidFill>
                  <a:srgbClr val="333333"/>
                </a:solidFill>
                <a:latin typeface="Lucida Sans"/>
                <a:cs typeface="Lucida Sans"/>
              </a:rPr>
              <a:t>Digital</a:t>
            </a:r>
            <a:r>
              <a:rPr sz="2050" b="1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204" dirty="0">
                <a:solidFill>
                  <a:srgbClr val="333333"/>
                </a:solidFill>
                <a:latin typeface="Lucida Sans"/>
                <a:cs typeface="Lucida Sans"/>
              </a:rPr>
              <a:t>Twin</a:t>
            </a:r>
            <a:r>
              <a:rPr sz="2050" b="1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310" dirty="0">
                <a:solidFill>
                  <a:srgbClr val="333333"/>
                </a:solidFill>
                <a:latin typeface="Lucida Sans"/>
                <a:cs typeface="Lucida Sans"/>
              </a:rPr>
              <a:t>&amp; </a:t>
            </a:r>
            <a:r>
              <a:rPr sz="2050" b="1" spc="-114" dirty="0">
                <a:solidFill>
                  <a:srgbClr val="333333"/>
                </a:solidFill>
                <a:latin typeface="Lucida Sans"/>
                <a:cs typeface="Lucida Sans"/>
              </a:rPr>
              <a:t>Predictive</a:t>
            </a:r>
            <a:r>
              <a:rPr sz="2050" b="1" spc="-9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20" dirty="0">
                <a:solidFill>
                  <a:srgbClr val="333333"/>
                </a:solidFill>
                <a:latin typeface="Lucida Sans"/>
                <a:cs typeface="Lucida Sans"/>
              </a:rPr>
              <a:t>Maintenance</a:t>
            </a:r>
            <a:r>
              <a:rPr sz="2050" b="1" spc="-9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0" dirty="0">
                <a:solidFill>
                  <a:srgbClr val="333333"/>
                </a:solidFill>
                <a:latin typeface="Lucida Sans"/>
                <a:cs typeface="Lucida Sans"/>
              </a:rPr>
              <a:t>System:</a:t>
            </a:r>
            <a:endParaRPr sz="2050" dirty="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800" dirty="0">
              <a:latin typeface="Lucida Sans"/>
              <a:cs typeface="Lucida Sans"/>
            </a:endParaRPr>
          </a:p>
          <a:p>
            <a:pPr marL="621665">
              <a:lnSpc>
                <a:spcPct val="100000"/>
              </a:lnSpc>
              <a:spcBef>
                <a:spcPts val="5"/>
              </a:spcBef>
            </a:pPr>
            <a:r>
              <a:rPr sz="1500" b="1" spc="-30" dirty="0">
                <a:solidFill>
                  <a:srgbClr val="0056B3"/>
                </a:solidFill>
                <a:latin typeface="Lucida Sans"/>
                <a:cs typeface="Lucida Sans"/>
              </a:rPr>
              <a:t>Plug-</a:t>
            </a:r>
            <a:r>
              <a:rPr sz="1500" b="1" spc="-45" dirty="0">
                <a:solidFill>
                  <a:srgbClr val="0056B3"/>
                </a:solidFill>
                <a:latin typeface="Lucida Sans"/>
                <a:cs typeface="Lucida Sans"/>
              </a:rPr>
              <a:t>and-</a:t>
            </a:r>
            <a:r>
              <a:rPr sz="1500" b="1" spc="-125" dirty="0">
                <a:solidFill>
                  <a:srgbClr val="0056B3"/>
                </a:solidFill>
                <a:latin typeface="Lucida Sans"/>
                <a:cs typeface="Lucida Sans"/>
              </a:rPr>
              <a:t>play</a:t>
            </a:r>
            <a:r>
              <a:rPr sz="1450" spc="-125" dirty="0">
                <a:solidFill>
                  <a:srgbClr val="545454"/>
                </a:solidFill>
                <a:latin typeface="Verdana"/>
                <a:cs typeface="Verdana"/>
              </a:rPr>
              <a:t>,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545454"/>
                </a:solidFill>
                <a:latin typeface="Verdana"/>
                <a:cs typeface="Verdana"/>
              </a:rPr>
              <a:t>affordable</a:t>
            </a:r>
            <a:r>
              <a:rPr sz="145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75" dirty="0">
                <a:solidFill>
                  <a:srgbClr val="545454"/>
                </a:solidFill>
                <a:latin typeface="Verdana"/>
                <a:cs typeface="Verdana"/>
              </a:rPr>
              <a:t>for</a:t>
            </a:r>
            <a:r>
              <a:rPr sz="145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90" dirty="0">
                <a:solidFill>
                  <a:srgbClr val="545454"/>
                </a:solidFill>
                <a:latin typeface="Verdana"/>
                <a:cs typeface="Verdana"/>
              </a:rPr>
              <a:t>any</a:t>
            </a:r>
            <a:r>
              <a:rPr sz="145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545454"/>
                </a:solidFill>
                <a:latin typeface="Verdana"/>
                <a:cs typeface="Verdana"/>
              </a:rPr>
              <a:t>MSME</a:t>
            </a:r>
            <a:endParaRPr sz="14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350" dirty="0">
              <a:latin typeface="Verdana"/>
              <a:cs typeface="Verdana"/>
            </a:endParaRPr>
          </a:p>
          <a:p>
            <a:pPr marL="621665" marR="511809">
              <a:lnSpc>
                <a:spcPct val="115300"/>
              </a:lnSpc>
            </a:pPr>
            <a:r>
              <a:rPr sz="1500" b="1" spc="-50" dirty="0">
                <a:solidFill>
                  <a:srgbClr val="0056B3"/>
                </a:solidFill>
                <a:latin typeface="Lucida Sans"/>
                <a:cs typeface="Lucida Sans"/>
              </a:rPr>
              <a:t>Real-</a:t>
            </a:r>
            <a:r>
              <a:rPr sz="1500" b="1" spc="-60" dirty="0">
                <a:solidFill>
                  <a:srgbClr val="0056B3"/>
                </a:solidFill>
                <a:latin typeface="Lucida Sans"/>
                <a:cs typeface="Lucida Sans"/>
              </a:rPr>
              <a:t>time</a:t>
            </a: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70" dirty="0">
                <a:solidFill>
                  <a:srgbClr val="0056B3"/>
                </a:solidFill>
                <a:latin typeface="Lucida Sans"/>
                <a:cs typeface="Lucida Sans"/>
              </a:rPr>
              <a:t>IoT</a:t>
            </a: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90" dirty="0">
                <a:solidFill>
                  <a:srgbClr val="0056B3"/>
                </a:solidFill>
                <a:latin typeface="Lucida Sans"/>
                <a:cs typeface="Lucida Sans"/>
              </a:rPr>
              <a:t>monitoring</a:t>
            </a:r>
            <a:r>
              <a:rPr sz="1500" b="1" spc="-8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450" spc="-60" dirty="0">
                <a:solidFill>
                  <a:srgbClr val="545454"/>
                </a:solidFill>
                <a:latin typeface="Verdana"/>
                <a:cs typeface="Verdana"/>
              </a:rPr>
              <a:t>of</a:t>
            </a:r>
            <a:r>
              <a:rPr sz="145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50" dirty="0">
                <a:solidFill>
                  <a:srgbClr val="545454"/>
                </a:solidFill>
                <a:latin typeface="Verdana"/>
                <a:cs typeface="Verdana"/>
              </a:rPr>
              <a:t>critical</a:t>
            </a:r>
            <a:r>
              <a:rPr sz="145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454"/>
                </a:solidFill>
                <a:latin typeface="Verdana"/>
                <a:cs typeface="Verdana"/>
              </a:rPr>
              <a:t>equipment metrics</a:t>
            </a:r>
            <a:endParaRPr sz="1450" dirty="0">
              <a:latin typeface="Verdana"/>
              <a:cs typeface="Verdana"/>
            </a:endParaRPr>
          </a:p>
          <a:p>
            <a:pPr marL="621665" marR="461009">
              <a:lnSpc>
                <a:spcPct val="115300"/>
              </a:lnSpc>
              <a:spcBef>
                <a:spcPts val="1460"/>
              </a:spcBef>
            </a:pPr>
            <a:r>
              <a:rPr sz="1500" b="1" spc="-40" dirty="0">
                <a:solidFill>
                  <a:srgbClr val="0056B3"/>
                </a:solidFill>
                <a:latin typeface="Lucida Sans"/>
                <a:cs typeface="Lucida Sans"/>
              </a:rPr>
              <a:t>ML-</a:t>
            </a:r>
            <a:r>
              <a:rPr sz="1500" b="1" spc="-90" dirty="0">
                <a:solidFill>
                  <a:srgbClr val="0056B3"/>
                </a:solidFill>
                <a:latin typeface="Lucida Sans"/>
                <a:cs typeface="Lucida Sans"/>
              </a:rPr>
              <a:t>powered</a:t>
            </a:r>
            <a:r>
              <a:rPr sz="1500" b="1" spc="-6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80" dirty="0">
                <a:solidFill>
                  <a:srgbClr val="0056B3"/>
                </a:solidFill>
                <a:latin typeface="Lucida Sans"/>
                <a:cs typeface="Lucida Sans"/>
              </a:rPr>
              <a:t>anomaly</a:t>
            </a:r>
            <a:r>
              <a:rPr sz="1500" b="1" spc="-6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detection</a:t>
            </a:r>
            <a:r>
              <a:rPr sz="1500" b="1" spc="-8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450" spc="-50" dirty="0">
                <a:solidFill>
                  <a:srgbClr val="545454"/>
                </a:solidFill>
                <a:latin typeface="Verdana"/>
                <a:cs typeface="Verdana"/>
              </a:rPr>
              <a:t>catches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45" dirty="0">
                <a:solidFill>
                  <a:srgbClr val="545454"/>
                </a:solidFill>
                <a:latin typeface="Verdana"/>
                <a:cs typeface="Verdana"/>
              </a:rPr>
              <a:t>issues </a:t>
            </a:r>
            <a:r>
              <a:rPr sz="1450" spc="-60" dirty="0">
                <a:solidFill>
                  <a:srgbClr val="545454"/>
                </a:solidFill>
                <a:latin typeface="Verdana"/>
                <a:cs typeface="Verdana"/>
              </a:rPr>
              <a:t>before</a:t>
            </a:r>
            <a:r>
              <a:rPr sz="1450" spc="-12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65" dirty="0">
                <a:solidFill>
                  <a:srgbClr val="545454"/>
                </a:solidFill>
                <a:latin typeface="Verdana"/>
                <a:cs typeface="Verdana"/>
              </a:rPr>
              <a:t>they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55" dirty="0">
                <a:solidFill>
                  <a:srgbClr val="545454"/>
                </a:solidFill>
                <a:latin typeface="Verdana"/>
                <a:cs typeface="Verdana"/>
              </a:rPr>
              <a:t>cause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454"/>
                </a:solidFill>
                <a:latin typeface="Verdana"/>
                <a:cs typeface="Verdana"/>
              </a:rPr>
              <a:t>failures</a:t>
            </a:r>
            <a:endParaRPr sz="1450" dirty="0">
              <a:latin typeface="Verdana"/>
              <a:cs typeface="Verdana"/>
            </a:endParaRPr>
          </a:p>
          <a:p>
            <a:pPr marL="621665" marR="635635">
              <a:lnSpc>
                <a:spcPct val="115300"/>
              </a:lnSpc>
              <a:spcBef>
                <a:spcPts val="1460"/>
              </a:spcBef>
            </a:pP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Digital</a:t>
            </a: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twin</a:t>
            </a:r>
            <a:r>
              <a:rPr sz="1500" b="1" spc="-6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90" dirty="0">
                <a:solidFill>
                  <a:srgbClr val="0056B3"/>
                </a:solidFill>
                <a:latin typeface="Lucida Sans"/>
                <a:cs typeface="Lucida Sans"/>
              </a:rPr>
              <a:t>simulation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450" spc="-155" dirty="0">
                <a:solidFill>
                  <a:srgbClr val="545454"/>
                </a:solidFill>
                <a:latin typeface="Verdana"/>
                <a:cs typeface="Verdana"/>
              </a:rPr>
              <a:t>&amp;</a:t>
            </a:r>
            <a:r>
              <a:rPr sz="145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45" dirty="0">
                <a:solidFill>
                  <a:srgbClr val="545454"/>
                </a:solidFill>
                <a:latin typeface="Verdana"/>
                <a:cs typeface="Verdana"/>
              </a:rPr>
              <a:t>actionable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70" dirty="0">
                <a:solidFill>
                  <a:srgbClr val="545454"/>
                </a:solidFill>
                <a:latin typeface="Verdana"/>
                <a:cs typeface="Verdana"/>
              </a:rPr>
              <a:t>alerts</a:t>
            </a:r>
            <a:r>
              <a:rPr sz="145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545454"/>
                </a:solidFill>
                <a:latin typeface="Verdana"/>
                <a:cs typeface="Verdana"/>
              </a:rPr>
              <a:t>for </a:t>
            </a:r>
            <a:r>
              <a:rPr sz="1450" spc="-60" dirty="0">
                <a:solidFill>
                  <a:srgbClr val="545454"/>
                </a:solidFill>
                <a:latin typeface="Verdana"/>
                <a:cs typeface="Verdana"/>
              </a:rPr>
              <a:t>proactive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454"/>
                </a:solidFill>
                <a:latin typeface="Verdana"/>
                <a:cs typeface="Verdana"/>
              </a:rPr>
              <a:t>response</a:t>
            </a:r>
            <a:endParaRPr sz="1450" dirty="0">
              <a:latin typeface="Verdana"/>
              <a:cs typeface="Verdana"/>
            </a:endParaRPr>
          </a:p>
          <a:p>
            <a:pPr marL="621665" marR="303530">
              <a:lnSpc>
                <a:spcPct val="115300"/>
              </a:lnSpc>
              <a:spcBef>
                <a:spcPts val="1460"/>
              </a:spcBef>
            </a:pPr>
            <a:r>
              <a:rPr sz="1450" spc="-45" dirty="0">
                <a:solidFill>
                  <a:srgbClr val="545454"/>
                </a:solidFill>
                <a:latin typeface="Verdana"/>
                <a:cs typeface="Verdana"/>
              </a:rPr>
              <a:t>All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545454"/>
                </a:solidFill>
                <a:latin typeface="Verdana"/>
                <a:cs typeface="Verdana"/>
              </a:rPr>
              <a:t>on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85" dirty="0">
                <a:solidFill>
                  <a:srgbClr val="545454"/>
                </a:solidFill>
                <a:latin typeface="Verdana"/>
                <a:cs typeface="Verdana"/>
              </a:rPr>
              <a:t>a</a:t>
            </a:r>
            <a:r>
              <a:rPr sz="145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user-</a:t>
            </a:r>
            <a:r>
              <a:rPr sz="1500" b="1" spc="-100" dirty="0">
                <a:solidFill>
                  <a:srgbClr val="0056B3"/>
                </a:solidFill>
                <a:latin typeface="Lucida Sans"/>
                <a:cs typeface="Lucida Sans"/>
              </a:rPr>
              <a:t>friendly</a:t>
            </a: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80" dirty="0">
                <a:solidFill>
                  <a:srgbClr val="0056B3"/>
                </a:solidFill>
                <a:latin typeface="Lucida Sans"/>
                <a:cs typeface="Lucida Sans"/>
              </a:rPr>
              <a:t>cloud</a:t>
            </a:r>
            <a:r>
              <a:rPr sz="1500" b="1" spc="-7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00" dirty="0">
                <a:solidFill>
                  <a:srgbClr val="0056B3"/>
                </a:solidFill>
                <a:latin typeface="Lucida Sans"/>
                <a:cs typeface="Lucida Sans"/>
              </a:rPr>
              <a:t>dashboard</a:t>
            </a:r>
            <a:r>
              <a:rPr sz="1500" b="1" spc="-8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450" spc="-40" dirty="0">
                <a:solidFill>
                  <a:srgbClr val="545454"/>
                </a:solidFill>
                <a:latin typeface="Verdana"/>
                <a:cs typeface="Verdana"/>
              </a:rPr>
              <a:t>accessible </a:t>
            </a:r>
            <a:r>
              <a:rPr sz="1450" spc="-10" dirty="0">
                <a:solidFill>
                  <a:srgbClr val="545454"/>
                </a:solidFill>
                <a:latin typeface="Verdana"/>
                <a:cs typeface="Verdana"/>
              </a:rPr>
              <a:t>anywhere</a:t>
            </a:r>
            <a:endParaRPr sz="1450" dirty="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62749" y="2733674"/>
            <a:ext cx="3619499" cy="3619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spc="-240" dirty="0">
                <a:latin typeface="Tahoma"/>
                <a:cs typeface="Tahoma"/>
              </a:rPr>
              <a:t>How</a:t>
            </a:r>
            <a:r>
              <a:rPr sz="3600" spc="-130" dirty="0">
                <a:latin typeface="Tahoma"/>
                <a:cs typeface="Tahoma"/>
              </a:rPr>
              <a:t> </a:t>
            </a:r>
            <a:r>
              <a:rPr sz="3600" spc="-425" dirty="0">
                <a:latin typeface="Tahoma"/>
                <a:cs typeface="Tahoma"/>
              </a:rPr>
              <a:t>It</a:t>
            </a:r>
            <a:r>
              <a:rPr sz="3600" spc="-130" dirty="0">
                <a:latin typeface="Tahoma"/>
                <a:cs typeface="Tahoma"/>
              </a:rPr>
              <a:t> </a:t>
            </a:r>
            <a:r>
              <a:rPr sz="3600" spc="-250" dirty="0">
                <a:latin typeface="Tahoma"/>
                <a:cs typeface="Tahoma"/>
              </a:rPr>
              <a:t>Works:</a:t>
            </a:r>
            <a:r>
              <a:rPr sz="3600" spc="-130" dirty="0">
                <a:latin typeface="Tahoma"/>
                <a:cs typeface="Tahoma"/>
              </a:rPr>
              <a:t> </a:t>
            </a:r>
            <a:r>
              <a:rPr sz="3600" spc="-195" dirty="0">
                <a:latin typeface="Tahoma"/>
                <a:cs typeface="Tahoma"/>
              </a:rPr>
              <a:t>Simple,</a:t>
            </a:r>
            <a:r>
              <a:rPr sz="3600" spc="-130" dirty="0">
                <a:latin typeface="Tahoma"/>
                <a:cs typeface="Tahoma"/>
              </a:rPr>
              <a:t> </a:t>
            </a:r>
            <a:r>
              <a:rPr sz="3600" spc="-190" dirty="0">
                <a:latin typeface="Tahoma"/>
                <a:cs typeface="Tahoma"/>
              </a:rPr>
              <a:t>Powerful</a:t>
            </a:r>
            <a:r>
              <a:rPr sz="3600" spc="-130" dirty="0">
                <a:latin typeface="Tahoma"/>
                <a:cs typeface="Tahoma"/>
              </a:rPr>
              <a:t> Technology</a:t>
            </a:r>
            <a:endParaRPr sz="360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2499" y="1552574"/>
            <a:ext cx="4000500" cy="2286000"/>
            <a:chOff x="952499" y="1552574"/>
            <a:chExt cx="4000500" cy="2286000"/>
          </a:xfrm>
        </p:grpSpPr>
        <p:sp>
          <p:nvSpPr>
            <p:cNvPr id="4" name="object 4"/>
            <p:cNvSpPr/>
            <p:nvPr/>
          </p:nvSpPr>
          <p:spPr>
            <a:xfrm>
              <a:off x="952499" y="1552574"/>
              <a:ext cx="4000500" cy="2286000"/>
            </a:xfrm>
            <a:custGeom>
              <a:avLst/>
              <a:gdLst/>
              <a:ahLst/>
              <a:cxnLst/>
              <a:rect l="l" t="t" r="r" b="b"/>
              <a:pathLst>
                <a:path w="4000500" h="2286000">
                  <a:moveTo>
                    <a:pt x="3929302" y="2285999"/>
                  </a:moveTo>
                  <a:lnTo>
                    <a:pt x="71196" y="2285999"/>
                  </a:lnTo>
                  <a:lnTo>
                    <a:pt x="66241" y="2285510"/>
                  </a:lnTo>
                  <a:lnTo>
                    <a:pt x="29705" y="2270376"/>
                  </a:lnTo>
                  <a:lnTo>
                    <a:pt x="3885" y="2234336"/>
                  </a:lnTo>
                  <a:lnTo>
                    <a:pt x="0" y="2214802"/>
                  </a:lnTo>
                  <a:lnTo>
                    <a:pt x="0" y="2209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929302" y="0"/>
                  </a:lnTo>
                  <a:lnTo>
                    <a:pt x="3970794" y="15621"/>
                  </a:lnTo>
                  <a:lnTo>
                    <a:pt x="3996613" y="51661"/>
                  </a:lnTo>
                  <a:lnTo>
                    <a:pt x="4000499" y="71196"/>
                  </a:lnTo>
                  <a:lnTo>
                    <a:pt x="4000499" y="2214802"/>
                  </a:lnTo>
                  <a:lnTo>
                    <a:pt x="3984877" y="2256293"/>
                  </a:lnTo>
                  <a:lnTo>
                    <a:pt x="3948837" y="2282113"/>
                  </a:lnTo>
                  <a:lnTo>
                    <a:pt x="3934257" y="2285511"/>
                  </a:lnTo>
                  <a:lnTo>
                    <a:pt x="3929302" y="228599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199582" y="2105024"/>
              <a:ext cx="1496060" cy="1191260"/>
            </a:xfrm>
            <a:custGeom>
              <a:avLst/>
              <a:gdLst/>
              <a:ahLst/>
              <a:cxnLst/>
              <a:rect l="l" t="t" r="r" b="b"/>
              <a:pathLst>
                <a:path w="1496060" h="1191260">
                  <a:moveTo>
                    <a:pt x="565762" y="163830"/>
                  </a:moveTo>
                  <a:lnTo>
                    <a:pt x="178809" y="163830"/>
                  </a:lnTo>
                  <a:lnTo>
                    <a:pt x="198573" y="148590"/>
                  </a:lnTo>
                  <a:lnTo>
                    <a:pt x="219588" y="135890"/>
                  </a:lnTo>
                  <a:lnTo>
                    <a:pt x="241763" y="123190"/>
                  </a:lnTo>
                  <a:lnTo>
                    <a:pt x="265010" y="114300"/>
                  </a:lnTo>
                  <a:lnTo>
                    <a:pt x="279536" y="44450"/>
                  </a:lnTo>
                  <a:lnTo>
                    <a:pt x="307899" y="6350"/>
                  </a:lnTo>
                  <a:lnTo>
                    <a:pt x="347342" y="0"/>
                  </a:lnTo>
                  <a:lnTo>
                    <a:pt x="397229" y="0"/>
                  </a:lnTo>
                  <a:lnTo>
                    <a:pt x="436672" y="7620"/>
                  </a:lnTo>
                  <a:lnTo>
                    <a:pt x="465035" y="44450"/>
                  </a:lnTo>
                  <a:lnTo>
                    <a:pt x="479561" y="114300"/>
                  </a:lnTo>
                  <a:lnTo>
                    <a:pt x="502707" y="123190"/>
                  </a:lnTo>
                  <a:lnTo>
                    <a:pt x="524894" y="135890"/>
                  </a:lnTo>
                  <a:lnTo>
                    <a:pt x="545964" y="148590"/>
                  </a:lnTo>
                  <a:lnTo>
                    <a:pt x="565762" y="163830"/>
                  </a:lnTo>
                  <a:close/>
                </a:path>
                <a:path w="1496060" h="1191260">
                  <a:moveTo>
                    <a:pt x="95097" y="660400"/>
                  </a:moveTo>
                  <a:lnTo>
                    <a:pt x="79064" y="657860"/>
                  </a:lnTo>
                  <a:lnTo>
                    <a:pt x="64505" y="651510"/>
                  </a:lnTo>
                  <a:lnTo>
                    <a:pt x="52603" y="640080"/>
                  </a:lnTo>
                  <a:lnTo>
                    <a:pt x="46307" y="631190"/>
                  </a:lnTo>
                  <a:lnTo>
                    <a:pt x="40280" y="623570"/>
                  </a:lnTo>
                  <a:lnTo>
                    <a:pt x="17014" y="584200"/>
                  </a:lnTo>
                  <a:lnTo>
                    <a:pt x="12389" y="574040"/>
                  </a:lnTo>
                  <a:lnTo>
                    <a:pt x="7988" y="565150"/>
                  </a:lnTo>
                  <a:lnTo>
                    <a:pt x="3787" y="556260"/>
                  </a:lnTo>
                  <a:lnTo>
                    <a:pt x="0" y="539750"/>
                  </a:lnTo>
                  <a:lnTo>
                    <a:pt x="1525" y="523240"/>
                  </a:lnTo>
                  <a:lnTo>
                    <a:pt x="7873" y="509270"/>
                  </a:lnTo>
                  <a:lnTo>
                    <a:pt x="18551" y="496570"/>
                  </a:lnTo>
                  <a:lnTo>
                    <a:pt x="71415" y="449580"/>
                  </a:lnTo>
                  <a:lnTo>
                    <a:pt x="69677" y="436880"/>
                  </a:lnTo>
                  <a:lnTo>
                    <a:pt x="68408" y="424180"/>
                  </a:lnTo>
                  <a:lnTo>
                    <a:pt x="67631" y="411480"/>
                  </a:lnTo>
                  <a:lnTo>
                    <a:pt x="67367" y="398780"/>
                  </a:lnTo>
                  <a:lnTo>
                    <a:pt x="67513" y="392430"/>
                  </a:lnTo>
                  <a:lnTo>
                    <a:pt x="67631" y="387350"/>
                  </a:lnTo>
                  <a:lnTo>
                    <a:pt x="68408" y="374650"/>
                  </a:lnTo>
                  <a:lnTo>
                    <a:pt x="69550" y="363220"/>
                  </a:lnTo>
                  <a:lnTo>
                    <a:pt x="69677" y="361950"/>
                  </a:lnTo>
                  <a:lnTo>
                    <a:pt x="71415" y="349250"/>
                  </a:lnTo>
                  <a:lnTo>
                    <a:pt x="18551" y="302260"/>
                  </a:lnTo>
                  <a:lnTo>
                    <a:pt x="7873" y="289560"/>
                  </a:lnTo>
                  <a:lnTo>
                    <a:pt x="1525" y="275590"/>
                  </a:lnTo>
                  <a:lnTo>
                    <a:pt x="0" y="259080"/>
                  </a:lnTo>
                  <a:lnTo>
                    <a:pt x="3787" y="242570"/>
                  </a:lnTo>
                  <a:lnTo>
                    <a:pt x="7988" y="233680"/>
                  </a:lnTo>
                  <a:lnTo>
                    <a:pt x="12389" y="224790"/>
                  </a:lnTo>
                  <a:lnTo>
                    <a:pt x="17014" y="214630"/>
                  </a:lnTo>
                  <a:lnTo>
                    <a:pt x="40458" y="175260"/>
                  </a:lnTo>
                  <a:lnTo>
                    <a:pt x="46441" y="167640"/>
                  </a:lnTo>
                  <a:lnTo>
                    <a:pt x="52603" y="158750"/>
                  </a:lnTo>
                  <a:lnTo>
                    <a:pt x="64505" y="147320"/>
                  </a:lnTo>
                  <a:lnTo>
                    <a:pt x="79064" y="140970"/>
                  </a:lnTo>
                  <a:lnTo>
                    <a:pt x="95097" y="138430"/>
                  </a:lnTo>
                  <a:lnTo>
                    <a:pt x="111420" y="142240"/>
                  </a:lnTo>
                  <a:lnTo>
                    <a:pt x="178809" y="163830"/>
                  </a:lnTo>
                  <a:lnTo>
                    <a:pt x="695835" y="163830"/>
                  </a:lnTo>
                  <a:lnTo>
                    <a:pt x="722448" y="205740"/>
                  </a:lnTo>
                  <a:lnTo>
                    <a:pt x="731944" y="224790"/>
                  </a:lnTo>
                  <a:lnTo>
                    <a:pt x="736345" y="233680"/>
                  </a:lnTo>
                  <a:lnTo>
                    <a:pt x="740546" y="242570"/>
                  </a:lnTo>
                  <a:lnTo>
                    <a:pt x="744334" y="259080"/>
                  </a:lnTo>
                  <a:lnTo>
                    <a:pt x="742808" y="275590"/>
                  </a:lnTo>
                  <a:lnTo>
                    <a:pt x="738769" y="284480"/>
                  </a:lnTo>
                  <a:lnTo>
                    <a:pt x="364661" y="284480"/>
                  </a:lnTo>
                  <a:lnTo>
                    <a:pt x="342507" y="288290"/>
                  </a:lnTo>
                  <a:lnTo>
                    <a:pt x="335360" y="290830"/>
                  </a:lnTo>
                  <a:lnTo>
                    <a:pt x="321492" y="297180"/>
                  </a:lnTo>
                  <a:lnTo>
                    <a:pt x="314905" y="299720"/>
                  </a:lnTo>
                  <a:lnTo>
                    <a:pt x="281299" y="330200"/>
                  </a:lnTo>
                  <a:lnTo>
                    <a:pt x="261527" y="369570"/>
                  </a:lnTo>
                  <a:lnTo>
                    <a:pt x="257867" y="392430"/>
                  </a:lnTo>
                  <a:lnTo>
                    <a:pt x="257867" y="406400"/>
                  </a:lnTo>
                  <a:lnTo>
                    <a:pt x="269439" y="449580"/>
                  </a:lnTo>
                  <a:lnTo>
                    <a:pt x="296651" y="485140"/>
                  </a:lnTo>
                  <a:lnTo>
                    <a:pt x="321492" y="501650"/>
                  </a:lnTo>
                  <a:lnTo>
                    <a:pt x="335360" y="508000"/>
                  </a:lnTo>
                  <a:lnTo>
                    <a:pt x="342507" y="510540"/>
                  </a:lnTo>
                  <a:lnTo>
                    <a:pt x="357229" y="513080"/>
                  </a:lnTo>
                  <a:lnTo>
                    <a:pt x="737715" y="513080"/>
                  </a:lnTo>
                  <a:lnTo>
                    <a:pt x="742332" y="523240"/>
                  </a:lnTo>
                  <a:lnTo>
                    <a:pt x="735869" y="565150"/>
                  </a:lnTo>
                  <a:lnTo>
                    <a:pt x="726842" y="582930"/>
                  </a:lnTo>
                  <a:lnTo>
                    <a:pt x="721972" y="593090"/>
                  </a:lnTo>
                  <a:lnTo>
                    <a:pt x="714590" y="605790"/>
                  </a:lnTo>
                  <a:lnTo>
                    <a:pt x="709102" y="614680"/>
                  </a:lnTo>
                  <a:lnTo>
                    <a:pt x="703369" y="623570"/>
                  </a:lnTo>
                  <a:lnTo>
                    <a:pt x="697412" y="631190"/>
                  </a:lnTo>
                  <a:lnTo>
                    <a:pt x="694773" y="635000"/>
                  </a:lnTo>
                  <a:lnTo>
                    <a:pt x="178571" y="635000"/>
                  </a:lnTo>
                  <a:lnTo>
                    <a:pt x="111420" y="656590"/>
                  </a:lnTo>
                  <a:lnTo>
                    <a:pt x="95097" y="660400"/>
                  </a:lnTo>
                  <a:close/>
                </a:path>
                <a:path w="1496060" h="1191260">
                  <a:moveTo>
                    <a:pt x="695835" y="163830"/>
                  </a:moveTo>
                  <a:lnTo>
                    <a:pt x="565762" y="163830"/>
                  </a:lnTo>
                  <a:lnTo>
                    <a:pt x="632913" y="140970"/>
                  </a:lnTo>
                  <a:lnTo>
                    <a:pt x="649236" y="138430"/>
                  </a:lnTo>
                  <a:lnTo>
                    <a:pt x="665269" y="140970"/>
                  </a:lnTo>
                  <a:lnTo>
                    <a:pt x="679828" y="147320"/>
                  </a:lnTo>
                  <a:lnTo>
                    <a:pt x="691730" y="158750"/>
                  </a:lnTo>
                  <a:lnTo>
                    <a:pt x="695835" y="163830"/>
                  </a:lnTo>
                  <a:close/>
                </a:path>
                <a:path w="1496060" h="1191260">
                  <a:moveTo>
                    <a:pt x="737715" y="513080"/>
                  </a:moveTo>
                  <a:lnTo>
                    <a:pt x="387104" y="513080"/>
                  </a:lnTo>
                  <a:lnTo>
                    <a:pt x="401826" y="510540"/>
                  </a:lnTo>
                  <a:lnTo>
                    <a:pt x="408973" y="508000"/>
                  </a:lnTo>
                  <a:lnTo>
                    <a:pt x="422841" y="501650"/>
                  </a:lnTo>
                  <a:lnTo>
                    <a:pt x="429428" y="499110"/>
                  </a:lnTo>
                  <a:lnTo>
                    <a:pt x="441908" y="490220"/>
                  </a:lnTo>
                  <a:lnTo>
                    <a:pt x="471373" y="457200"/>
                  </a:lnTo>
                  <a:lnTo>
                    <a:pt x="485734" y="414020"/>
                  </a:lnTo>
                  <a:lnTo>
                    <a:pt x="486466" y="406400"/>
                  </a:lnTo>
                  <a:lnTo>
                    <a:pt x="486466" y="392430"/>
                  </a:lnTo>
                  <a:lnTo>
                    <a:pt x="474894" y="349250"/>
                  </a:lnTo>
                  <a:lnTo>
                    <a:pt x="447682" y="313690"/>
                  </a:lnTo>
                  <a:lnTo>
                    <a:pt x="422841" y="297180"/>
                  </a:lnTo>
                  <a:lnTo>
                    <a:pt x="408973" y="290830"/>
                  </a:lnTo>
                  <a:lnTo>
                    <a:pt x="401826" y="288290"/>
                  </a:lnTo>
                  <a:lnTo>
                    <a:pt x="379672" y="284480"/>
                  </a:lnTo>
                  <a:lnTo>
                    <a:pt x="738769" y="284480"/>
                  </a:lnTo>
                  <a:lnTo>
                    <a:pt x="736461" y="289560"/>
                  </a:lnTo>
                  <a:lnTo>
                    <a:pt x="725782" y="302260"/>
                  </a:lnTo>
                  <a:lnTo>
                    <a:pt x="725306" y="302260"/>
                  </a:lnTo>
                  <a:lnTo>
                    <a:pt x="672442" y="349250"/>
                  </a:lnTo>
                  <a:lnTo>
                    <a:pt x="676252" y="387350"/>
                  </a:lnTo>
                  <a:lnTo>
                    <a:pt x="676490" y="398780"/>
                  </a:lnTo>
                  <a:lnTo>
                    <a:pt x="676332" y="406400"/>
                  </a:lnTo>
                  <a:lnTo>
                    <a:pt x="676226" y="411480"/>
                  </a:lnTo>
                  <a:lnTo>
                    <a:pt x="675448" y="424180"/>
                  </a:lnTo>
                  <a:lnTo>
                    <a:pt x="674307" y="435610"/>
                  </a:lnTo>
                  <a:lnTo>
                    <a:pt x="674180" y="436880"/>
                  </a:lnTo>
                  <a:lnTo>
                    <a:pt x="672442" y="448310"/>
                  </a:lnTo>
                  <a:lnTo>
                    <a:pt x="725306" y="496570"/>
                  </a:lnTo>
                  <a:lnTo>
                    <a:pt x="735984" y="509270"/>
                  </a:lnTo>
                  <a:lnTo>
                    <a:pt x="737715" y="513080"/>
                  </a:lnTo>
                  <a:close/>
                </a:path>
                <a:path w="1496060" h="1191260">
                  <a:moveTo>
                    <a:pt x="955755" y="1189990"/>
                  </a:moveTo>
                  <a:lnTo>
                    <a:pt x="939857" y="1186180"/>
                  </a:lnTo>
                  <a:lnTo>
                    <a:pt x="930439" y="1182370"/>
                  </a:lnTo>
                  <a:lnTo>
                    <a:pt x="921134" y="1177290"/>
                  </a:lnTo>
                  <a:lnTo>
                    <a:pt x="911962" y="1173480"/>
                  </a:lnTo>
                  <a:lnTo>
                    <a:pt x="902947" y="1168400"/>
                  </a:lnTo>
                  <a:lnTo>
                    <a:pt x="890088" y="1160780"/>
                  </a:lnTo>
                  <a:lnTo>
                    <a:pt x="881107" y="1155700"/>
                  </a:lnTo>
                  <a:lnTo>
                    <a:pt x="872348" y="1149350"/>
                  </a:lnTo>
                  <a:lnTo>
                    <a:pt x="863768" y="1144270"/>
                  </a:lnTo>
                  <a:lnTo>
                    <a:pt x="855322" y="1137920"/>
                  </a:lnTo>
                  <a:lnTo>
                    <a:pt x="844041" y="1125220"/>
                  </a:lnTo>
                  <a:lnTo>
                    <a:pt x="837403" y="1111250"/>
                  </a:lnTo>
                  <a:lnTo>
                    <a:pt x="835498" y="1094740"/>
                  </a:lnTo>
                  <a:lnTo>
                    <a:pt x="838415" y="1078230"/>
                  </a:lnTo>
                  <a:lnTo>
                    <a:pt x="860561" y="1012190"/>
                  </a:lnTo>
                  <a:lnTo>
                    <a:pt x="845619" y="991870"/>
                  </a:lnTo>
                  <a:lnTo>
                    <a:pt x="832284" y="970280"/>
                  </a:lnTo>
                  <a:lnTo>
                    <a:pt x="820645" y="948690"/>
                  </a:lnTo>
                  <a:lnTo>
                    <a:pt x="810793" y="925830"/>
                  </a:lnTo>
                  <a:lnTo>
                    <a:pt x="741498" y="910590"/>
                  </a:lnTo>
                  <a:lnTo>
                    <a:pt x="703759" y="882650"/>
                  </a:lnTo>
                  <a:lnTo>
                    <a:pt x="696969" y="843280"/>
                  </a:lnTo>
                  <a:lnTo>
                    <a:pt x="696540" y="833120"/>
                  </a:lnTo>
                  <a:lnTo>
                    <a:pt x="696540" y="803910"/>
                  </a:lnTo>
                  <a:lnTo>
                    <a:pt x="696755" y="798830"/>
                  </a:lnTo>
                  <a:lnTo>
                    <a:pt x="696862" y="796290"/>
                  </a:lnTo>
                  <a:lnTo>
                    <a:pt x="696969" y="793750"/>
                  </a:lnTo>
                  <a:lnTo>
                    <a:pt x="703726" y="754380"/>
                  </a:lnTo>
                  <a:lnTo>
                    <a:pt x="741498" y="725170"/>
                  </a:lnTo>
                  <a:lnTo>
                    <a:pt x="810793" y="711200"/>
                  </a:lnTo>
                  <a:lnTo>
                    <a:pt x="820545" y="688340"/>
                  </a:lnTo>
                  <a:lnTo>
                    <a:pt x="832194" y="665480"/>
                  </a:lnTo>
                  <a:lnTo>
                    <a:pt x="845585" y="645160"/>
                  </a:lnTo>
                  <a:lnTo>
                    <a:pt x="860561" y="624840"/>
                  </a:lnTo>
                  <a:lnTo>
                    <a:pt x="838415" y="557530"/>
                  </a:lnTo>
                  <a:lnTo>
                    <a:pt x="835498" y="542290"/>
                  </a:lnTo>
                  <a:lnTo>
                    <a:pt x="837403" y="525780"/>
                  </a:lnTo>
                  <a:lnTo>
                    <a:pt x="844041" y="510540"/>
                  </a:lnTo>
                  <a:lnTo>
                    <a:pt x="855322" y="499110"/>
                  </a:lnTo>
                  <a:lnTo>
                    <a:pt x="863768" y="492760"/>
                  </a:lnTo>
                  <a:lnTo>
                    <a:pt x="872348" y="486410"/>
                  </a:lnTo>
                  <a:lnTo>
                    <a:pt x="881107" y="481330"/>
                  </a:lnTo>
                  <a:lnTo>
                    <a:pt x="890089" y="474980"/>
                  </a:lnTo>
                  <a:lnTo>
                    <a:pt x="902471" y="468630"/>
                  </a:lnTo>
                  <a:lnTo>
                    <a:pt x="920866" y="458470"/>
                  </a:lnTo>
                  <a:lnTo>
                    <a:pt x="939619" y="450850"/>
                  </a:lnTo>
                  <a:lnTo>
                    <a:pt x="955651" y="447040"/>
                  </a:lnTo>
                  <a:lnTo>
                    <a:pt x="971617" y="448310"/>
                  </a:lnTo>
                  <a:lnTo>
                    <a:pt x="986466" y="454660"/>
                  </a:lnTo>
                  <a:lnTo>
                    <a:pt x="999150" y="464820"/>
                  </a:lnTo>
                  <a:lnTo>
                    <a:pt x="1046299" y="518160"/>
                  </a:lnTo>
                  <a:lnTo>
                    <a:pt x="1351649" y="518160"/>
                  </a:lnTo>
                  <a:lnTo>
                    <a:pt x="1354968" y="525780"/>
                  </a:lnTo>
                  <a:lnTo>
                    <a:pt x="1356873" y="542290"/>
                  </a:lnTo>
                  <a:lnTo>
                    <a:pt x="1353956" y="557530"/>
                  </a:lnTo>
                  <a:lnTo>
                    <a:pt x="1331810" y="624840"/>
                  </a:lnTo>
                  <a:lnTo>
                    <a:pt x="1346753" y="645160"/>
                  </a:lnTo>
                  <a:lnTo>
                    <a:pt x="1360088" y="665480"/>
                  </a:lnTo>
                  <a:lnTo>
                    <a:pt x="1371726" y="688340"/>
                  </a:lnTo>
                  <a:lnTo>
                    <a:pt x="1378294" y="703580"/>
                  </a:lnTo>
                  <a:lnTo>
                    <a:pt x="1088561" y="703580"/>
                  </a:lnTo>
                  <a:lnTo>
                    <a:pt x="1066407" y="707390"/>
                  </a:lnTo>
                  <a:lnTo>
                    <a:pt x="1059259" y="709930"/>
                  </a:lnTo>
                  <a:lnTo>
                    <a:pt x="1045392" y="716280"/>
                  </a:lnTo>
                  <a:lnTo>
                    <a:pt x="1038805" y="718820"/>
                  </a:lnTo>
                  <a:lnTo>
                    <a:pt x="1005199" y="749300"/>
                  </a:lnTo>
                  <a:lnTo>
                    <a:pt x="985427" y="788670"/>
                  </a:lnTo>
                  <a:lnTo>
                    <a:pt x="981766" y="811530"/>
                  </a:lnTo>
                  <a:lnTo>
                    <a:pt x="981766" y="825500"/>
                  </a:lnTo>
                  <a:lnTo>
                    <a:pt x="993339" y="868680"/>
                  </a:lnTo>
                  <a:lnTo>
                    <a:pt x="1020551" y="904240"/>
                  </a:lnTo>
                  <a:lnTo>
                    <a:pt x="1045392" y="920750"/>
                  </a:lnTo>
                  <a:lnTo>
                    <a:pt x="1059259" y="927100"/>
                  </a:lnTo>
                  <a:lnTo>
                    <a:pt x="1066407" y="929640"/>
                  </a:lnTo>
                  <a:lnTo>
                    <a:pt x="1081128" y="932180"/>
                  </a:lnTo>
                  <a:lnTo>
                    <a:pt x="1378869" y="932180"/>
                  </a:lnTo>
                  <a:lnTo>
                    <a:pt x="1371826" y="948690"/>
                  </a:lnTo>
                  <a:lnTo>
                    <a:pt x="1360177" y="971550"/>
                  </a:lnTo>
                  <a:lnTo>
                    <a:pt x="1346786" y="991870"/>
                  </a:lnTo>
                  <a:lnTo>
                    <a:pt x="1331810" y="1012190"/>
                  </a:lnTo>
                  <a:lnTo>
                    <a:pt x="1353956" y="1079500"/>
                  </a:lnTo>
                  <a:lnTo>
                    <a:pt x="1356873" y="1096010"/>
                  </a:lnTo>
                  <a:lnTo>
                    <a:pt x="1354968" y="1111250"/>
                  </a:lnTo>
                  <a:lnTo>
                    <a:pt x="1351649" y="1118870"/>
                  </a:lnTo>
                  <a:lnTo>
                    <a:pt x="1046536" y="1118870"/>
                  </a:lnTo>
                  <a:lnTo>
                    <a:pt x="999388" y="1172210"/>
                  </a:lnTo>
                  <a:lnTo>
                    <a:pt x="986570" y="1182370"/>
                  </a:lnTo>
                  <a:lnTo>
                    <a:pt x="971676" y="1188720"/>
                  </a:lnTo>
                  <a:lnTo>
                    <a:pt x="955755" y="1189990"/>
                  </a:lnTo>
                  <a:close/>
                </a:path>
                <a:path w="1496060" h="1191260">
                  <a:moveTo>
                    <a:pt x="1351649" y="518160"/>
                  </a:moveTo>
                  <a:lnTo>
                    <a:pt x="1145835" y="518160"/>
                  </a:lnTo>
                  <a:lnTo>
                    <a:pt x="1192983" y="464820"/>
                  </a:lnTo>
                  <a:lnTo>
                    <a:pt x="1205801" y="454660"/>
                  </a:lnTo>
                  <a:lnTo>
                    <a:pt x="1220695" y="448310"/>
                  </a:lnTo>
                  <a:lnTo>
                    <a:pt x="1236616" y="447040"/>
                  </a:lnTo>
                  <a:lnTo>
                    <a:pt x="1252515" y="450850"/>
                  </a:lnTo>
                  <a:lnTo>
                    <a:pt x="1271446" y="458470"/>
                  </a:lnTo>
                  <a:lnTo>
                    <a:pt x="1280643" y="463550"/>
                  </a:lnTo>
                  <a:lnTo>
                    <a:pt x="1289662" y="468630"/>
                  </a:lnTo>
                  <a:lnTo>
                    <a:pt x="1302283" y="474980"/>
                  </a:lnTo>
                  <a:lnTo>
                    <a:pt x="1311164" y="481330"/>
                  </a:lnTo>
                  <a:lnTo>
                    <a:pt x="1319934" y="486410"/>
                  </a:lnTo>
                  <a:lnTo>
                    <a:pt x="1328569" y="492760"/>
                  </a:lnTo>
                  <a:lnTo>
                    <a:pt x="1337049" y="499110"/>
                  </a:lnTo>
                  <a:lnTo>
                    <a:pt x="1348330" y="510540"/>
                  </a:lnTo>
                  <a:lnTo>
                    <a:pt x="1351649" y="518160"/>
                  </a:lnTo>
                  <a:close/>
                </a:path>
                <a:path w="1496060" h="1191260">
                  <a:moveTo>
                    <a:pt x="1145835" y="518160"/>
                  </a:moveTo>
                  <a:lnTo>
                    <a:pt x="1046299" y="518160"/>
                  </a:lnTo>
                  <a:lnTo>
                    <a:pt x="1083435" y="514350"/>
                  </a:lnTo>
                  <a:lnTo>
                    <a:pt x="1108698" y="514350"/>
                  </a:lnTo>
                  <a:lnTo>
                    <a:pt x="1145835" y="518160"/>
                  </a:lnTo>
                  <a:close/>
                </a:path>
                <a:path w="1496060" h="1191260">
                  <a:moveTo>
                    <a:pt x="396396" y="798830"/>
                  </a:moveTo>
                  <a:lnTo>
                    <a:pt x="347461" y="798830"/>
                  </a:lnTo>
                  <a:lnTo>
                    <a:pt x="323351" y="796290"/>
                  </a:lnTo>
                  <a:lnTo>
                    <a:pt x="284942" y="769620"/>
                  </a:lnTo>
                  <a:lnTo>
                    <a:pt x="264772" y="684530"/>
                  </a:lnTo>
                  <a:lnTo>
                    <a:pt x="241626" y="674370"/>
                  </a:lnTo>
                  <a:lnTo>
                    <a:pt x="219439" y="662940"/>
                  </a:lnTo>
                  <a:lnTo>
                    <a:pt x="198369" y="650240"/>
                  </a:lnTo>
                  <a:lnTo>
                    <a:pt x="178571" y="635000"/>
                  </a:lnTo>
                  <a:lnTo>
                    <a:pt x="565286" y="635000"/>
                  </a:lnTo>
                  <a:lnTo>
                    <a:pt x="545521" y="650240"/>
                  </a:lnTo>
                  <a:lnTo>
                    <a:pt x="524507" y="662940"/>
                  </a:lnTo>
                  <a:lnTo>
                    <a:pt x="502332" y="674370"/>
                  </a:lnTo>
                  <a:lnTo>
                    <a:pt x="479085" y="684530"/>
                  </a:lnTo>
                  <a:lnTo>
                    <a:pt x="464559" y="754380"/>
                  </a:lnTo>
                  <a:lnTo>
                    <a:pt x="458915" y="769620"/>
                  </a:lnTo>
                  <a:lnTo>
                    <a:pt x="449230" y="782320"/>
                  </a:lnTo>
                  <a:lnTo>
                    <a:pt x="436196" y="791210"/>
                  </a:lnTo>
                  <a:lnTo>
                    <a:pt x="420506" y="796290"/>
                  </a:lnTo>
                  <a:lnTo>
                    <a:pt x="396396" y="798830"/>
                  </a:lnTo>
                  <a:close/>
                </a:path>
                <a:path w="1496060" h="1191260">
                  <a:moveTo>
                    <a:pt x="648760" y="660400"/>
                  </a:moveTo>
                  <a:lnTo>
                    <a:pt x="632437" y="656590"/>
                  </a:lnTo>
                  <a:lnTo>
                    <a:pt x="565286" y="635000"/>
                  </a:lnTo>
                  <a:lnTo>
                    <a:pt x="694773" y="635000"/>
                  </a:lnTo>
                  <a:lnTo>
                    <a:pt x="691254" y="640080"/>
                  </a:lnTo>
                  <a:lnTo>
                    <a:pt x="679351" y="651510"/>
                  </a:lnTo>
                  <a:lnTo>
                    <a:pt x="664792" y="657860"/>
                  </a:lnTo>
                  <a:lnTo>
                    <a:pt x="648760" y="660400"/>
                  </a:lnTo>
                  <a:close/>
                </a:path>
                <a:path w="1496060" h="1191260">
                  <a:moveTo>
                    <a:pt x="1378869" y="932180"/>
                  </a:moveTo>
                  <a:lnTo>
                    <a:pt x="1111004" y="932180"/>
                  </a:lnTo>
                  <a:lnTo>
                    <a:pt x="1125726" y="929640"/>
                  </a:lnTo>
                  <a:lnTo>
                    <a:pt x="1132873" y="927100"/>
                  </a:lnTo>
                  <a:lnTo>
                    <a:pt x="1146741" y="920750"/>
                  </a:lnTo>
                  <a:lnTo>
                    <a:pt x="1153328" y="918210"/>
                  </a:lnTo>
                  <a:lnTo>
                    <a:pt x="1165808" y="909320"/>
                  </a:lnTo>
                  <a:lnTo>
                    <a:pt x="1195273" y="876300"/>
                  </a:lnTo>
                  <a:lnTo>
                    <a:pt x="1209634" y="833120"/>
                  </a:lnTo>
                  <a:lnTo>
                    <a:pt x="1210366" y="825500"/>
                  </a:lnTo>
                  <a:lnTo>
                    <a:pt x="1210366" y="811530"/>
                  </a:lnTo>
                  <a:lnTo>
                    <a:pt x="1198794" y="768350"/>
                  </a:lnTo>
                  <a:lnTo>
                    <a:pt x="1171582" y="732790"/>
                  </a:lnTo>
                  <a:lnTo>
                    <a:pt x="1146741" y="716280"/>
                  </a:lnTo>
                  <a:lnTo>
                    <a:pt x="1132873" y="709930"/>
                  </a:lnTo>
                  <a:lnTo>
                    <a:pt x="1125726" y="707390"/>
                  </a:lnTo>
                  <a:lnTo>
                    <a:pt x="1103572" y="703580"/>
                  </a:lnTo>
                  <a:lnTo>
                    <a:pt x="1378294" y="703580"/>
                  </a:lnTo>
                  <a:lnTo>
                    <a:pt x="1381578" y="711200"/>
                  </a:lnTo>
                  <a:lnTo>
                    <a:pt x="1450873" y="726440"/>
                  </a:lnTo>
                  <a:lnTo>
                    <a:pt x="1466369" y="731520"/>
                  </a:lnTo>
                  <a:lnTo>
                    <a:pt x="1493259" y="769620"/>
                  </a:lnTo>
                  <a:lnTo>
                    <a:pt x="1495831" y="803910"/>
                  </a:lnTo>
                  <a:lnTo>
                    <a:pt x="1495831" y="833120"/>
                  </a:lnTo>
                  <a:lnTo>
                    <a:pt x="1488645" y="882650"/>
                  </a:lnTo>
                  <a:lnTo>
                    <a:pt x="1450873" y="911860"/>
                  </a:lnTo>
                  <a:lnTo>
                    <a:pt x="1381578" y="925830"/>
                  </a:lnTo>
                  <a:lnTo>
                    <a:pt x="1378869" y="932180"/>
                  </a:lnTo>
                  <a:close/>
                </a:path>
                <a:path w="1496060" h="1191260">
                  <a:moveTo>
                    <a:pt x="1108936" y="1122680"/>
                  </a:moveTo>
                  <a:lnTo>
                    <a:pt x="1083673" y="1122680"/>
                  </a:lnTo>
                  <a:lnTo>
                    <a:pt x="1046536" y="1118870"/>
                  </a:lnTo>
                  <a:lnTo>
                    <a:pt x="1146073" y="1118870"/>
                  </a:lnTo>
                  <a:lnTo>
                    <a:pt x="1108936" y="1122680"/>
                  </a:lnTo>
                  <a:close/>
                </a:path>
                <a:path w="1496060" h="1191260">
                  <a:moveTo>
                    <a:pt x="1236482" y="1191260"/>
                  </a:moveTo>
                  <a:lnTo>
                    <a:pt x="1220517" y="1188720"/>
                  </a:lnTo>
                  <a:lnTo>
                    <a:pt x="1205667" y="1182370"/>
                  </a:lnTo>
                  <a:lnTo>
                    <a:pt x="1193799" y="1172863"/>
                  </a:lnTo>
                  <a:lnTo>
                    <a:pt x="1146073" y="1118870"/>
                  </a:lnTo>
                  <a:lnTo>
                    <a:pt x="1351649" y="1118870"/>
                  </a:lnTo>
                  <a:lnTo>
                    <a:pt x="1319934" y="1150620"/>
                  </a:lnTo>
                  <a:lnTo>
                    <a:pt x="1302283" y="1160780"/>
                  </a:lnTo>
                  <a:lnTo>
                    <a:pt x="1289424" y="1168400"/>
                  </a:lnTo>
                  <a:lnTo>
                    <a:pt x="1271237" y="1178560"/>
                  </a:lnTo>
                  <a:lnTo>
                    <a:pt x="1261932" y="1182370"/>
                  </a:lnTo>
                  <a:lnTo>
                    <a:pt x="1252515" y="1187450"/>
                  </a:lnTo>
                  <a:lnTo>
                    <a:pt x="1236482" y="1191260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42825" y="1523449"/>
            <a:ext cx="4928235" cy="968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95"/>
              </a:spcBef>
            </a:pP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Our</a:t>
            </a:r>
            <a:r>
              <a:rPr sz="1800" spc="-5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0" dirty="0">
                <a:solidFill>
                  <a:srgbClr val="444444"/>
                </a:solidFill>
                <a:latin typeface="Century Gothic"/>
                <a:cs typeface="Century Gothic"/>
              </a:rPr>
              <a:t>affordable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444444"/>
                </a:solidFill>
                <a:latin typeface="Century Gothic"/>
                <a:cs typeface="Century Gothic"/>
              </a:rPr>
              <a:t>AI-</a:t>
            </a:r>
            <a:r>
              <a:rPr sz="1800" spc="-110" dirty="0">
                <a:solidFill>
                  <a:srgbClr val="444444"/>
                </a:solidFill>
                <a:latin typeface="Century Gothic"/>
                <a:cs typeface="Century Gothic"/>
              </a:rPr>
              <a:t>powered</a:t>
            </a:r>
            <a:r>
              <a:rPr sz="1800" spc="-5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system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transforms </a:t>
            </a:r>
            <a:r>
              <a:rPr sz="1800" spc="-80" dirty="0">
                <a:solidFill>
                  <a:srgbClr val="444444"/>
                </a:solidFill>
                <a:latin typeface="Century Gothic"/>
                <a:cs typeface="Century Gothic"/>
              </a:rPr>
              <a:t>complex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industrial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60" dirty="0">
                <a:solidFill>
                  <a:srgbClr val="444444"/>
                </a:solidFill>
                <a:latin typeface="Century Gothic"/>
                <a:cs typeface="Century Gothic"/>
              </a:rPr>
              <a:t>data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into</a:t>
            </a:r>
            <a:r>
              <a:rPr sz="1800" spc="-2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444444"/>
                </a:solidFill>
                <a:latin typeface="Century Gothic"/>
                <a:cs typeface="Century Gothic"/>
              </a:rPr>
              <a:t>simple,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95" dirty="0">
                <a:solidFill>
                  <a:srgbClr val="444444"/>
                </a:solidFill>
                <a:latin typeface="Century Gothic"/>
                <a:cs typeface="Century Gothic"/>
              </a:rPr>
              <a:t>actionable </a:t>
            </a:r>
            <a:r>
              <a:rPr sz="1800" spc="45" dirty="0">
                <a:solidFill>
                  <a:srgbClr val="444444"/>
                </a:solidFill>
                <a:latin typeface="Century Gothic"/>
                <a:cs typeface="Century Gothic"/>
              </a:rPr>
              <a:t>insights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-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80" dirty="0">
                <a:solidFill>
                  <a:srgbClr val="444444"/>
                </a:solidFill>
                <a:latin typeface="Century Gothic"/>
                <a:cs typeface="Century Gothic"/>
              </a:rPr>
              <a:t>no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90" dirty="0">
                <a:solidFill>
                  <a:srgbClr val="444444"/>
                </a:solidFill>
                <a:latin typeface="Century Gothic"/>
                <a:cs typeface="Century Gothic"/>
              </a:rPr>
              <a:t>technical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35" dirty="0">
                <a:solidFill>
                  <a:srgbClr val="444444"/>
                </a:solidFill>
                <a:latin typeface="Century Gothic"/>
                <a:cs typeface="Century Gothic"/>
              </a:rPr>
              <a:t>expertise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required.</a:t>
            </a:r>
            <a:endParaRPr sz="1800" dirty="0">
              <a:latin typeface="Century Gothic"/>
              <a:cs typeface="Century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20394" y="2636021"/>
            <a:ext cx="2466975" cy="1285875"/>
            <a:chOff x="6095999" y="2876549"/>
            <a:chExt cx="2466975" cy="1285875"/>
          </a:xfrm>
        </p:grpSpPr>
        <p:sp>
          <p:nvSpPr>
            <p:cNvPr id="8" name="object 8"/>
            <p:cNvSpPr/>
            <p:nvPr/>
          </p:nvSpPr>
          <p:spPr>
            <a:xfrm>
              <a:off x="6115049" y="2876549"/>
              <a:ext cx="2447925" cy="1285875"/>
            </a:xfrm>
            <a:custGeom>
              <a:avLst/>
              <a:gdLst/>
              <a:ahLst/>
              <a:cxnLst/>
              <a:rect l="l" t="t" r="r" b="b"/>
              <a:pathLst>
                <a:path w="2447925" h="1285875">
                  <a:moveTo>
                    <a:pt x="2376727" y="1285874"/>
                  </a:moveTo>
                  <a:lnTo>
                    <a:pt x="0" y="1285874"/>
                  </a:lnTo>
                  <a:lnTo>
                    <a:pt x="0" y="0"/>
                  </a:lnTo>
                  <a:lnTo>
                    <a:pt x="2376727" y="0"/>
                  </a:lnTo>
                  <a:lnTo>
                    <a:pt x="2381682" y="488"/>
                  </a:lnTo>
                  <a:lnTo>
                    <a:pt x="2418218" y="15621"/>
                  </a:lnTo>
                  <a:lnTo>
                    <a:pt x="2444037" y="51661"/>
                  </a:lnTo>
                  <a:lnTo>
                    <a:pt x="2447924" y="71196"/>
                  </a:lnTo>
                  <a:lnTo>
                    <a:pt x="2447924" y="1214678"/>
                  </a:lnTo>
                  <a:lnTo>
                    <a:pt x="2432301" y="1256168"/>
                  </a:lnTo>
                  <a:lnTo>
                    <a:pt x="2396262" y="1281988"/>
                  </a:lnTo>
                  <a:lnTo>
                    <a:pt x="2376727" y="12858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6095987" y="2876549"/>
              <a:ext cx="528955" cy="1285875"/>
            </a:xfrm>
            <a:custGeom>
              <a:avLst/>
              <a:gdLst/>
              <a:ahLst/>
              <a:cxnLst/>
              <a:rect l="l" t="t" r="r" b="b"/>
              <a:pathLst>
                <a:path w="528954" h="1285875">
                  <a:moveTo>
                    <a:pt x="38100" y="0"/>
                  </a:moveTo>
                  <a:lnTo>
                    <a:pt x="0" y="0"/>
                  </a:lnTo>
                  <a:lnTo>
                    <a:pt x="0" y="1285875"/>
                  </a:lnTo>
                  <a:lnTo>
                    <a:pt x="38100" y="1285875"/>
                  </a:lnTo>
                  <a:lnTo>
                    <a:pt x="38100" y="0"/>
                  </a:lnTo>
                  <a:close/>
                </a:path>
                <a:path w="528954" h="1285875">
                  <a:moveTo>
                    <a:pt x="385762" y="503288"/>
                  </a:moveTo>
                  <a:lnTo>
                    <a:pt x="377786" y="495300"/>
                  </a:lnTo>
                  <a:lnTo>
                    <a:pt x="358025" y="495300"/>
                  </a:lnTo>
                  <a:lnTo>
                    <a:pt x="350050" y="503288"/>
                  </a:lnTo>
                  <a:lnTo>
                    <a:pt x="350050" y="566737"/>
                  </a:lnTo>
                  <a:lnTo>
                    <a:pt x="385762" y="566737"/>
                  </a:lnTo>
                  <a:lnTo>
                    <a:pt x="385762" y="503288"/>
                  </a:lnTo>
                  <a:close/>
                </a:path>
                <a:path w="528954" h="1285875">
                  <a:moveTo>
                    <a:pt x="492925" y="503288"/>
                  </a:moveTo>
                  <a:lnTo>
                    <a:pt x="484949" y="495300"/>
                  </a:lnTo>
                  <a:lnTo>
                    <a:pt x="465188" y="495300"/>
                  </a:lnTo>
                  <a:lnTo>
                    <a:pt x="457200" y="503288"/>
                  </a:lnTo>
                  <a:lnTo>
                    <a:pt x="457200" y="566737"/>
                  </a:lnTo>
                  <a:lnTo>
                    <a:pt x="492925" y="566737"/>
                  </a:lnTo>
                  <a:lnTo>
                    <a:pt x="492925" y="503288"/>
                  </a:lnTo>
                  <a:close/>
                </a:path>
                <a:path w="528954" h="1285875">
                  <a:moveTo>
                    <a:pt x="528637" y="592582"/>
                  </a:moveTo>
                  <a:lnTo>
                    <a:pt x="520661" y="584606"/>
                  </a:lnTo>
                  <a:lnTo>
                    <a:pt x="322313" y="584606"/>
                  </a:lnTo>
                  <a:lnTo>
                    <a:pt x="314325" y="592582"/>
                  </a:lnTo>
                  <a:lnTo>
                    <a:pt x="314325" y="612343"/>
                  </a:lnTo>
                  <a:lnTo>
                    <a:pt x="322313" y="620318"/>
                  </a:lnTo>
                  <a:lnTo>
                    <a:pt x="332193" y="620318"/>
                  </a:lnTo>
                  <a:lnTo>
                    <a:pt x="332193" y="638175"/>
                  </a:lnTo>
                  <a:lnTo>
                    <a:pt x="337629" y="668921"/>
                  </a:lnTo>
                  <a:lnTo>
                    <a:pt x="352628" y="695032"/>
                  </a:lnTo>
                  <a:lnTo>
                    <a:pt x="375272" y="714603"/>
                  </a:lnTo>
                  <a:lnTo>
                    <a:pt x="403631" y="725690"/>
                  </a:lnTo>
                  <a:lnTo>
                    <a:pt x="403631" y="773074"/>
                  </a:lnTo>
                  <a:lnTo>
                    <a:pt x="411607" y="781050"/>
                  </a:lnTo>
                  <a:lnTo>
                    <a:pt x="431368" y="781050"/>
                  </a:lnTo>
                  <a:lnTo>
                    <a:pt x="439343" y="773074"/>
                  </a:lnTo>
                  <a:lnTo>
                    <a:pt x="439343" y="725690"/>
                  </a:lnTo>
                  <a:lnTo>
                    <a:pt x="467702" y="714603"/>
                  </a:lnTo>
                  <a:lnTo>
                    <a:pt x="490347" y="695032"/>
                  </a:lnTo>
                  <a:lnTo>
                    <a:pt x="505345" y="668921"/>
                  </a:lnTo>
                  <a:lnTo>
                    <a:pt x="510781" y="638175"/>
                  </a:lnTo>
                  <a:lnTo>
                    <a:pt x="510781" y="620318"/>
                  </a:lnTo>
                  <a:lnTo>
                    <a:pt x="520661" y="620318"/>
                  </a:lnTo>
                  <a:lnTo>
                    <a:pt x="528637" y="612343"/>
                  </a:lnTo>
                  <a:lnTo>
                    <a:pt x="528637" y="592582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60170" y="2681445"/>
            <a:ext cx="1388110" cy="10680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Easy</a:t>
            </a:r>
            <a:r>
              <a:rPr sz="15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0" dirty="0">
                <a:solidFill>
                  <a:srgbClr val="0056B3"/>
                </a:solidFill>
                <a:latin typeface="Lucida Sans"/>
                <a:cs typeface="Lucida Sans"/>
              </a:rPr>
              <a:t>Setup</a:t>
            </a:r>
            <a:endParaRPr sz="1500" dirty="0">
              <a:latin typeface="Lucida Sans"/>
              <a:cs typeface="Lucida Sans"/>
            </a:endParaRPr>
          </a:p>
          <a:p>
            <a:pPr marL="12700" marR="5080">
              <a:lnSpc>
                <a:spcPct val="115399"/>
              </a:lnSpc>
              <a:spcBef>
                <a:spcPts val="335"/>
              </a:spcBef>
            </a:pPr>
            <a:r>
              <a:rPr sz="1300" dirty="0">
                <a:solidFill>
                  <a:srgbClr val="545454"/>
                </a:solidFill>
                <a:latin typeface="Century Gothic"/>
                <a:cs typeface="Century Gothic"/>
              </a:rPr>
              <a:t>Plug-</a:t>
            </a:r>
            <a:r>
              <a:rPr sz="1300" spc="-65" dirty="0">
                <a:solidFill>
                  <a:srgbClr val="545454"/>
                </a:solidFill>
                <a:latin typeface="Century Gothic"/>
                <a:cs typeface="Century Gothic"/>
              </a:rPr>
              <a:t>and-</a:t>
            </a:r>
            <a:r>
              <a:rPr sz="1300" spc="-20" dirty="0">
                <a:solidFill>
                  <a:srgbClr val="545454"/>
                </a:solidFill>
                <a:latin typeface="Century Gothic"/>
                <a:cs typeface="Century Gothic"/>
              </a:rPr>
              <a:t>play </a:t>
            </a:r>
            <a:r>
              <a:rPr sz="1300" spc="-10" dirty="0">
                <a:solidFill>
                  <a:srgbClr val="545454"/>
                </a:solidFill>
                <a:latin typeface="Century Gothic"/>
                <a:cs typeface="Century Gothic"/>
              </a:rPr>
              <a:t>installation</a:t>
            </a:r>
            <a:r>
              <a:rPr sz="1300" spc="5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Century Gothic"/>
                <a:cs typeface="Century Gothic"/>
              </a:rPr>
              <a:t>in </a:t>
            </a:r>
            <a:r>
              <a:rPr sz="1300" spc="-20" dirty="0">
                <a:solidFill>
                  <a:srgbClr val="545454"/>
                </a:solidFill>
                <a:latin typeface="Century Gothic"/>
                <a:cs typeface="Century Gothic"/>
              </a:rPr>
              <a:t>under</a:t>
            </a:r>
            <a:r>
              <a:rPr sz="1300" spc="-35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dirty="0">
                <a:solidFill>
                  <a:srgbClr val="545454"/>
                </a:solidFill>
                <a:latin typeface="Century Gothic"/>
                <a:cs typeface="Century Gothic"/>
              </a:rPr>
              <a:t>30</a:t>
            </a:r>
            <a:r>
              <a:rPr sz="1300" spc="-30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Century Gothic"/>
                <a:cs typeface="Century Gothic"/>
              </a:rPr>
              <a:t>minutes</a:t>
            </a:r>
            <a:endParaRPr sz="1300" dirty="0">
              <a:latin typeface="Century Gothic"/>
              <a:cs typeface="Century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696919" y="2636021"/>
            <a:ext cx="2466975" cy="1285875"/>
            <a:chOff x="8772524" y="2876549"/>
            <a:chExt cx="2466975" cy="1285875"/>
          </a:xfrm>
        </p:grpSpPr>
        <p:sp>
          <p:nvSpPr>
            <p:cNvPr id="12" name="object 12"/>
            <p:cNvSpPr/>
            <p:nvPr/>
          </p:nvSpPr>
          <p:spPr>
            <a:xfrm>
              <a:off x="8791574" y="2876549"/>
              <a:ext cx="2447925" cy="1285875"/>
            </a:xfrm>
            <a:custGeom>
              <a:avLst/>
              <a:gdLst/>
              <a:ahLst/>
              <a:cxnLst/>
              <a:rect l="l" t="t" r="r" b="b"/>
              <a:pathLst>
                <a:path w="2447925" h="1285875">
                  <a:moveTo>
                    <a:pt x="2376728" y="1285874"/>
                  </a:moveTo>
                  <a:lnTo>
                    <a:pt x="0" y="1285874"/>
                  </a:lnTo>
                  <a:lnTo>
                    <a:pt x="0" y="0"/>
                  </a:lnTo>
                  <a:lnTo>
                    <a:pt x="2376728" y="0"/>
                  </a:lnTo>
                  <a:lnTo>
                    <a:pt x="2381682" y="488"/>
                  </a:lnTo>
                  <a:lnTo>
                    <a:pt x="2418218" y="15621"/>
                  </a:lnTo>
                  <a:lnTo>
                    <a:pt x="2444037" y="51661"/>
                  </a:lnTo>
                  <a:lnTo>
                    <a:pt x="2447924" y="71196"/>
                  </a:lnTo>
                  <a:lnTo>
                    <a:pt x="2447924" y="1214678"/>
                  </a:lnTo>
                  <a:lnTo>
                    <a:pt x="2432301" y="1256168"/>
                  </a:lnTo>
                  <a:lnTo>
                    <a:pt x="2396262" y="1281988"/>
                  </a:lnTo>
                  <a:lnTo>
                    <a:pt x="2376728" y="12858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8772512" y="2876549"/>
              <a:ext cx="520065" cy="1285875"/>
            </a:xfrm>
            <a:custGeom>
              <a:avLst/>
              <a:gdLst/>
              <a:ahLst/>
              <a:cxnLst/>
              <a:rect l="l" t="t" r="r" b="b"/>
              <a:pathLst>
                <a:path w="520065" h="1285875">
                  <a:moveTo>
                    <a:pt x="38100" y="0"/>
                  </a:moveTo>
                  <a:lnTo>
                    <a:pt x="0" y="0"/>
                  </a:lnTo>
                  <a:lnTo>
                    <a:pt x="0" y="1285875"/>
                  </a:lnTo>
                  <a:lnTo>
                    <a:pt x="38100" y="1285875"/>
                  </a:lnTo>
                  <a:lnTo>
                    <a:pt x="38100" y="0"/>
                  </a:lnTo>
                  <a:close/>
                </a:path>
                <a:path w="520065" h="1285875">
                  <a:moveTo>
                    <a:pt x="519709" y="531025"/>
                  </a:moveTo>
                  <a:lnTo>
                    <a:pt x="516902" y="517131"/>
                  </a:lnTo>
                  <a:lnTo>
                    <a:pt x="509244" y="505777"/>
                  </a:lnTo>
                  <a:lnTo>
                    <a:pt x="497890" y="498119"/>
                  </a:lnTo>
                  <a:lnTo>
                    <a:pt x="483997" y="495300"/>
                  </a:lnTo>
                  <a:lnTo>
                    <a:pt x="483997" y="531025"/>
                  </a:lnTo>
                  <a:lnTo>
                    <a:pt x="483997" y="709612"/>
                  </a:lnTo>
                  <a:lnTo>
                    <a:pt x="439343" y="709612"/>
                  </a:lnTo>
                  <a:lnTo>
                    <a:pt x="439343" y="742975"/>
                  </a:lnTo>
                  <a:lnTo>
                    <a:pt x="439343" y="747699"/>
                  </a:lnTo>
                  <a:lnTo>
                    <a:pt x="423849" y="763193"/>
                  </a:lnTo>
                  <a:lnTo>
                    <a:pt x="419112" y="763193"/>
                  </a:lnTo>
                  <a:lnTo>
                    <a:pt x="403631" y="747699"/>
                  </a:lnTo>
                  <a:lnTo>
                    <a:pt x="403631" y="742975"/>
                  </a:lnTo>
                  <a:lnTo>
                    <a:pt x="419112" y="727481"/>
                  </a:lnTo>
                  <a:lnTo>
                    <a:pt x="423849" y="727481"/>
                  </a:lnTo>
                  <a:lnTo>
                    <a:pt x="439343" y="742975"/>
                  </a:lnTo>
                  <a:lnTo>
                    <a:pt x="439343" y="709612"/>
                  </a:lnTo>
                  <a:lnTo>
                    <a:pt x="358978" y="709612"/>
                  </a:lnTo>
                  <a:lnTo>
                    <a:pt x="358978" y="531025"/>
                  </a:lnTo>
                  <a:lnTo>
                    <a:pt x="483997" y="531025"/>
                  </a:lnTo>
                  <a:lnTo>
                    <a:pt x="483997" y="495300"/>
                  </a:lnTo>
                  <a:lnTo>
                    <a:pt x="358978" y="495300"/>
                  </a:lnTo>
                  <a:lnTo>
                    <a:pt x="345084" y="498119"/>
                  </a:lnTo>
                  <a:lnTo>
                    <a:pt x="333730" y="505777"/>
                  </a:lnTo>
                  <a:lnTo>
                    <a:pt x="326072" y="517131"/>
                  </a:lnTo>
                  <a:lnTo>
                    <a:pt x="323265" y="531025"/>
                  </a:lnTo>
                  <a:lnTo>
                    <a:pt x="323265" y="745337"/>
                  </a:lnTo>
                  <a:lnTo>
                    <a:pt x="326072" y="759231"/>
                  </a:lnTo>
                  <a:lnTo>
                    <a:pt x="333730" y="770585"/>
                  </a:lnTo>
                  <a:lnTo>
                    <a:pt x="345084" y="778243"/>
                  </a:lnTo>
                  <a:lnTo>
                    <a:pt x="358978" y="781050"/>
                  </a:lnTo>
                  <a:lnTo>
                    <a:pt x="483997" y="781050"/>
                  </a:lnTo>
                  <a:lnTo>
                    <a:pt x="497890" y="778243"/>
                  </a:lnTo>
                  <a:lnTo>
                    <a:pt x="509244" y="770585"/>
                  </a:lnTo>
                  <a:lnTo>
                    <a:pt x="514223" y="763193"/>
                  </a:lnTo>
                  <a:lnTo>
                    <a:pt x="516902" y="759231"/>
                  </a:lnTo>
                  <a:lnTo>
                    <a:pt x="519709" y="745337"/>
                  </a:lnTo>
                  <a:lnTo>
                    <a:pt x="519709" y="727481"/>
                  </a:lnTo>
                  <a:lnTo>
                    <a:pt x="519709" y="709612"/>
                  </a:lnTo>
                  <a:lnTo>
                    <a:pt x="519709" y="531025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434908" y="2681445"/>
            <a:ext cx="1329055" cy="10680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500" b="1" spc="-90" dirty="0">
                <a:solidFill>
                  <a:srgbClr val="0056B3"/>
                </a:solidFill>
                <a:latin typeface="Lucida Sans"/>
                <a:cs typeface="Lucida Sans"/>
              </a:rPr>
              <a:t>Mobile</a:t>
            </a:r>
            <a:r>
              <a:rPr sz="1500" b="1" spc="-7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0" dirty="0">
                <a:solidFill>
                  <a:srgbClr val="0056B3"/>
                </a:solidFill>
                <a:latin typeface="Lucida Sans"/>
                <a:cs typeface="Lucida Sans"/>
              </a:rPr>
              <a:t>Access</a:t>
            </a:r>
            <a:endParaRPr sz="1500" dirty="0">
              <a:latin typeface="Lucida Sans"/>
              <a:cs typeface="Lucida Sans"/>
            </a:endParaRPr>
          </a:p>
          <a:p>
            <a:pPr marL="12700" marR="5080">
              <a:lnSpc>
                <a:spcPct val="115399"/>
              </a:lnSpc>
              <a:spcBef>
                <a:spcPts val="335"/>
              </a:spcBef>
            </a:pPr>
            <a:r>
              <a:rPr sz="1300" spc="-10" dirty="0">
                <a:solidFill>
                  <a:srgbClr val="545454"/>
                </a:solidFill>
                <a:latin typeface="Century Gothic"/>
                <a:cs typeface="Century Gothic"/>
              </a:rPr>
              <a:t>Monitor</a:t>
            </a:r>
            <a:r>
              <a:rPr sz="1300" spc="-75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20" dirty="0">
                <a:solidFill>
                  <a:srgbClr val="545454"/>
                </a:solidFill>
                <a:latin typeface="Century Gothic"/>
                <a:cs typeface="Century Gothic"/>
              </a:rPr>
              <a:t>from </a:t>
            </a:r>
            <a:r>
              <a:rPr sz="1300" spc="-60" dirty="0">
                <a:solidFill>
                  <a:srgbClr val="545454"/>
                </a:solidFill>
                <a:latin typeface="Century Gothic"/>
                <a:cs typeface="Century Gothic"/>
              </a:rPr>
              <a:t>anywhere</a:t>
            </a:r>
            <a:r>
              <a:rPr sz="1300" spc="-30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55" dirty="0">
                <a:solidFill>
                  <a:srgbClr val="545454"/>
                </a:solidFill>
                <a:latin typeface="Century Gothic"/>
                <a:cs typeface="Century Gothic"/>
              </a:rPr>
              <a:t>on</a:t>
            </a:r>
            <a:r>
              <a:rPr sz="1300" spc="-30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70" dirty="0">
                <a:solidFill>
                  <a:srgbClr val="545454"/>
                </a:solidFill>
                <a:latin typeface="Century Gothic"/>
                <a:cs typeface="Century Gothic"/>
              </a:rPr>
              <a:t>any </a:t>
            </a:r>
            <a:r>
              <a:rPr sz="1300" spc="-10" dirty="0">
                <a:solidFill>
                  <a:srgbClr val="545454"/>
                </a:solidFill>
                <a:latin typeface="Century Gothic"/>
                <a:cs typeface="Century Gothic"/>
              </a:rPr>
              <a:t>device</a:t>
            </a:r>
            <a:endParaRPr sz="1300" dirty="0">
              <a:latin typeface="Century Gothic"/>
              <a:cs typeface="Century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20394" y="4112396"/>
            <a:ext cx="2466975" cy="1285875"/>
            <a:chOff x="6095999" y="4352924"/>
            <a:chExt cx="2466975" cy="1285875"/>
          </a:xfrm>
        </p:grpSpPr>
        <p:sp>
          <p:nvSpPr>
            <p:cNvPr id="16" name="object 16"/>
            <p:cNvSpPr/>
            <p:nvPr/>
          </p:nvSpPr>
          <p:spPr>
            <a:xfrm>
              <a:off x="6115049" y="4352924"/>
              <a:ext cx="2447925" cy="1285875"/>
            </a:xfrm>
            <a:custGeom>
              <a:avLst/>
              <a:gdLst/>
              <a:ahLst/>
              <a:cxnLst/>
              <a:rect l="l" t="t" r="r" b="b"/>
              <a:pathLst>
                <a:path w="2447925" h="1285875">
                  <a:moveTo>
                    <a:pt x="2376727" y="1285874"/>
                  </a:moveTo>
                  <a:lnTo>
                    <a:pt x="0" y="1285874"/>
                  </a:lnTo>
                  <a:lnTo>
                    <a:pt x="0" y="0"/>
                  </a:lnTo>
                  <a:lnTo>
                    <a:pt x="2376727" y="0"/>
                  </a:lnTo>
                  <a:lnTo>
                    <a:pt x="2381682" y="488"/>
                  </a:lnTo>
                  <a:lnTo>
                    <a:pt x="2418218" y="15621"/>
                  </a:lnTo>
                  <a:lnTo>
                    <a:pt x="2444037" y="51661"/>
                  </a:lnTo>
                  <a:lnTo>
                    <a:pt x="2447924" y="71196"/>
                  </a:lnTo>
                  <a:lnTo>
                    <a:pt x="2447924" y="1214678"/>
                  </a:lnTo>
                  <a:lnTo>
                    <a:pt x="2432301" y="1256168"/>
                  </a:lnTo>
                  <a:lnTo>
                    <a:pt x="2396262" y="1281987"/>
                  </a:lnTo>
                  <a:lnTo>
                    <a:pt x="2376727" y="12858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5987" y="4352924"/>
              <a:ext cx="553085" cy="1285875"/>
            </a:xfrm>
            <a:custGeom>
              <a:avLst/>
              <a:gdLst/>
              <a:ahLst/>
              <a:cxnLst/>
              <a:rect l="l" t="t" r="r" b="b"/>
              <a:pathLst>
                <a:path w="553084" h="1285875">
                  <a:moveTo>
                    <a:pt x="38100" y="0"/>
                  </a:moveTo>
                  <a:lnTo>
                    <a:pt x="0" y="0"/>
                  </a:lnTo>
                  <a:lnTo>
                    <a:pt x="0" y="1285875"/>
                  </a:lnTo>
                  <a:lnTo>
                    <a:pt x="38100" y="1285875"/>
                  </a:lnTo>
                  <a:lnTo>
                    <a:pt x="38100" y="0"/>
                  </a:lnTo>
                  <a:close/>
                </a:path>
                <a:path w="553084" h="1285875">
                  <a:moveTo>
                    <a:pt x="553046" y="573443"/>
                  </a:moveTo>
                  <a:lnTo>
                    <a:pt x="531672" y="541515"/>
                  </a:lnTo>
                  <a:lnTo>
                    <a:pt x="517334" y="535444"/>
                  </a:lnTo>
                  <a:lnTo>
                    <a:pt x="517334" y="574217"/>
                  </a:lnTo>
                  <a:lnTo>
                    <a:pt x="512597" y="616318"/>
                  </a:lnTo>
                  <a:lnTo>
                    <a:pt x="496912" y="663473"/>
                  </a:lnTo>
                  <a:lnTo>
                    <a:pt x="466877" y="708329"/>
                  </a:lnTo>
                  <a:lnTo>
                    <a:pt x="419100" y="743546"/>
                  </a:lnTo>
                  <a:lnTo>
                    <a:pt x="419100" y="532587"/>
                  </a:lnTo>
                  <a:lnTo>
                    <a:pt x="517334" y="574217"/>
                  </a:lnTo>
                  <a:lnTo>
                    <a:pt x="517334" y="535444"/>
                  </a:lnTo>
                  <a:lnTo>
                    <a:pt x="510628" y="532587"/>
                  </a:lnTo>
                  <a:lnTo>
                    <a:pt x="426580" y="496925"/>
                  </a:lnTo>
                  <a:lnTo>
                    <a:pt x="424243" y="495858"/>
                  </a:lnTo>
                  <a:lnTo>
                    <a:pt x="421678" y="495300"/>
                  </a:lnTo>
                  <a:lnTo>
                    <a:pt x="416534" y="495300"/>
                  </a:lnTo>
                  <a:lnTo>
                    <a:pt x="413969" y="495858"/>
                  </a:lnTo>
                  <a:lnTo>
                    <a:pt x="411683" y="496925"/>
                  </a:lnTo>
                  <a:lnTo>
                    <a:pt x="306539" y="541515"/>
                  </a:lnTo>
                  <a:lnTo>
                    <a:pt x="298005" y="546633"/>
                  </a:lnTo>
                  <a:lnTo>
                    <a:pt x="291223" y="553935"/>
                  </a:lnTo>
                  <a:lnTo>
                    <a:pt x="286753" y="563016"/>
                  </a:lnTo>
                  <a:lnTo>
                    <a:pt x="285165" y="573443"/>
                  </a:lnTo>
                  <a:lnTo>
                    <a:pt x="285229" y="574217"/>
                  </a:lnTo>
                  <a:lnTo>
                    <a:pt x="299554" y="655447"/>
                  </a:lnTo>
                  <a:lnTo>
                    <a:pt x="320954" y="700849"/>
                  </a:lnTo>
                  <a:lnTo>
                    <a:pt x="355079" y="742696"/>
                  </a:lnTo>
                  <a:lnTo>
                    <a:pt x="404368" y="776147"/>
                  </a:lnTo>
                  <a:lnTo>
                    <a:pt x="419100" y="779487"/>
                  </a:lnTo>
                  <a:lnTo>
                    <a:pt x="426618" y="778662"/>
                  </a:lnTo>
                  <a:lnTo>
                    <a:pt x="433844" y="776147"/>
                  </a:lnTo>
                  <a:lnTo>
                    <a:pt x="481876" y="743546"/>
                  </a:lnTo>
                  <a:lnTo>
                    <a:pt x="483133" y="742696"/>
                  </a:lnTo>
                  <a:lnTo>
                    <a:pt x="517258" y="700849"/>
                  </a:lnTo>
                  <a:lnTo>
                    <a:pt x="538657" y="655447"/>
                  </a:lnTo>
                  <a:lnTo>
                    <a:pt x="549783" y="611365"/>
                  </a:lnTo>
                  <a:lnTo>
                    <a:pt x="553046" y="573443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60170" y="4157820"/>
            <a:ext cx="1188720" cy="10680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500" b="1" spc="-60" dirty="0">
                <a:solidFill>
                  <a:srgbClr val="0056B3"/>
                </a:solidFill>
                <a:latin typeface="Lucida Sans"/>
                <a:cs typeface="Lucida Sans"/>
              </a:rPr>
              <a:t>Secure</a:t>
            </a: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20" dirty="0">
                <a:solidFill>
                  <a:srgbClr val="0056B3"/>
                </a:solidFill>
                <a:latin typeface="Lucida Sans"/>
                <a:cs typeface="Lucida Sans"/>
              </a:rPr>
              <a:t>Data</a:t>
            </a:r>
            <a:endParaRPr sz="1500" dirty="0">
              <a:latin typeface="Lucida Sans"/>
              <a:cs typeface="Lucida Sans"/>
            </a:endParaRPr>
          </a:p>
          <a:p>
            <a:pPr marL="12700" marR="5080">
              <a:lnSpc>
                <a:spcPct val="115399"/>
              </a:lnSpc>
              <a:spcBef>
                <a:spcPts val="335"/>
              </a:spcBef>
            </a:pPr>
            <a:r>
              <a:rPr sz="1300" dirty="0">
                <a:solidFill>
                  <a:srgbClr val="545454"/>
                </a:solidFill>
                <a:latin typeface="Century Gothic"/>
                <a:cs typeface="Century Gothic"/>
              </a:rPr>
              <a:t>End-</a:t>
            </a:r>
            <a:r>
              <a:rPr sz="1300" spc="-25" dirty="0">
                <a:solidFill>
                  <a:srgbClr val="545454"/>
                </a:solidFill>
                <a:latin typeface="Century Gothic"/>
                <a:cs typeface="Century Gothic"/>
              </a:rPr>
              <a:t>to-end </a:t>
            </a:r>
            <a:r>
              <a:rPr sz="1300" spc="-60" dirty="0">
                <a:solidFill>
                  <a:srgbClr val="545454"/>
                </a:solidFill>
                <a:latin typeface="Century Gothic"/>
                <a:cs typeface="Century Gothic"/>
              </a:rPr>
              <a:t>encrypted</a:t>
            </a:r>
            <a:r>
              <a:rPr sz="1300" spc="-15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110" dirty="0">
                <a:solidFill>
                  <a:srgbClr val="545454"/>
                </a:solidFill>
                <a:latin typeface="Century Gothic"/>
                <a:cs typeface="Century Gothic"/>
              </a:rPr>
              <a:t>data </a:t>
            </a:r>
            <a:r>
              <a:rPr sz="1300" spc="-10" dirty="0">
                <a:solidFill>
                  <a:srgbClr val="545454"/>
                </a:solidFill>
                <a:latin typeface="Century Gothic"/>
                <a:cs typeface="Century Gothic"/>
              </a:rPr>
              <a:t>protection</a:t>
            </a:r>
            <a:endParaRPr sz="1300" dirty="0">
              <a:latin typeface="Century Gothic"/>
              <a:cs typeface="Century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696919" y="4112396"/>
            <a:ext cx="2466975" cy="1285875"/>
            <a:chOff x="8772524" y="4352924"/>
            <a:chExt cx="2466975" cy="1285875"/>
          </a:xfrm>
        </p:grpSpPr>
        <p:sp>
          <p:nvSpPr>
            <p:cNvPr id="20" name="object 20"/>
            <p:cNvSpPr/>
            <p:nvPr/>
          </p:nvSpPr>
          <p:spPr>
            <a:xfrm>
              <a:off x="8791574" y="4352924"/>
              <a:ext cx="2447925" cy="1285875"/>
            </a:xfrm>
            <a:custGeom>
              <a:avLst/>
              <a:gdLst/>
              <a:ahLst/>
              <a:cxnLst/>
              <a:rect l="l" t="t" r="r" b="b"/>
              <a:pathLst>
                <a:path w="2447925" h="1285875">
                  <a:moveTo>
                    <a:pt x="2376728" y="1285874"/>
                  </a:moveTo>
                  <a:lnTo>
                    <a:pt x="0" y="1285874"/>
                  </a:lnTo>
                  <a:lnTo>
                    <a:pt x="0" y="0"/>
                  </a:lnTo>
                  <a:lnTo>
                    <a:pt x="2376728" y="0"/>
                  </a:lnTo>
                  <a:lnTo>
                    <a:pt x="2381682" y="488"/>
                  </a:lnTo>
                  <a:lnTo>
                    <a:pt x="2418218" y="15621"/>
                  </a:lnTo>
                  <a:lnTo>
                    <a:pt x="2444037" y="51661"/>
                  </a:lnTo>
                  <a:lnTo>
                    <a:pt x="2447924" y="71196"/>
                  </a:lnTo>
                  <a:lnTo>
                    <a:pt x="2447924" y="1214678"/>
                  </a:lnTo>
                  <a:lnTo>
                    <a:pt x="2432301" y="1256168"/>
                  </a:lnTo>
                  <a:lnTo>
                    <a:pt x="2396262" y="1281987"/>
                  </a:lnTo>
                  <a:lnTo>
                    <a:pt x="2376728" y="12858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2512" y="4352924"/>
              <a:ext cx="561975" cy="1285875"/>
            </a:xfrm>
            <a:custGeom>
              <a:avLst/>
              <a:gdLst/>
              <a:ahLst/>
              <a:cxnLst/>
              <a:rect l="l" t="t" r="r" b="b"/>
              <a:pathLst>
                <a:path w="561975" h="1285875">
                  <a:moveTo>
                    <a:pt x="38100" y="0"/>
                  </a:moveTo>
                  <a:lnTo>
                    <a:pt x="0" y="0"/>
                  </a:lnTo>
                  <a:lnTo>
                    <a:pt x="0" y="1285875"/>
                  </a:lnTo>
                  <a:lnTo>
                    <a:pt x="38100" y="1285875"/>
                  </a:lnTo>
                  <a:lnTo>
                    <a:pt x="38100" y="0"/>
                  </a:lnTo>
                  <a:close/>
                </a:path>
                <a:path w="561975" h="1285875">
                  <a:moveTo>
                    <a:pt x="544106" y="566712"/>
                  </a:moveTo>
                  <a:lnTo>
                    <a:pt x="542798" y="559981"/>
                  </a:lnTo>
                  <a:lnTo>
                    <a:pt x="538873" y="554075"/>
                  </a:lnTo>
                  <a:lnTo>
                    <a:pt x="532968" y="550151"/>
                  </a:lnTo>
                  <a:lnTo>
                    <a:pt x="526237" y="548843"/>
                  </a:lnTo>
                  <a:lnTo>
                    <a:pt x="519506" y="550151"/>
                  </a:lnTo>
                  <a:lnTo>
                    <a:pt x="513588" y="554075"/>
                  </a:lnTo>
                  <a:lnTo>
                    <a:pt x="454825" y="612902"/>
                  </a:lnTo>
                  <a:lnTo>
                    <a:pt x="422795" y="580859"/>
                  </a:lnTo>
                  <a:lnTo>
                    <a:pt x="416877" y="576935"/>
                  </a:lnTo>
                  <a:lnTo>
                    <a:pt x="410146" y="575627"/>
                  </a:lnTo>
                  <a:lnTo>
                    <a:pt x="403415" y="576935"/>
                  </a:lnTo>
                  <a:lnTo>
                    <a:pt x="397510" y="580859"/>
                  </a:lnTo>
                  <a:lnTo>
                    <a:pt x="335000" y="643369"/>
                  </a:lnTo>
                  <a:lnTo>
                    <a:pt x="331076" y="649287"/>
                  </a:lnTo>
                  <a:lnTo>
                    <a:pt x="329768" y="656018"/>
                  </a:lnTo>
                  <a:lnTo>
                    <a:pt x="331076" y="662736"/>
                  </a:lnTo>
                  <a:lnTo>
                    <a:pt x="335000" y="668655"/>
                  </a:lnTo>
                  <a:lnTo>
                    <a:pt x="340906" y="672579"/>
                  </a:lnTo>
                  <a:lnTo>
                    <a:pt x="347637" y="673887"/>
                  </a:lnTo>
                  <a:lnTo>
                    <a:pt x="354368" y="672579"/>
                  </a:lnTo>
                  <a:lnTo>
                    <a:pt x="360286" y="668655"/>
                  </a:lnTo>
                  <a:lnTo>
                    <a:pt x="410171" y="618820"/>
                  </a:lnTo>
                  <a:lnTo>
                    <a:pt x="442214" y="650849"/>
                  </a:lnTo>
                  <a:lnTo>
                    <a:pt x="448119" y="654773"/>
                  </a:lnTo>
                  <a:lnTo>
                    <a:pt x="454494" y="656018"/>
                  </a:lnTo>
                  <a:lnTo>
                    <a:pt x="455206" y="656018"/>
                  </a:lnTo>
                  <a:lnTo>
                    <a:pt x="461581" y="654773"/>
                  </a:lnTo>
                  <a:lnTo>
                    <a:pt x="467499" y="650849"/>
                  </a:lnTo>
                  <a:lnTo>
                    <a:pt x="499529" y="618820"/>
                  </a:lnTo>
                  <a:lnTo>
                    <a:pt x="505447" y="612902"/>
                  </a:lnTo>
                  <a:lnTo>
                    <a:pt x="538657" y="579691"/>
                  </a:lnTo>
                  <a:lnTo>
                    <a:pt x="542798" y="573443"/>
                  </a:lnTo>
                  <a:lnTo>
                    <a:pt x="544106" y="566712"/>
                  </a:lnTo>
                  <a:close/>
                </a:path>
                <a:path w="561975" h="1285875">
                  <a:moveTo>
                    <a:pt x="561975" y="735457"/>
                  </a:moveTo>
                  <a:lnTo>
                    <a:pt x="553999" y="727481"/>
                  </a:lnTo>
                  <a:lnTo>
                    <a:pt x="315963" y="727481"/>
                  </a:lnTo>
                  <a:lnTo>
                    <a:pt x="311950" y="723455"/>
                  </a:lnTo>
                  <a:lnTo>
                    <a:pt x="311950" y="521144"/>
                  </a:lnTo>
                  <a:lnTo>
                    <a:pt x="303974" y="513168"/>
                  </a:lnTo>
                  <a:lnTo>
                    <a:pt x="284213" y="513168"/>
                  </a:lnTo>
                  <a:lnTo>
                    <a:pt x="276225" y="521144"/>
                  </a:lnTo>
                  <a:lnTo>
                    <a:pt x="276225" y="718553"/>
                  </a:lnTo>
                  <a:lnTo>
                    <a:pt x="279742" y="735926"/>
                  </a:lnTo>
                  <a:lnTo>
                    <a:pt x="289306" y="750125"/>
                  </a:lnTo>
                  <a:lnTo>
                    <a:pt x="303491" y="759688"/>
                  </a:lnTo>
                  <a:lnTo>
                    <a:pt x="320878" y="763193"/>
                  </a:lnTo>
                  <a:lnTo>
                    <a:pt x="553999" y="763193"/>
                  </a:lnTo>
                  <a:lnTo>
                    <a:pt x="561975" y="755218"/>
                  </a:lnTo>
                  <a:lnTo>
                    <a:pt x="561975" y="735457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434908" y="4272120"/>
            <a:ext cx="1440180" cy="83946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340"/>
              </a:spcBef>
            </a:pPr>
            <a:r>
              <a:rPr sz="1500" b="1" spc="-10" dirty="0">
                <a:solidFill>
                  <a:srgbClr val="0056B3"/>
                </a:solidFill>
                <a:latin typeface="Lucida Sans"/>
                <a:cs typeface="Lucida Sans"/>
              </a:rPr>
              <a:t>Performance </a:t>
            </a:r>
            <a:r>
              <a:rPr sz="1300" spc="-70" dirty="0">
                <a:solidFill>
                  <a:srgbClr val="545454"/>
                </a:solidFill>
                <a:latin typeface="Century Gothic"/>
                <a:cs typeface="Century Gothic"/>
              </a:rPr>
              <a:t>Reduce</a:t>
            </a:r>
            <a:r>
              <a:rPr sz="1300" spc="-40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30" dirty="0">
                <a:solidFill>
                  <a:srgbClr val="545454"/>
                </a:solidFill>
                <a:latin typeface="Century Gothic"/>
                <a:cs typeface="Century Gothic"/>
              </a:rPr>
              <a:t>downtime </a:t>
            </a:r>
            <a:r>
              <a:rPr sz="1300" spc="-75" dirty="0">
                <a:solidFill>
                  <a:srgbClr val="545454"/>
                </a:solidFill>
                <a:latin typeface="Century Gothic"/>
                <a:cs typeface="Century Gothic"/>
              </a:rPr>
              <a:t>by</a:t>
            </a:r>
            <a:r>
              <a:rPr sz="1300" spc="-50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20" dirty="0">
                <a:solidFill>
                  <a:srgbClr val="545454"/>
                </a:solidFill>
                <a:latin typeface="Century Gothic"/>
                <a:cs typeface="Century Gothic"/>
              </a:rPr>
              <a:t>up</a:t>
            </a:r>
            <a:r>
              <a:rPr sz="1300" spc="-45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50" dirty="0">
                <a:solidFill>
                  <a:srgbClr val="545454"/>
                </a:solidFill>
                <a:latin typeface="Century Gothic"/>
                <a:cs typeface="Century Gothic"/>
              </a:rPr>
              <a:t>to</a:t>
            </a:r>
            <a:r>
              <a:rPr sz="1300" spc="-45" dirty="0">
                <a:solidFill>
                  <a:srgbClr val="545454"/>
                </a:solidFill>
                <a:latin typeface="Century Gothic"/>
                <a:cs typeface="Century Gothic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Century Gothic"/>
                <a:cs typeface="Century Gothic"/>
              </a:rPr>
              <a:t>30%</a:t>
            </a:r>
            <a:endParaRPr sz="13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4" name="object 24"/>
          <p:cNvGrpSpPr/>
          <p:nvPr/>
        </p:nvGrpSpPr>
        <p:grpSpPr>
          <a:xfrm>
            <a:off x="893404" y="5415535"/>
            <a:ext cx="10477500" cy="781050"/>
            <a:chOff x="952499" y="6496049"/>
            <a:chExt cx="10477500" cy="781050"/>
          </a:xfrm>
        </p:grpSpPr>
        <p:sp>
          <p:nvSpPr>
            <p:cNvPr id="25" name="object 25"/>
            <p:cNvSpPr/>
            <p:nvPr/>
          </p:nvSpPr>
          <p:spPr>
            <a:xfrm>
              <a:off x="952499" y="6829424"/>
              <a:ext cx="10477500" cy="19050"/>
            </a:xfrm>
            <a:custGeom>
              <a:avLst/>
              <a:gdLst/>
              <a:ahLst/>
              <a:cxnLst/>
              <a:rect l="l" t="t" r="r" b="b"/>
              <a:pathLst>
                <a:path w="10477500" h="19050">
                  <a:moveTo>
                    <a:pt x="104774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0477499" y="0"/>
                  </a:lnTo>
                  <a:lnTo>
                    <a:pt x="10477499" y="19049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428749" y="661034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1" y="656758"/>
                  </a:lnTo>
                  <a:lnTo>
                    <a:pt x="213397" y="644411"/>
                  </a:lnTo>
                  <a:lnTo>
                    <a:pt x="176222" y="627384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7"/>
                  </a:lnTo>
                  <a:lnTo>
                    <a:pt x="56183" y="518586"/>
                  </a:lnTo>
                  <a:lnTo>
                    <a:pt x="35595" y="483260"/>
                  </a:lnTo>
                  <a:lnTo>
                    <a:pt x="19487" y="445684"/>
                  </a:lnTo>
                  <a:lnTo>
                    <a:pt x="8100" y="406419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9"/>
                  </a:lnTo>
                  <a:lnTo>
                    <a:pt x="12075" y="244462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2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6" y="43310"/>
                  </a:lnTo>
                  <a:lnTo>
                    <a:pt x="531966" y="65604"/>
                  </a:lnTo>
                  <a:lnTo>
                    <a:pt x="563248" y="91926"/>
                  </a:lnTo>
                  <a:lnTo>
                    <a:pt x="591077" y="121883"/>
                  </a:lnTo>
                  <a:lnTo>
                    <a:pt x="615029" y="155021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3" y="268336"/>
                  </a:lnTo>
                  <a:lnTo>
                    <a:pt x="665846" y="308853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0"/>
                  </a:lnTo>
                  <a:lnTo>
                    <a:pt x="654674" y="422286"/>
                  </a:lnTo>
                  <a:lnTo>
                    <a:pt x="641372" y="460950"/>
                  </a:lnTo>
                  <a:lnTo>
                    <a:pt x="623438" y="497696"/>
                  </a:lnTo>
                  <a:lnTo>
                    <a:pt x="601144" y="531965"/>
                  </a:lnTo>
                  <a:lnTo>
                    <a:pt x="574822" y="563248"/>
                  </a:lnTo>
                  <a:lnTo>
                    <a:pt x="544865" y="591076"/>
                  </a:lnTo>
                  <a:lnTo>
                    <a:pt x="511727" y="615028"/>
                  </a:lnTo>
                  <a:lnTo>
                    <a:pt x="475910" y="634741"/>
                  </a:lnTo>
                  <a:lnTo>
                    <a:pt x="437950" y="649922"/>
                  </a:lnTo>
                  <a:lnTo>
                    <a:pt x="398413" y="660343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8299" y="6819899"/>
              <a:ext cx="247650" cy="24765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48074" y="661034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0" y="656758"/>
                  </a:lnTo>
                  <a:lnTo>
                    <a:pt x="213396" y="644411"/>
                  </a:lnTo>
                  <a:lnTo>
                    <a:pt x="176222" y="627384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2" y="551127"/>
                  </a:lnTo>
                  <a:lnTo>
                    <a:pt x="56183" y="518586"/>
                  </a:lnTo>
                  <a:lnTo>
                    <a:pt x="35595" y="483260"/>
                  </a:lnTo>
                  <a:lnTo>
                    <a:pt x="19487" y="445684"/>
                  </a:lnTo>
                  <a:lnTo>
                    <a:pt x="8100" y="406419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8" y="284459"/>
                  </a:lnTo>
                  <a:lnTo>
                    <a:pt x="12075" y="244462"/>
                  </a:lnTo>
                  <a:lnTo>
                    <a:pt x="25376" y="205797"/>
                  </a:lnTo>
                  <a:lnTo>
                    <a:pt x="43310" y="169052"/>
                  </a:lnTo>
                  <a:lnTo>
                    <a:pt x="65605" y="134783"/>
                  </a:lnTo>
                  <a:lnTo>
                    <a:pt x="91927" y="103501"/>
                  </a:lnTo>
                  <a:lnTo>
                    <a:pt x="121884" y="75672"/>
                  </a:lnTo>
                  <a:lnTo>
                    <a:pt x="155021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6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6"/>
                  </a:lnTo>
                  <a:lnTo>
                    <a:pt x="497696" y="43310"/>
                  </a:lnTo>
                  <a:lnTo>
                    <a:pt x="531966" y="65604"/>
                  </a:lnTo>
                  <a:lnTo>
                    <a:pt x="563248" y="91926"/>
                  </a:lnTo>
                  <a:lnTo>
                    <a:pt x="591076" y="121883"/>
                  </a:lnTo>
                  <a:lnTo>
                    <a:pt x="615028" y="155021"/>
                  </a:lnTo>
                  <a:lnTo>
                    <a:pt x="634742" y="190838"/>
                  </a:lnTo>
                  <a:lnTo>
                    <a:pt x="649922" y="228798"/>
                  </a:lnTo>
                  <a:lnTo>
                    <a:pt x="660343" y="268336"/>
                  </a:lnTo>
                  <a:lnTo>
                    <a:pt x="665846" y="308853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0"/>
                  </a:lnTo>
                  <a:lnTo>
                    <a:pt x="654674" y="422286"/>
                  </a:lnTo>
                  <a:lnTo>
                    <a:pt x="641372" y="460950"/>
                  </a:lnTo>
                  <a:lnTo>
                    <a:pt x="623438" y="497696"/>
                  </a:lnTo>
                  <a:lnTo>
                    <a:pt x="601144" y="531965"/>
                  </a:lnTo>
                  <a:lnTo>
                    <a:pt x="574822" y="563248"/>
                  </a:lnTo>
                  <a:lnTo>
                    <a:pt x="544865" y="591076"/>
                  </a:lnTo>
                  <a:lnTo>
                    <a:pt x="511727" y="615028"/>
                  </a:lnTo>
                  <a:lnTo>
                    <a:pt x="475910" y="634741"/>
                  </a:lnTo>
                  <a:lnTo>
                    <a:pt x="437950" y="649922"/>
                  </a:lnTo>
                  <a:lnTo>
                    <a:pt x="398412" y="660343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819524" y="6835377"/>
              <a:ext cx="309880" cy="217170"/>
            </a:xfrm>
            <a:custGeom>
              <a:avLst/>
              <a:gdLst/>
              <a:ahLst/>
              <a:cxnLst/>
              <a:rect l="l" t="t" r="r" b="b"/>
              <a:pathLst>
                <a:path w="309879" h="217170">
                  <a:moveTo>
                    <a:pt x="247650" y="216693"/>
                  </a:moveTo>
                  <a:lnTo>
                    <a:pt x="69651" y="216693"/>
                  </a:lnTo>
                  <a:lnTo>
                    <a:pt x="42545" y="211218"/>
                  </a:lnTo>
                  <a:lnTo>
                    <a:pt x="20405" y="196288"/>
                  </a:lnTo>
                  <a:lnTo>
                    <a:pt x="5475" y="174147"/>
                  </a:lnTo>
                  <a:lnTo>
                    <a:pt x="0" y="147042"/>
                  </a:lnTo>
                  <a:lnTo>
                    <a:pt x="3461" y="125296"/>
                  </a:lnTo>
                  <a:lnTo>
                    <a:pt x="13108" y="106357"/>
                  </a:lnTo>
                  <a:lnTo>
                    <a:pt x="27833" y="91327"/>
                  </a:lnTo>
                  <a:lnTo>
                    <a:pt x="46531" y="81308"/>
                  </a:lnTo>
                  <a:lnTo>
                    <a:pt x="46434" y="77390"/>
                  </a:lnTo>
                  <a:lnTo>
                    <a:pt x="52513" y="47259"/>
                  </a:lnTo>
                  <a:lnTo>
                    <a:pt x="69095" y="22660"/>
                  </a:lnTo>
                  <a:lnTo>
                    <a:pt x="93694" y="6079"/>
                  </a:lnTo>
                  <a:lnTo>
                    <a:pt x="123825" y="0"/>
                  </a:lnTo>
                  <a:lnTo>
                    <a:pt x="144523" y="2796"/>
                  </a:lnTo>
                  <a:lnTo>
                    <a:pt x="163100" y="10689"/>
                  </a:lnTo>
                  <a:lnTo>
                    <a:pt x="178811" y="22936"/>
                  </a:lnTo>
                  <a:lnTo>
                    <a:pt x="190913" y="38792"/>
                  </a:lnTo>
                  <a:lnTo>
                    <a:pt x="240970" y="38792"/>
                  </a:lnTo>
                  <a:lnTo>
                    <a:pt x="249524" y="44560"/>
                  </a:lnTo>
                  <a:lnTo>
                    <a:pt x="259477" y="59320"/>
                  </a:lnTo>
                  <a:lnTo>
                    <a:pt x="261330" y="68490"/>
                  </a:lnTo>
                  <a:lnTo>
                    <a:pt x="151008" y="68490"/>
                  </a:lnTo>
                  <a:lnTo>
                    <a:pt x="146510" y="73037"/>
                  </a:lnTo>
                  <a:lnTo>
                    <a:pt x="107814" y="111732"/>
                  </a:lnTo>
                  <a:lnTo>
                    <a:pt x="103364" y="116231"/>
                  </a:lnTo>
                  <a:lnTo>
                    <a:pt x="103316" y="123583"/>
                  </a:lnTo>
                  <a:lnTo>
                    <a:pt x="104999" y="125296"/>
                  </a:lnTo>
                  <a:lnTo>
                    <a:pt x="112409" y="132628"/>
                  </a:lnTo>
                  <a:lnTo>
                    <a:pt x="143124" y="132628"/>
                  </a:lnTo>
                  <a:lnTo>
                    <a:pt x="143124" y="180561"/>
                  </a:lnTo>
                  <a:lnTo>
                    <a:pt x="148299" y="185737"/>
                  </a:lnTo>
                  <a:lnTo>
                    <a:pt x="300075" y="185737"/>
                  </a:lnTo>
                  <a:lnTo>
                    <a:pt x="291430" y="198561"/>
                  </a:lnTo>
                  <a:lnTo>
                    <a:pt x="271750" y="211828"/>
                  </a:lnTo>
                  <a:lnTo>
                    <a:pt x="247650" y="216693"/>
                  </a:lnTo>
                  <a:close/>
                </a:path>
                <a:path w="309879" h="217170">
                  <a:moveTo>
                    <a:pt x="240970" y="38792"/>
                  </a:moveTo>
                  <a:lnTo>
                    <a:pt x="190913" y="38792"/>
                  </a:lnTo>
                  <a:lnTo>
                    <a:pt x="196702" y="35486"/>
                  </a:lnTo>
                  <a:lnTo>
                    <a:pt x="202987" y="33024"/>
                  </a:lnTo>
                  <a:lnTo>
                    <a:pt x="209679" y="31486"/>
                  </a:lnTo>
                  <a:lnTo>
                    <a:pt x="216693" y="30956"/>
                  </a:lnTo>
                  <a:lnTo>
                    <a:pt x="234764" y="34606"/>
                  </a:lnTo>
                  <a:lnTo>
                    <a:pt x="240970" y="38792"/>
                  </a:lnTo>
                  <a:close/>
                </a:path>
                <a:path w="309879" h="217170">
                  <a:moveTo>
                    <a:pt x="305308" y="132628"/>
                  </a:moveTo>
                  <a:lnTo>
                    <a:pt x="197152" y="132628"/>
                  </a:lnTo>
                  <a:lnTo>
                    <a:pt x="206100" y="123583"/>
                  </a:lnTo>
                  <a:lnTo>
                    <a:pt x="206149" y="116231"/>
                  </a:lnTo>
                  <a:lnTo>
                    <a:pt x="201602" y="111732"/>
                  </a:lnTo>
                  <a:lnTo>
                    <a:pt x="158360" y="68490"/>
                  </a:lnTo>
                  <a:lnTo>
                    <a:pt x="261330" y="68490"/>
                  </a:lnTo>
                  <a:lnTo>
                    <a:pt x="263128" y="77390"/>
                  </a:lnTo>
                  <a:lnTo>
                    <a:pt x="263128" y="83291"/>
                  </a:lnTo>
                  <a:lnTo>
                    <a:pt x="262015" y="88902"/>
                  </a:lnTo>
                  <a:lnTo>
                    <a:pt x="260032" y="94126"/>
                  </a:lnTo>
                  <a:lnTo>
                    <a:pt x="279688" y="101801"/>
                  </a:lnTo>
                  <a:lnTo>
                    <a:pt x="295390" y="115366"/>
                  </a:lnTo>
                  <a:lnTo>
                    <a:pt x="305308" y="132628"/>
                  </a:lnTo>
                  <a:close/>
                </a:path>
                <a:path w="309879" h="217170">
                  <a:moveTo>
                    <a:pt x="143124" y="132628"/>
                  </a:moveTo>
                  <a:lnTo>
                    <a:pt x="119809" y="132628"/>
                  </a:lnTo>
                  <a:lnTo>
                    <a:pt x="124260" y="128129"/>
                  </a:lnTo>
                  <a:lnTo>
                    <a:pt x="143124" y="109265"/>
                  </a:lnTo>
                  <a:lnTo>
                    <a:pt x="143124" y="132628"/>
                  </a:lnTo>
                  <a:close/>
                </a:path>
                <a:path w="309879" h="217170">
                  <a:moveTo>
                    <a:pt x="300075" y="185737"/>
                  </a:moveTo>
                  <a:lnTo>
                    <a:pt x="161165" y="185737"/>
                  </a:lnTo>
                  <a:lnTo>
                    <a:pt x="166341" y="180561"/>
                  </a:lnTo>
                  <a:lnTo>
                    <a:pt x="166341" y="109265"/>
                  </a:lnTo>
                  <a:lnTo>
                    <a:pt x="189703" y="132628"/>
                  </a:lnTo>
                  <a:lnTo>
                    <a:pt x="305308" y="132628"/>
                  </a:lnTo>
                  <a:lnTo>
                    <a:pt x="305795" y="133475"/>
                  </a:lnTo>
                  <a:lnTo>
                    <a:pt x="309562" y="154781"/>
                  </a:lnTo>
                  <a:lnTo>
                    <a:pt x="304697" y="178881"/>
                  </a:lnTo>
                  <a:lnTo>
                    <a:pt x="300075" y="185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857874" y="661034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0" y="656758"/>
                  </a:lnTo>
                  <a:lnTo>
                    <a:pt x="213396" y="644411"/>
                  </a:lnTo>
                  <a:lnTo>
                    <a:pt x="176222" y="627384"/>
                  </a:lnTo>
                  <a:lnTo>
                    <a:pt x="141412" y="605935"/>
                  </a:lnTo>
                  <a:lnTo>
                    <a:pt x="109492" y="580389"/>
                  </a:lnTo>
                  <a:lnTo>
                    <a:pt x="80941" y="551127"/>
                  </a:lnTo>
                  <a:lnTo>
                    <a:pt x="56182" y="518586"/>
                  </a:lnTo>
                  <a:lnTo>
                    <a:pt x="35593" y="483260"/>
                  </a:lnTo>
                  <a:lnTo>
                    <a:pt x="19486" y="445684"/>
                  </a:lnTo>
                  <a:lnTo>
                    <a:pt x="8099" y="406419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9"/>
                  </a:lnTo>
                  <a:lnTo>
                    <a:pt x="12074" y="244462"/>
                  </a:lnTo>
                  <a:lnTo>
                    <a:pt x="25375" y="205797"/>
                  </a:lnTo>
                  <a:lnTo>
                    <a:pt x="43309" y="169052"/>
                  </a:lnTo>
                  <a:lnTo>
                    <a:pt x="65604" y="134783"/>
                  </a:lnTo>
                  <a:lnTo>
                    <a:pt x="91926" y="103501"/>
                  </a:lnTo>
                  <a:lnTo>
                    <a:pt x="121883" y="75672"/>
                  </a:lnTo>
                  <a:lnTo>
                    <a:pt x="155021" y="51720"/>
                  </a:lnTo>
                  <a:lnTo>
                    <a:pt x="190837" y="32007"/>
                  </a:lnTo>
                  <a:lnTo>
                    <a:pt x="228797" y="16826"/>
                  </a:lnTo>
                  <a:lnTo>
                    <a:pt x="268335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0" y="3608"/>
                  </a:lnTo>
                  <a:lnTo>
                    <a:pt x="422287" y="12075"/>
                  </a:lnTo>
                  <a:lnTo>
                    <a:pt x="460950" y="25376"/>
                  </a:lnTo>
                  <a:lnTo>
                    <a:pt x="497696" y="43310"/>
                  </a:lnTo>
                  <a:lnTo>
                    <a:pt x="531966" y="65604"/>
                  </a:lnTo>
                  <a:lnTo>
                    <a:pt x="563248" y="91926"/>
                  </a:lnTo>
                  <a:lnTo>
                    <a:pt x="591077" y="121883"/>
                  </a:lnTo>
                  <a:lnTo>
                    <a:pt x="615029" y="155021"/>
                  </a:lnTo>
                  <a:lnTo>
                    <a:pt x="634742" y="190838"/>
                  </a:lnTo>
                  <a:lnTo>
                    <a:pt x="649922" y="228798"/>
                  </a:lnTo>
                  <a:lnTo>
                    <a:pt x="660343" y="268336"/>
                  </a:lnTo>
                  <a:lnTo>
                    <a:pt x="665847" y="308853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2" y="382290"/>
                  </a:lnTo>
                  <a:lnTo>
                    <a:pt x="654674" y="422286"/>
                  </a:lnTo>
                  <a:lnTo>
                    <a:pt x="641372" y="460950"/>
                  </a:lnTo>
                  <a:lnTo>
                    <a:pt x="623439" y="497696"/>
                  </a:lnTo>
                  <a:lnTo>
                    <a:pt x="601144" y="531965"/>
                  </a:lnTo>
                  <a:lnTo>
                    <a:pt x="574822" y="563248"/>
                  </a:lnTo>
                  <a:lnTo>
                    <a:pt x="544865" y="591076"/>
                  </a:lnTo>
                  <a:lnTo>
                    <a:pt x="511727" y="615028"/>
                  </a:lnTo>
                  <a:lnTo>
                    <a:pt x="475910" y="634741"/>
                  </a:lnTo>
                  <a:lnTo>
                    <a:pt x="437950" y="649922"/>
                  </a:lnTo>
                  <a:lnTo>
                    <a:pt x="398412" y="660343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7424" y="6819899"/>
              <a:ext cx="247650" cy="2476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077199" y="649604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0" y="656758"/>
                  </a:lnTo>
                  <a:lnTo>
                    <a:pt x="213396" y="644410"/>
                  </a:lnTo>
                  <a:lnTo>
                    <a:pt x="176222" y="627384"/>
                  </a:lnTo>
                  <a:lnTo>
                    <a:pt x="141412" y="605935"/>
                  </a:lnTo>
                  <a:lnTo>
                    <a:pt x="109493" y="580389"/>
                  </a:lnTo>
                  <a:lnTo>
                    <a:pt x="80941" y="551127"/>
                  </a:lnTo>
                  <a:lnTo>
                    <a:pt x="56182" y="518586"/>
                  </a:lnTo>
                  <a:lnTo>
                    <a:pt x="35594" y="483261"/>
                  </a:lnTo>
                  <a:lnTo>
                    <a:pt x="19486" y="445685"/>
                  </a:lnTo>
                  <a:lnTo>
                    <a:pt x="8099" y="406419"/>
                  </a:lnTo>
                  <a:lnTo>
                    <a:pt x="1605" y="366050"/>
                  </a:lnTo>
                  <a:lnTo>
                    <a:pt x="0" y="333374"/>
                  </a:lnTo>
                  <a:lnTo>
                    <a:pt x="100" y="325190"/>
                  </a:lnTo>
                  <a:lnTo>
                    <a:pt x="3607" y="284458"/>
                  </a:lnTo>
                  <a:lnTo>
                    <a:pt x="12074" y="244461"/>
                  </a:lnTo>
                  <a:lnTo>
                    <a:pt x="25375" y="205797"/>
                  </a:lnTo>
                  <a:lnTo>
                    <a:pt x="43310" y="169052"/>
                  </a:lnTo>
                  <a:lnTo>
                    <a:pt x="65604" y="134783"/>
                  </a:lnTo>
                  <a:lnTo>
                    <a:pt x="91926" y="103501"/>
                  </a:lnTo>
                  <a:lnTo>
                    <a:pt x="121883" y="75672"/>
                  </a:lnTo>
                  <a:lnTo>
                    <a:pt x="155021" y="51720"/>
                  </a:lnTo>
                  <a:lnTo>
                    <a:pt x="190837" y="32006"/>
                  </a:lnTo>
                  <a:lnTo>
                    <a:pt x="228797" y="16826"/>
                  </a:lnTo>
                  <a:lnTo>
                    <a:pt x="268335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8" y="100"/>
                  </a:lnTo>
                  <a:lnTo>
                    <a:pt x="382291" y="3608"/>
                  </a:lnTo>
                  <a:lnTo>
                    <a:pt x="422287" y="12075"/>
                  </a:lnTo>
                  <a:lnTo>
                    <a:pt x="460951" y="25375"/>
                  </a:lnTo>
                  <a:lnTo>
                    <a:pt x="497696" y="43310"/>
                  </a:lnTo>
                  <a:lnTo>
                    <a:pt x="531966" y="65605"/>
                  </a:lnTo>
                  <a:lnTo>
                    <a:pt x="563248" y="91926"/>
                  </a:lnTo>
                  <a:lnTo>
                    <a:pt x="591077" y="121883"/>
                  </a:lnTo>
                  <a:lnTo>
                    <a:pt x="615028" y="155021"/>
                  </a:lnTo>
                  <a:lnTo>
                    <a:pt x="634741" y="190838"/>
                  </a:lnTo>
                  <a:lnTo>
                    <a:pt x="649923" y="228798"/>
                  </a:lnTo>
                  <a:lnTo>
                    <a:pt x="660342" y="268336"/>
                  </a:lnTo>
                  <a:lnTo>
                    <a:pt x="665846" y="308852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0"/>
                  </a:lnTo>
                  <a:lnTo>
                    <a:pt x="654674" y="422287"/>
                  </a:lnTo>
                  <a:lnTo>
                    <a:pt x="641371" y="460951"/>
                  </a:lnTo>
                  <a:lnTo>
                    <a:pt x="623438" y="497696"/>
                  </a:lnTo>
                  <a:lnTo>
                    <a:pt x="601144" y="531965"/>
                  </a:lnTo>
                  <a:lnTo>
                    <a:pt x="574822" y="563248"/>
                  </a:lnTo>
                  <a:lnTo>
                    <a:pt x="544865" y="591076"/>
                  </a:lnTo>
                  <a:lnTo>
                    <a:pt x="511726" y="615028"/>
                  </a:lnTo>
                  <a:lnTo>
                    <a:pt x="475910" y="634742"/>
                  </a:lnTo>
                  <a:lnTo>
                    <a:pt x="437950" y="649922"/>
                  </a:lnTo>
                  <a:lnTo>
                    <a:pt x="398412" y="660343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33"/>
            <p:cNvSpPr/>
            <p:nvPr/>
          </p:nvSpPr>
          <p:spPr>
            <a:xfrm>
              <a:off x="8267699" y="6721077"/>
              <a:ext cx="278765" cy="217170"/>
            </a:xfrm>
            <a:custGeom>
              <a:avLst/>
              <a:gdLst/>
              <a:ahLst/>
              <a:cxnLst/>
              <a:rect l="l" t="t" r="r" b="b"/>
              <a:pathLst>
                <a:path w="278765" h="217170">
                  <a:moveTo>
                    <a:pt x="177998" y="216693"/>
                  </a:moveTo>
                  <a:lnTo>
                    <a:pt x="131564" y="216693"/>
                  </a:lnTo>
                  <a:lnTo>
                    <a:pt x="122528" y="214868"/>
                  </a:lnTo>
                  <a:lnTo>
                    <a:pt x="115148" y="209891"/>
                  </a:lnTo>
                  <a:lnTo>
                    <a:pt x="110172" y="202511"/>
                  </a:lnTo>
                  <a:lnTo>
                    <a:pt x="108346" y="193476"/>
                  </a:lnTo>
                  <a:lnTo>
                    <a:pt x="108346" y="146219"/>
                  </a:lnTo>
                  <a:lnTo>
                    <a:pt x="108395" y="145397"/>
                  </a:lnTo>
                  <a:lnTo>
                    <a:pt x="108491" y="144623"/>
                  </a:lnTo>
                  <a:lnTo>
                    <a:pt x="69651" y="92868"/>
                  </a:lnTo>
                  <a:lnTo>
                    <a:pt x="23217" y="92868"/>
                  </a:lnTo>
                  <a:lnTo>
                    <a:pt x="14181" y="91043"/>
                  </a:lnTo>
                  <a:lnTo>
                    <a:pt x="6801" y="86066"/>
                  </a:lnTo>
                  <a:lnTo>
                    <a:pt x="1825" y="78686"/>
                  </a:lnTo>
                  <a:lnTo>
                    <a:pt x="0" y="69651"/>
                  </a:lnTo>
                  <a:lnTo>
                    <a:pt x="0" y="23217"/>
                  </a:lnTo>
                  <a:lnTo>
                    <a:pt x="1825" y="14181"/>
                  </a:lnTo>
                  <a:lnTo>
                    <a:pt x="6801" y="6801"/>
                  </a:lnTo>
                  <a:lnTo>
                    <a:pt x="14181" y="1825"/>
                  </a:lnTo>
                  <a:lnTo>
                    <a:pt x="23217" y="0"/>
                  </a:lnTo>
                  <a:lnTo>
                    <a:pt x="69651" y="0"/>
                  </a:lnTo>
                  <a:lnTo>
                    <a:pt x="78686" y="1825"/>
                  </a:lnTo>
                  <a:lnTo>
                    <a:pt x="86066" y="6801"/>
                  </a:lnTo>
                  <a:lnTo>
                    <a:pt x="91043" y="14181"/>
                  </a:lnTo>
                  <a:lnTo>
                    <a:pt x="92868" y="23217"/>
                  </a:lnTo>
                  <a:lnTo>
                    <a:pt x="92868" y="30956"/>
                  </a:lnTo>
                  <a:lnTo>
                    <a:pt x="185737" y="30956"/>
                  </a:lnTo>
                  <a:lnTo>
                    <a:pt x="185737" y="23217"/>
                  </a:lnTo>
                  <a:lnTo>
                    <a:pt x="187562" y="14181"/>
                  </a:lnTo>
                  <a:lnTo>
                    <a:pt x="192539" y="6801"/>
                  </a:lnTo>
                  <a:lnTo>
                    <a:pt x="199919" y="1825"/>
                  </a:lnTo>
                  <a:lnTo>
                    <a:pt x="208954" y="0"/>
                  </a:lnTo>
                  <a:lnTo>
                    <a:pt x="255389" y="0"/>
                  </a:lnTo>
                  <a:lnTo>
                    <a:pt x="264424" y="1825"/>
                  </a:lnTo>
                  <a:lnTo>
                    <a:pt x="271804" y="6801"/>
                  </a:lnTo>
                  <a:lnTo>
                    <a:pt x="276781" y="14181"/>
                  </a:lnTo>
                  <a:lnTo>
                    <a:pt x="278606" y="23217"/>
                  </a:lnTo>
                  <a:lnTo>
                    <a:pt x="278606" y="69651"/>
                  </a:lnTo>
                  <a:lnTo>
                    <a:pt x="276781" y="78686"/>
                  </a:lnTo>
                  <a:lnTo>
                    <a:pt x="271804" y="86066"/>
                  </a:lnTo>
                  <a:lnTo>
                    <a:pt x="264424" y="91043"/>
                  </a:lnTo>
                  <a:lnTo>
                    <a:pt x="255389" y="92868"/>
                  </a:lnTo>
                  <a:lnTo>
                    <a:pt x="208954" y="92868"/>
                  </a:lnTo>
                  <a:lnTo>
                    <a:pt x="199919" y="91043"/>
                  </a:lnTo>
                  <a:lnTo>
                    <a:pt x="192539" y="86066"/>
                  </a:lnTo>
                  <a:lnTo>
                    <a:pt x="187562" y="78686"/>
                  </a:lnTo>
                  <a:lnTo>
                    <a:pt x="185737" y="69651"/>
                  </a:lnTo>
                  <a:lnTo>
                    <a:pt x="185737" y="61912"/>
                  </a:lnTo>
                  <a:lnTo>
                    <a:pt x="92868" y="61912"/>
                  </a:lnTo>
                  <a:lnTo>
                    <a:pt x="92868" y="70473"/>
                  </a:lnTo>
                  <a:lnTo>
                    <a:pt x="92820" y="71296"/>
                  </a:lnTo>
                  <a:lnTo>
                    <a:pt x="92723" y="72070"/>
                  </a:lnTo>
                  <a:lnTo>
                    <a:pt x="131564" y="123825"/>
                  </a:lnTo>
                  <a:lnTo>
                    <a:pt x="177998" y="123825"/>
                  </a:lnTo>
                  <a:lnTo>
                    <a:pt x="187033" y="125650"/>
                  </a:lnTo>
                  <a:lnTo>
                    <a:pt x="194413" y="130626"/>
                  </a:lnTo>
                  <a:lnTo>
                    <a:pt x="199390" y="138006"/>
                  </a:lnTo>
                  <a:lnTo>
                    <a:pt x="201215" y="147042"/>
                  </a:lnTo>
                  <a:lnTo>
                    <a:pt x="201215" y="193476"/>
                  </a:lnTo>
                  <a:lnTo>
                    <a:pt x="199390" y="202511"/>
                  </a:lnTo>
                  <a:lnTo>
                    <a:pt x="194413" y="209891"/>
                  </a:lnTo>
                  <a:lnTo>
                    <a:pt x="187033" y="214868"/>
                  </a:lnTo>
                  <a:lnTo>
                    <a:pt x="177998" y="216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10286999" y="661034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4" y="666749"/>
                  </a:moveTo>
                  <a:lnTo>
                    <a:pt x="292563" y="664242"/>
                  </a:lnTo>
                  <a:lnTo>
                    <a:pt x="252370" y="656758"/>
                  </a:lnTo>
                  <a:lnTo>
                    <a:pt x="213396" y="644411"/>
                  </a:lnTo>
                  <a:lnTo>
                    <a:pt x="176222" y="627384"/>
                  </a:lnTo>
                  <a:lnTo>
                    <a:pt x="141411" y="605935"/>
                  </a:lnTo>
                  <a:lnTo>
                    <a:pt x="109493" y="580389"/>
                  </a:lnTo>
                  <a:lnTo>
                    <a:pt x="80941" y="551127"/>
                  </a:lnTo>
                  <a:lnTo>
                    <a:pt x="56182" y="518586"/>
                  </a:lnTo>
                  <a:lnTo>
                    <a:pt x="35594" y="483260"/>
                  </a:lnTo>
                  <a:lnTo>
                    <a:pt x="19486" y="445684"/>
                  </a:lnTo>
                  <a:lnTo>
                    <a:pt x="8100" y="406419"/>
                  </a:lnTo>
                  <a:lnTo>
                    <a:pt x="1605" y="366051"/>
                  </a:lnTo>
                  <a:lnTo>
                    <a:pt x="0" y="333374"/>
                  </a:lnTo>
                  <a:lnTo>
                    <a:pt x="100" y="325191"/>
                  </a:lnTo>
                  <a:lnTo>
                    <a:pt x="3607" y="284459"/>
                  </a:lnTo>
                  <a:lnTo>
                    <a:pt x="12075" y="244462"/>
                  </a:lnTo>
                  <a:lnTo>
                    <a:pt x="25375" y="205797"/>
                  </a:lnTo>
                  <a:lnTo>
                    <a:pt x="43310" y="169052"/>
                  </a:lnTo>
                  <a:lnTo>
                    <a:pt x="65604" y="134783"/>
                  </a:lnTo>
                  <a:lnTo>
                    <a:pt x="91926" y="103501"/>
                  </a:lnTo>
                  <a:lnTo>
                    <a:pt x="121883" y="75672"/>
                  </a:lnTo>
                  <a:lnTo>
                    <a:pt x="155021" y="51720"/>
                  </a:lnTo>
                  <a:lnTo>
                    <a:pt x="190838" y="32007"/>
                  </a:lnTo>
                  <a:lnTo>
                    <a:pt x="228798" y="16826"/>
                  </a:lnTo>
                  <a:lnTo>
                    <a:pt x="268335" y="6405"/>
                  </a:lnTo>
                  <a:lnTo>
                    <a:pt x="308852" y="903"/>
                  </a:lnTo>
                  <a:lnTo>
                    <a:pt x="333374" y="0"/>
                  </a:lnTo>
                  <a:lnTo>
                    <a:pt x="341559" y="100"/>
                  </a:lnTo>
                  <a:lnTo>
                    <a:pt x="382291" y="3608"/>
                  </a:lnTo>
                  <a:lnTo>
                    <a:pt x="422288" y="12075"/>
                  </a:lnTo>
                  <a:lnTo>
                    <a:pt x="460952" y="25376"/>
                  </a:lnTo>
                  <a:lnTo>
                    <a:pt x="497697" y="43310"/>
                  </a:lnTo>
                  <a:lnTo>
                    <a:pt x="531966" y="65604"/>
                  </a:lnTo>
                  <a:lnTo>
                    <a:pt x="563248" y="91926"/>
                  </a:lnTo>
                  <a:lnTo>
                    <a:pt x="591077" y="121883"/>
                  </a:lnTo>
                  <a:lnTo>
                    <a:pt x="615029" y="155021"/>
                  </a:lnTo>
                  <a:lnTo>
                    <a:pt x="634742" y="190838"/>
                  </a:lnTo>
                  <a:lnTo>
                    <a:pt x="649923" y="228798"/>
                  </a:lnTo>
                  <a:lnTo>
                    <a:pt x="660343" y="268336"/>
                  </a:lnTo>
                  <a:lnTo>
                    <a:pt x="665846" y="308853"/>
                  </a:lnTo>
                  <a:lnTo>
                    <a:pt x="666749" y="333374"/>
                  </a:lnTo>
                  <a:lnTo>
                    <a:pt x="666649" y="341558"/>
                  </a:lnTo>
                  <a:lnTo>
                    <a:pt x="663141" y="382290"/>
                  </a:lnTo>
                  <a:lnTo>
                    <a:pt x="654674" y="422286"/>
                  </a:lnTo>
                  <a:lnTo>
                    <a:pt x="641372" y="460950"/>
                  </a:lnTo>
                  <a:lnTo>
                    <a:pt x="623438" y="497696"/>
                  </a:lnTo>
                  <a:lnTo>
                    <a:pt x="601144" y="531965"/>
                  </a:lnTo>
                  <a:lnTo>
                    <a:pt x="574822" y="563248"/>
                  </a:lnTo>
                  <a:lnTo>
                    <a:pt x="544865" y="591076"/>
                  </a:lnTo>
                  <a:lnTo>
                    <a:pt x="511727" y="615028"/>
                  </a:lnTo>
                  <a:lnTo>
                    <a:pt x="475912" y="634741"/>
                  </a:lnTo>
                  <a:lnTo>
                    <a:pt x="437951" y="649922"/>
                  </a:lnTo>
                  <a:lnTo>
                    <a:pt x="398412" y="660343"/>
                  </a:lnTo>
                  <a:lnTo>
                    <a:pt x="357897" y="665846"/>
                  </a:lnTo>
                  <a:lnTo>
                    <a:pt x="333374" y="6667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14486" y="6819899"/>
              <a:ext cx="218967" cy="2476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891181" y="6211096"/>
            <a:ext cx="137604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 marR="5080" indent="-40640">
              <a:lnSpc>
                <a:spcPct val="111100"/>
              </a:lnSpc>
              <a:spcBef>
                <a:spcPts val="95"/>
              </a:spcBef>
            </a:pPr>
            <a:r>
              <a:rPr sz="1350" b="1" spc="-85" dirty="0">
                <a:solidFill>
                  <a:srgbClr val="333333"/>
                </a:solidFill>
                <a:latin typeface="Arial"/>
                <a:cs typeface="Arial"/>
              </a:rPr>
              <a:t>IoT</a:t>
            </a:r>
            <a:r>
              <a:rPr sz="1350" b="1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75" dirty="0">
                <a:solidFill>
                  <a:srgbClr val="333333"/>
                </a:solidFill>
                <a:latin typeface="Arial"/>
                <a:cs typeface="Arial"/>
              </a:rPr>
              <a:t>Sensors</a:t>
            </a:r>
            <a:r>
              <a:rPr sz="1350" b="1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55" dirty="0">
                <a:solidFill>
                  <a:srgbClr val="333333"/>
                </a:solidFill>
                <a:latin typeface="Arial"/>
                <a:cs typeface="Arial"/>
              </a:rPr>
              <a:t>Track </a:t>
            </a:r>
            <a:r>
              <a:rPr sz="1350" b="1" spc="-10" dirty="0">
                <a:solidFill>
                  <a:srgbClr val="333333"/>
                </a:solidFill>
                <a:latin typeface="Arial"/>
                <a:cs typeface="Arial"/>
              </a:rPr>
              <a:t>Equipment</a:t>
            </a:r>
            <a:r>
              <a:rPr sz="1350" b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333333"/>
                </a:solidFill>
                <a:latin typeface="Arial"/>
                <a:cs typeface="Arial"/>
              </a:rPr>
              <a:t>24/7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91171" y="6211096"/>
            <a:ext cx="120523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 marR="5080" indent="-10160">
              <a:lnSpc>
                <a:spcPct val="111100"/>
              </a:lnSpc>
              <a:spcBef>
                <a:spcPts val="95"/>
              </a:spcBef>
            </a:pPr>
            <a:r>
              <a:rPr sz="1350" b="1" spc="-40" dirty="0">
                <a:solidFill>
                  <a:srgbClr val="333333"/>
                </a:solidFill>
                <a:latin typeface="Arial"/>
                <a:cs typeface="Arial"/>
              </a:rPr>
              <a:t>Real-</a:t>
            </a:r>
            <a:r>
              <a:rPr sz="1350" b="1" dirty="0">
                <a:solidFill>
                  <a:srgbClr val="333333"/>
                </a:solidFill>
                <a:latin typeface="Arial"/>
                <a:cs typeface="Arial"/>
              </a:rPr>
              <a:t>time</a:t>
            </a:r>
            <a:r>
              <a:rPr sz="1350" b="1" spc="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333333"/>
                </a:solidFill>
                <a:latin typeface="Arial"/>
                <a:cs typeface="Arial"/>
              </a:rPr>
              <a:t>Data </a:t>
            </a:r>
            <a:r>
              <a:rPr sz="1350" b="1" spc="-65" dirty="0">
                <a:solidFill>
                  <a:srgbClr val="333333"/>
                </a:solidFill>
                <a:latin typeface="Arial"/>
                <a:cs typeface="Arial"/>
              </a:rPr>
              <a:t>Flows</a:t>
            </a:r>
            <a:r>
              <a:rPr sz="1350" b="1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350" b="1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30" dirty="0">
                <a:solidFill>
                  <a:srgbClr val="333333"/>
                </a:solidFill>
                <a:latin typeface="Arial"/>
                <a:cs typeface="Arial"/>
              </a:rPr>
              <a:t>Cloud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12877" y="6211096"/>
            <a:ext cx="119062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795" marR="5080" indent="-125730">
              <a:lnSpc>
                <a:spcPct val="111100"/>
              </a:lnSpc>
              <a:spcBef>
                <a:spcPts val="95"/>
              </a:spcBef>
            </a:pPr>
            <a:r>
              <a:rPr sz="1350" b="1" spc="-30" dirty="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35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135" dirty="0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sz="135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60" dirty="0">
                <a:solidFill>
                  <a:srgbClr val="333333"/>
                </a:solidFill>
                <a:latin typeface="Arial"/>
                <a:cs typeface="Arial"/>
              </a:rPr>
              <a:t>ML</a:t>
            </a:r>
            <a:r>
              <a:rPr sz="1350" b="1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333333"/>
                </a:solidFill>
                <a:latin typeface="Arial"/>
                <a:cs typeface="Arial"/>
              </a:rPr>
              <a:t>Detect </a:t>
            </a:r>
            <a:r>
              <a:rPr sz="1350" b="1" spc="-80" dirty="0">
                <a:solidFill>
                  <a:srgbClr val="333333"/>
                </a:solidFill>
                <a:latin typeface="Arial"/>
                <a:cs typeface="Arial"/>
              </a:rPr>
              <a:t>Issues</a:t>
            </a:r>
            <a:r>
              <a:rPr sz="1350" b="1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333333"/>
                </a:solidFill>
                <a:latin typeface="Arial"/>
                <a:cs typeface="Arial"/>
              </a:rPr>
              <a:t>Early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42335" y="6096796"/>
            <a:ext cx="960755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1100"/>
              </a:lnSpc>
              <a:spcBef>
                <a:spcPts val="95"/>
              </a:spcBef>
            </a:pPr>
            <a:r>
              <a:rPr sz="1350" b="1" spc="-10" dirty="0">
                <a:solidFill>
                  <a:srgbClr val="333333"/>
                </a:solidFill>
                <a:latin typeface="Arial"/>
                <a:cs typeface="Arial"/>
              </a:rPr>
              <a:t>Digital</a:t>
            </a:r>
            <a:r>
              <a:rPr sz="1350" b="1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333333"/>
                </a:solidFill>
                <a:latin typeface="Arial"/>
                <a:cs typeface="Arial"/>
              </a:rPr>
              <a:t>Twin </a:t>
            </a:r>
            <a:r>
              <a:rPr sz="1350" b="1" spc="-10" dirty="0">
                <a:solidFill>
                  <a:srgbClr val="333333"/>
                </a:solidFill>
                <a:latin typeface="Arial"/>
                <a:cs typeface="Arial"/>
              </a:rPr>
              <a:t>Simulates Outcomes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820124" y="6211096"/>
            <a:ext cx="123444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935" marR="5080" indent="-229870">
              <a:lnSpc>
                <a:spcPct val="111100"/>
              </a:lnSpc>
              <a:spcBef>
                <a:spcPts val="95"/>
              </a:spcBef>
            </a:pPr>
            <a:r>
              <a:rPr sz="1350" b="1" spc="-10" dirty="0">
                <a:solidFill>
                  <a:srgbClr val="333333"/>
                </a:solidFill>
                <a:latin typeface="Arial"/>
                <a:cs typeface="Arial"/>
              </a:rPr>
              <a:t>Instant</a:t>
            </a:r>
            <a:r>
              <a:rPr sz="1350" b="1" spc="-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30" dirty="0">
                <a:solidFill>
                  <a:srgbClr val="333333"/>
                </a:solidFill>
                <a:latin typeface="Arial"/>
                <a:cs typeface="Arial"/>
              </a:rPr>
              <a:t>Alerts</a:t>
            </a:r>
            <a:r>
              <a:rPr sz="1350" b="1" spc="-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b="1" spc="-130" dirty="0">
                <a:solidFill>
                  <a:srgbClr val="333333"/>
                </a:solidFill>
                <a:latin typeface="Arial"/>
                <a:cs typeface="Arial"/>
              </a:rPr>
              <a:t>&amp; </a:t>
            </a:r>
            <a:r>
              <a:rPr sz="1350" b="1" spc="-10" dirty="0">
                <a:solidFill>
                  <a:srgbClr val="333333"/>
                </a:solidFill>
                <a:latin typeface="Arial"/>
                <a:cs typeface="Arial"/>
              </a:rPr>
              <a:t>Guidance</a:t>
            </a:r>
            <a:endParaRPr sz="13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670" y="208072"/>
            <a:ext cx="9277350" cy="1225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0"/>
              </a:spcBef>
            </a:pPr>
            <a:r>
              <a:rPr sz="3600" b="1" spc="-210" dirty="0">
                <a:latin typeface="Lucida Sans"/>
                <a:cs typeface="Lucida Sans"/>
              </a:rPr>
              <a:t>Competitive</a:t>
            </a:r>
            <a:r>
              <a:rPr sz="3600" b="1" spc="-235" dirty="0">
                <a:latin typeface="Lucida Sans"/>
                <a:cs typeface="Lucida Sans"/>
              </a:rPr>
              <a:t> </a:t>
            </a:r>
            <a:r>
              <a:rPr sz="3600" b="1" spc="-185" dirty="0">
                <a:latin typeface="Lucida Sans"/>
                <a:cs typeface="Lucida Sans"/>
              </a:rPr>
              <a:t>Landscape:</a:t>
            </a:r>
            <a:r>
              <a:rPr sz="3600" b="1" spc="-235" dirty="0">
                <a:latin typeface="Lucida Sans"/>
                <a:cs typeface="Lucida Sans"/>
              </a:rPr>
              <a:t> </a:t>
            </a:r>
            <a:r>
              <a:rPr sz="3600" b="1" spc="-280" dirty="0">
                <a:latin typeface="Lucida Sans"/>
                <a:cs typeface="Lucida Sans"/>
              </a:rPr>
              <a:t>Our</a:t>
            </a:r>
            <a:r>
              <a:rPr sz="3600" b="1" spc="-229" dirty="0">
                <a:latin typeface="Lucida Sans"/>
                <a:cs typeface="Lucida Sans"/>
              </a:rPr>
              <a:t> </a:t>
            </a:r>
            <a:r>
              <a:rPr sz="3600" b="1" spc="-155" dirty="0">
                <a:latin typeface="Lucida Sans"/>
                <a:cs typeface="Lucida Sans"/>
              </a:rPr>
              <a:t>Edge</a:t>
            </a:r>
            <a:r>
              <a:rPr sz="3600" b="1" spc="-235" dirty="0">
                <a:latin typeface="Lucida Sans"/>
                <a:cs typeface="Lucida Sans"/>
              </a:rPr>
              <a:t> </a:t>
            </a:r>
            <a:r>
              <a:rPr sz="3600" b="1" spc="-254" dirty="0">
                <a:latin typeface="Lucida Sans"/>
                <a:cs typeface="Lucida Sans"/>
              </a:rPr>
              <a:t>vs.</a:t>
            </a:r>
            <a:r>
              <a:rPr sz="3600" b="1" spc="-229" dirty="0">
                <a:latin typeface="Lucida Sans"/>
                <a:cs typeface="Lucida Sans"/>
              </a:rPr>
              <a:t> </a:t>
            </a:r>
            <a:r>
              <a:rPr sz="3600" b="1" spc="-185" dirty="0">
                <a:latin typeface="Lucida Sans"/>
                <a:cs typeface="Lucida Sans"/>
              </a:rPr>
              <a:t>Global </a:t>
            </a:r>
            <a:r>
              <a:rPr sz="3600" b="1" spc="-60" dirty="0">
                <a:latin typeface="Lucida Sans"/>
                <a:cs typeface="Lucida Sans"/>
              </a:rPr>
              <a:t>Giants</a:t>
            </a:r>
            <a:endParaRPr sz="3600" dirty="0">
              <a:latin typeface="Lucida Sans"/>
              <a:cs typeface="Lucida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0683" y="5421920"/>
            <a:ext cx="3257549" cy="1323975"/>
            <a:chOff x="952499" y="6581774"/>
            <a:chExt cx="3248025" cy="1323975"/>
          </a:xfrm>
        </p:grpSpPr>
        <p:sp>
          <p:nvSpPr>
            <p:cNvPr id="4" name="object 4"/>
            <p:cNvSpPr/>
            <p:nvPr/>
          </p:nvSpPr>
          <p:spPr>
            <a:xfrm>
              <a:off x="971549" y="6581774"/>
              <a:ext cx="3228975" cy="1323975"/>
            </a:xfrm>
            <a:custGeom>
              <a:avLst/>
              <a:gdLst/>
              <a:ahLst/>
              <a:cxnLst/>
              <a:rect l="l" t="t" r="r" b="b"/>
              <a:pathLst>
                <a:path w="3228975" h="1323975">
                  <a:moveTo>
                    <a:pt x="3157777" y="1323974"/>
                  </a:moveTo>
                  <a:lnTo>
                    <a:pt x="0" y="1323974"/>
                  </a:lnTo>
                  <a:lnTo>
                    <a:pt x="0" y="0"/>
                  </a:lnTo>
                  <a:lnTo>
                    <a:pt x="3157777" y="0"/>
                  </a:lnTo>
                  <a:lnTo>
                    <a:pt x="3162733" y="487"/>
                  </a:lnTo>
                  <a:lnTo>
                    <a:pt x="3199269" y="15621"/>
                  </a:lnTo>
                  <a:lnTo>
                    <a:pt x="3225088" y="51661"/>
                  </a:lnTo>
                  <a:lnTo>
                    <a:pt x="3228974" y="71196"/>
                  </a:lnTo>
                  <a:lnTo>
                    <a:pt x="3228974" y="1252777"/>
                  </a:lnTo>
                  <a:lnTo>
                    <a:pt x="3213352" y="1294269"/>
                  </a:lnTo>
                  <a:lnTo>
                    <a:pt x="3177312" y="1320088"/>
                  </a:lnTo>
                  <a:lnTo>
                    <a:pt x="3157777" y="132397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952499" y="6581774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38099" y="1323974"/>
                  </a:moveTo>
                  <a:lnTo>
                    <a:pt x="0" y="13239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239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16583" y="5547473"/>
            <a:ext cx="132651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110" dirty="0">
                <a:solidFill>
                  <a:srgbClr val="0056B3"/>
                </a:solidFill>
                <a:latin typeface="Lucida Sans"/>
                <a:cs typeface="Lucida Sans"/>
              </a:rPr>
              <a:t>Cost</a:t>
            </a:r>
            <a:r>
              <a:rPr sz="1500" b="1" spc="-10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Efficiency</a:t>
            </a:r>
            <a:endParaRPr sz="1500" dirty="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6583" y="5861950"/>
            <a:ext cx="2997836" cy="6794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300" spc="-240" dirty="0">
                <a:solidFill>
                  <a:srgbClr val="545454"/>
                </a:solidFill>
                <a:latin typeface="Verdana"/>
                <a:cs typeface="Verdana"/>
              </a:rPr>
              <a:t>1</a:t>
            </a:r>
            <a:r>
              <a:rPr lang="en-IN" sz="1300" spc="-240" dirty="0">
                <a:solidFill>
                  <a:srgbClr val="545454"/>
                </a:solidFill>
                <a:latin typeface="Verdana"/>
                <a:cs typeface="Verdana"/>
              </a:rPr>
              <a:t>0 </a:t>
            </a:r>
            <a:r>
              <a:rPr sz="1300" spc="-240" dirty="0">
                <a:solidFill>
                  <a:srgbClr val="545454"/>
                </a:solidFill>
                <a:latin typeface="Verdana"/>
                <a:cs typeface="Verdana"/>
              </a:rPr>
              <a:t>x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545454"/>
                </a:solidFill>
                <a:latin typeface="Verdana"/>
                <a:cs typeface="Verdana"/>
              </a:rPr>
              <a:t>more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545454"/>
                </a:solidFill>
                <a:latin typeface="Verdana"/>
                <a:cs typeface="Verdana"/>
              </a:rPr>
              <a:t>affordable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545454"/>
                </a:solidFill>
                <a:latin typeface="Verdana"/>
                <a:cs typeface="Verdana"/>
              </a:rPr>
              <a:t>than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enterprise </a:t>
            </a:r>
            <a:r>
              <a:rPr sz="1300" spc="-45" dirty="0">
                <a:solidFill>
                  <a:srgbClr val="545454"/>
                </a:solidFill>
                <a:latin typeface="Verdana"/>
                <a:cs typeface="Verdana"/>
              </a:rPr>
              <a:t>solutions</a:t>
            </a:r>
            <a:r>
              <a:rPr sz="130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Verdana"/>
                <a:cs typeface="Verdana"/>
              </a:rPr>
              <a:t>while</a:t>
            </a:r>
            <a:r>
              <a:rPr sz="130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545454"/>
                </a:solidFill>
                <a:latin typeface="Verdana"/>
                <a:cs typeface="Verdana"/>
              </a:rPr>
              <a:t>delivering</a:t>
            </a:r>
            <a:r>
              <a:rPr sz="130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545454"/>
                </a:solidFill>
                <a:latin typeface="Verdana"/>
                <a:cs typeface="Verdana"/>
              </a:rPr>
              <a:t>core </a:t>
            </a:r>
            <a:r>
              <a:rPr sz="1300" spc="-50" dirty="0">
                <a:solidFill>
                  <a:srgbClr val="545454"/>
                </a:solidFill>
                <a:latin typeface="Verdana"/>
                <a:cs typeface="Verdana"/>
              </a:rPr>
              <a:t>predictive</a:t>
            </a:r>
            <a:r>
              <a:rPr sz="1300" spc="-9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Verdana"/>
                <a:cs typeface="Verdana"/>
              </a:rPr>
              <a:t>capabilities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20183" y="5421920"/>
            <a:ext cx="3248025" cy="1323975"/>
            <a:chOff x="4571999" y="6581774"/>
            <a:chExt cx="3248025" cy="1323975"/>
          </a:xfrm>
        </p:grpSpPr>
        <p:sp>
          <p:nvSpPr>
            <p:cNvPr id="9" name="object 9"/>
            <p:cNvSpPr/>
            <p:nvPr/>
          </p:nvSpPr>
          <p:spPr>
            <a:xfrm>
              <a:off x="4591049" y="6581774"/>
              <a:ext cx="3228975" cy="1323975"/>
            </a:xfrm>
            <a:custGeom>
              <a:avLst/>
              <a:gdLst/>
              <a:ahLst/>
              <a:cxnLst/>
              <a:rect l="l" t="t" r="r" b="b"/>
              <a:pathLst>
                <a:path w="3228975" h="1323975">
                  <a:moveTo>
                    <a:pt x="3157778" y="1323974"/>
                  </a:moveTo>
                  <a:lnTo>
                    <a:pt x="0" y="1323974"/>
                  </a:lnTo>
                  <a:lnTo>
                    <a:pt x="0" y="0"/>
                  </a:lnTo>
                  <a:lnTo>
                    <a:pt x="3157778" y="0"/>
                  </a:lnTo>
                  <a:lnTo>
                    <a:pt x="3162733" y="487"/>
                  </a:lnTo>
                  <a:lnTo>
                    <a:pt x="3199268" y="15621"/>
                  </a:lnTo>
                  <a:lnTo>
                    <a:pt x="3225087" y="51661"/>
                  </a:lnTo>
                  <a:lnTo>
                    <a:pt x="3228974" y="71196"/>
                  </a:lnTo>
                  <a:lnTo>
                    <a:pt x="3228974" y="1252777"/>
                  </a:lnTo>
                  <a:lnTo>
                    <a:pt x="3213352" y="1294269"/>
                  </a:lnTo>
                  <a:lnTo>
                    <a:pt x="3177312" y="1320088"/>
                  </a:lnTo>
                  <a:lnTo>
                    <a:pt x="3157778" y="132397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1999" y="6581774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38099" y="1323974"/>
                  </a:moveTo>
                  <a:lnTo>
                    <a:pt x="0" y="13239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239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31321" y="5547473"/>
            <a:ext cx="206692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Implementation</a:t>
            </a:r>
            <a:r>
              <a:rPr sz="1500" b="1" spc="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25" dirty="0">
                <a:solidFill>
                  <a:srgbClr val="0056B3"/>
                </a:solidFill>
                <a:latin typeface="Lucida Sans"/>
                <a:cs typeface="Lucida Sans"/>
              </a:rPr>
              <a:t>Speed</a:t>
            </a:r>
            <a:endParaRPr sz="1500" dirty="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31321" y="5861950"/>
            <a:ext cx="218694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95"/>
              </a:spcBef>
            </a:pPr>
            <a:r>
              <a:rPr sz="1300" spc="-80" dirty="0">
                <a:solidFill>
                  <a:srgbClr val="545454"/>
                </a:solidFill>
                <a:latin typeface="Verdana"/>
                <a:cs typeface="Verdana"/>
              </a:rPr>
              <a:t>Setup</a:t>
            </a:r>
            <a:r>
              <a:rPr sz="1300" spc="-2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545454"/>
                </a:solidFill>
                <a:latin typeface="Verdana"/>
                <a:cs typeface="Verdana"/>
              </a:rPr>
              <a:t>in</a:t>
            </a:r>
            <a:r>
              <a:rPr sz="1300" spc="-1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hours,</a:t>
            </a:r>
            <a:r>
              <a:rPr sz="1300" spc="-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545454"/>
                </a:solidFill>
                <a:latin typeface="Verdana"/>
                <a:cs typeface="Verdana"/>
              </a:rPr>
              <a:t>not</a:t>
            </a:r>
            <a:r>
              <a:rPr sz="1300" spc="-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95" dirty="0">
                <a:solidFill>
                  <a:srgbClr val="545454"/>
                </a:solidFill>
                <a:latin typeface="Verdana"/>
                <a:cs typeface="Verdana"/>
              </a:rPr>
              <a:t>weeks</a:t>
            </a:r>
            <a:r>
              <a:rPr sz="1300" spc="-1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545454"/>
                </a:solidFill>
                <a:latin typeface="Verdana"/>
                <a:cs typeface="Verdana"/>
              </a:rPr>
              <a:t>or </a:t>
            </a:r>
            <a:r>
              <a:rPr sz="1300" spc="-80" dirty="0">
                <a:solidFill>
                  <a:srgbClr val="545454"/>
                </a:solidFill>
                <a:latin typeface="Verdana"/>
                <a:cs typeface="Verdana"/>
              </a:rPr>
              <a:t>months,</a:t>
            </a:r>
            <a:r>
              <a:rPr sz="1300" spc="-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with</a:t>
            </a:r>
            <a:r>
              <a:rPr sz="1300" spc="-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545454"/>
                </a:solidFill>
                <a:latin typeface="Verdana"/>
                <a:cs typeface="Verdana"/>
              </a:rPr>
              <a:t>no</a:t>
            </a:r>
            <a:r>
              <a:rPr sz="1300" spc="-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Verdana"/>
                <a:cs typeface="Verdana"/>
              </a:rPr>
              <a:t>specialized </a:t>
            </a:r>
            <a:r>
              <a:rPr sz="1300" spc="-40" dirty="0">
                <a:solidFill>
                  <a:srgbClr val="545454"/>
                </a:solidFill>
                <a:latin typeface="Verdana"/>
                <a:cs typeface="Verdana"/>
              </a:rPr>
              <a:t>technical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545454"/>
                </a:solidFill>
                <a:latin typeface="Verdana"/>
                <a:cs typeface="Verdana"/>
              </a:rPr>
              <a:t>staff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Verdana"/>
                <a:cs typeface="Verdana"/>
              </a:rPr>
              <a:t>required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30158" y="5421920"/>
            <a:ext cx="3248025" cy="1323975"/>
            <a:chOff x="8181974" y="6581774"/>
            <a:chExt cx="3248025" cy="1323975"/>
          </a:xfrm>
        </p:grpSpPr>
        <p:sp>
          <p:nvSpPr>
            <p:cNvPr id="14" name="object 14"/>
            <p:cNvSpPr/>
            <p:nvPr/>
          </p:nvSpPr>
          <p:spPr>
            <a:xfrm>
              <a:off x="8201024" y="6581774"/>
              <a:ext cx="3228975" cy="1323975"/>
            </a:xfrm>
            <a:custGeom>
              <a:avLst/>
              <a:gdLst/>
              <a:ahLst/>
              <a:cxnLst/>
              <a:rect l="l" t="t" r="r" b="b"/>
              <a:pathLst>
                <a:path w="3228975" h="1323975">
                  <a:moveTo>
                    <a:pt x="3157777" y="1323974"/>
                  </a:moveTo>
                  <a:lnTo>
                    <a:pt x="0" y="1323974"/>
                  </a:lnTo>
                  <a:lnTo>
                    <a:pt x="0" y="0"/>
                  </a:lnTo>
                  <a:lnTo>
                    <a:pt x="3157777" y="0"/>
                  </a:lnTo>
                  <a:lnTo>
                    <a:pt x="3162732" y="487"/>
                  </a:lnTo>
                  <a:lnTo>
                    <a:pt x="3199268" y="15621"/>
                  </a:lnTo>
                  <a:lnTo>
                    <a:pt x="3225087" y="51661"/>
                  </a:lnTo>
                  <a:lnTo>
                    <a:pt x="3228973" y="71196"/>
                  </a:lnTo>
                  <a:lnTo>
                    <a:pt x="3228973" y="1252777"/>
                  </a:lnTo>
                  <a:lnTo>
                    <a:pt x="3213351" y="1294269"/>
                  </a:lnTo>
                  <a:lnTo>
                    <a:pt x="3177311" y="1320088"/>
                  </a:lnTo>
                  <a:lnTo>
                    <a:pt x="3157777" y="132397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8181974" y="6581774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38099" y="1323974"/>
                  </a:moveTo>
                  <a:lnTo>
                    <a:pt x="0" y="13239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239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346059" y="5547473"/>
            <a:ext cx="17538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80" dirty="0">
                <a:solidFill>
                  <a:srgbClr val="0056B3"/>
                </a:solidFill>
                <a:latin typeface="Lucida Sans"/>
                <a:cs typeface="Lucida Sans"/>
              </a:rPr>
              <a:t>Indian</a:t>
            </a: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50" dirty="0">
                <a:solidFill>
                  <a:srgbClr val="0056B3"/>
                </a:solidFill>
                <a:latin typeface="Lucida Sans"/>
                <a:cs typeface="Lucida Sans"/>
              </a:rPr>
              <a:t>MSME</a:t>
            </a: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55" dirty="0">
                <a:solidFill>
                  <a:srgbClr val="0056B3"/>
                </a:solidFill>
                <a:latin typeface="Lucida Sans"/>
                <a:cs typeface="Lucida Sans"/>
              </a:rPr>
              <a:t>Focus</a:t>
            </a:r>
            <a:endParaRPr sz="1500" dirty="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46059" y="5861950"/>
            <a:ext cx="262636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</a:pPr>
            <a:r>
              <a:rPr sz="1300" spc="-35" dirty="0">
                <a:solidFill>
                  <a:srgbClr val="545454"/>
                </a:solidFill>
                <a:latin typeface="Verdana"/>
                <a:cs typeface="Verdana"/>
              </a:rPr>
              <a:t>Built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specifically</a:t>
            </a:r>
            <a:r>
              <a:rPr sz="1300" spc="-9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545454"/>
                </a:solidFill>
                <a:latin typeface="Verdana"/>
                <a:cs typeface="Verdana"/>
              </a:rPr>
              <a:t>for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545454"/>
                </a:solidFill>
                <a:latin typeface="Verdana"/>
                <a:cs typeface="Verdana"/>
              </a:rPr>
              <a:t>local </a:t>
            </a:r>
            <a:r>
              <a:rPr sz="1300" spc="-40" dirty="0">
                <a:solidFill>
                  <a:srgbClr val="545454"/>
                </a:solidFill>
                <a:latin typeface="Verdana"/>
                <a:cs typeface="Verdana"/>
              </a:rPr>
              <a:t>manufacturing</a:t>
            </a:r>
            <a:r>
              <a:rPr sz="1300" spc="-6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environments</a:t>
            </a:r>
            <a:r>
              <a:rPr sz="1300" spc="-6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Verdana"/>
                <a:cs typeface="Verdana"/>
              </a:rPr>
              <a:t>and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machinery</a:t>
            </a:r>
            <a:r>
              <a:rPr sz="1300" spc="-6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545454"/>
                </a:solidFill>
                <a:latin typeface="Verdana"/>
                <a:cs typeface="Verdana"/>
              </a:rPr>
              <a:t>types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" name="object 19"/>
          <p:cNvGrpSpPr/>
          <p:nvPr/>
        </p:nvGrpSpPr>
        <p:grpSpPr>
          <a:xfrm>
            <a:off x="915670" y="1414830"/>
            <a:ext cx="3399157" cy="3842178"/>
            <a:chOff x="952499" y="2152649"/>
            <a:chExt cx="3248025" cy="4143375"/>
          </a:xfrm>
        </p:grpSpPr>
        <p:sp>
          <p:nvSpPr>
            <p:cNvPr id="20" name="object 20"/>
            <p:cNvSpPr/>
            <p:nvPr/>
          </p:nvSpPr>
          <p:spPr>
            <a:xfrm>
              <a:off x="952499" y="2152649"/>
              <a:ext cx="3248025" cy="4143375"/>
            </a:xfrm>
            <a:custGeom>
              <a:avLst/>
              <a:gdLst/>
              <a:ahLst/>
              <a:cxnLst/>
              <a:rect l="l" t="t" r="r" b="b"/>
              <a:pathLst>
                <a:path w="3248025" h="4143375">
                  <a:moveTo>
                    <a:pt x="3159028" y="4143374"/>
                  </a:moveTo>
                  <a:lnTo>
                    <a:pt x="88995" y="4143374"/>
                  </a:lnTo>
                  <a:lnTo>
                    <a:pt x="82801" y="4142764"/>
                  </a:lnTo>
                  <a:lnTo>
                    <a:pt x="37131" y="4123846"/>
                  </a:lnTo>
                  <a:lnTo>
                    <a:pt x="9643" y="4090352"/>
                  </a:lnTo>
                  <a:lnTo>
                    <a:pt x="0" y="4054378"/>
                  </a:lnTo>
                  <a:lnTo>
                    <a:pt x="0" y="4048124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3159028" y="0"/>
                  </a:lnTo>
                  <a:lnTo>
                    <a:pt x="3200492" y="12577"/>
                  </a:lnTo>
                  <a:lnTo>
                    <a:pt x="3235446" y="47531"/>
                  </a:lnTo>
                  <a:lnTo>
                    <a:pt x="3248024" y="88995"/>
                  </a:lnTo>
                  <a:lnTo>
                    <a:pt x="3248024" y="4054378"/>
                  </a:lnTo>
                  <a:lnTo>
                    <a:pt x="3235446" y="4095841"/>
                  </a:lnTo>
                  <a:lnTo>
                    <a:pt x="3200492" y="4130796"/>
                  </a:lnTo>
                  <a:lnTo>
                    <a:pt x="3165222" y="4142764"/>
                  </a:lnTo>
                  <a:lnTo>
                    <a:pt x="3159028" y="414337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293143" y="2512218"/>
              <a:ext cx="571500" cy="500380"/>
            </a:xfrm>
            <a:custGeom>
              <a:avLst/>
              <a:gdLst/>
              <a:ahLst/>
              <a:cxnLst/>
              <a:rect l="l" t="t" r="r" b="b"/>
              <a:pathLst>
                <a:path w="571500" h="500380">
                  <a:moveTo>
                    <a:pt x="517921" y="500062"/>
                  </a:moveTo>
                  <a:lnTo>
                    <a:pt x="53578" y="500062"/>
                  </a:lnTo>
                  <a:lnTo>
                    <a:pt x="32727" y="495850"/>
                  </a:lnTo>
                  <a:lnTo>
                    <a:pt x="15696" y="484365"/>
                  </a:lnTo>
                  <a:lnTo>
                    <a:pt x="4211" y="467334"/>
                  </a:lnTo>
                  <a:lnTo>
                    <a:pt x="0" y="446484"/>
                  </a:lnTo>
                  <a:lnTo>
                    <a:pt x="0" y="35718"/>
                  </a:lnTo>
                  <a:lnTo>
                    <a:pt x="2802" y="21802"/>
                  </a:lnTo>
                  <a:lnTo>
                    <a:pt x="10450" y="10450"/>
                  </a:lnTo>
                  <a:lnTo>
                    <a:pt x="21802" y="2802"/>
                  </a:lnTo>
                  <a:lnTo>
                    <a:pt x="35718" y="0"/>
                  </a:lnTo>
                  <a:lnTo>
                    <a:pt x="107156" y="0"/>
                  </a:lnTo>
                  <a:lnTo>
                    <a:pt x="140072" y="21802"/>
                  </a:lnTo>
                  <a:lnTo>
                    <a:pt x="142875" y="204713"/>
                  </a:lnTo>
                  <a:lnTo>
                    <a:pt x="317673" y="110616"/>
                  </a:lnTo>
                  <a:lnTo>
                    <a:pt x="331382" y="107389"/>
                  </a:lnTo>
                  <a:lnTo>
                    <a:pt x="344127" y="111174"/>
                  </a:lnTo>
                  <a:lnTo>
                    <a:pt x="353524" y="120568"/>
                  </a:lnTo>
                  <a:lnTo>
                    <a:pt x="357187" y="134168"/>
                  </a:lnTo>
                  <a:lnTo>
                    <a:pt x="357187" y="204713"/>
                  </a:lnTo>
                  <a:lnTo>
                    <a:pt x="531986" y="110616"/>
                  </a:lnTo>
                  <a:lnTo>
                    <a:pt x="545694" y="107389"/>
                  </a:lnTo>
                  <a:lnTo>
                    <a:pt x="558440" y="111174"/>
                  </a:lnTo>
                  <a:lnTo>
                    <a:pt x="567837" y="120568"/>
                  </a:lnTo>
                  <a:lnTo>
                    <a:pt x="571500" y="134168"/>
                  </a:lnTo>
                  <a:lnTo>
                    <a:pt x="571500" y="446484"/>
                  </a:lnTo>
                  <a:lnTo>
                    <a:pt x="567288" y="467334"/>
                  </a:lnTo>
                  <a:lnTo>
                    <a:pt x="555803" y="484365"/>
                  </a:lnTo>
                  <a:lnTo>
                    <a:pt x="538772" y="495850"/>
                  </a:lnTo>
                  <a:lnTo>
                    <a:pt x="517921" y="500062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73700" y="2523092"/>
            <a:ext cx="2650213" cy="3276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45" dirty="0">
                <a:solidFill>
                  <a:srgbClr val="333333"/>
                </a:solidFill>
                <a:latin typeface="Arial Black"/>
                <a:cs typeface="Arial Black"/>
              </a:rPr>
              <a:t>Siemens</a:t>
            </a:r>
            <a:r>
              <a:rPr sz="2050" spc="-150" dirty="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sz="2050" spc="-185" dirty="0">
                <a:solidFill>
                  <a:srgbClr val="333333"/>
                </a:solidFill>
                <a:latin typeface="Arial Black"/>
                <a:cs typeface="Arial Black"/>
              </a:rPr>
              <a:t>MindSphere</a:t>
            </a:r>
            <a:endParaRPr sz="2050" dirty="0">
              <a:latin typeface="Arial Black"/>
              <a:cs typeface="Arial Blac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44269" y="3081705"/>
            <a:ext cx="159491" cy="1695858"/>
            <a:chOff x="1181099" y="3819525"/>
            <a:chExt cx="152400" cy="18288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099" y="3819525"/>
              <a:ext cx="152399" cy="1523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099" y="4381500"/>
              <a:ext cx="152399" cy="152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099" y="4943475"/>
              <a:ext cx="152399" cy="1523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099" y="5495925"/>
              <a:ext cx="152399" cy="15239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379219" y="3005631"/>
            <a:ext cx="2373761" cy="409536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40" dirty="0">
                <a:solidFill>
                  <a:srgbClr val="333333"/>
                </a:solidFill>
                <a:latin typeface="Verdana"/>
                <a:cs typeface="Verdana"/>
              </a:rPr>
              <a:t>Designed</a:t>
            </a:r>
            <a:r>
              <a:rPr sz="1300" spc="-5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Verdana"/>
                <a:cs typeface="Verdana"/>
              </a:rPr>
              <a:t>for</a:t>
            </a:r>
            <a:r>
              <a:rPr sz="1300" spc="-5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Verdana"/>
                <a:cs typeface="Verdana"/>
              </a:rPr>
              <a:t>enterprise-</a:t>
            </a:r>
            <a:r>
              <a:rPr sz="1300" spc="-45" dirty="0">
                <a:solidFill>
                  <a:srgbClr val="333333"/>
                </a:solidFill>
                <a:latin typeface="Verdana"/>
                <a:cs typeface="Verdana"/>
              </a:rPr>
              <a:t>scale </a:t>
            </a:r>
            <a:r>
              <a:rPr sz="1300" spc="-10" dirty="0">
                <a:solidFill>
                  <a:srgbClr val="333333"/>
                </a:solidFill>
                <a:latin typeface="Verdana"/>
                <a:cs typeface="Verdana"/>
              </a:rPr>
              <a:t>operations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79219" y="3567606"/>
            <a:ext cx="2081361" cy="409536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60" dirty="0">
                <a:solidFill>
                  <a:srgbClr val="333333"/>
                </a:solidFill>
                <a:latin typeface="Verdana"/>
                <a:cs typeface="Verdana"/>
              </a:rPr>
              <a:t>Complex</a:t>
            </a:r>
            <a:r>
              <a:rPr sz="1300" spc="-8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33333"/>
                </a:solidFill>
                <a:latin typeface="Verdana"/>
                <a:cs typeface="Verdana"/>
              </a:rPr>
              <a:t>implementation </a:t>
            </a:r>
            <a:r>
              <a:rPr sz="1300" spc="-45" dirty="0">
                <a:solidFill>
                  <a:srgbClr val="333333"/>
                </a:solidFill>
                <a:latin typeface="Verdana"/>
                <a:cs typeface="Verdana"/>
              </a:rPr>
              <a:t>requiring</a:t>
            </a:r>
            <a:r>
              <a:rPr sz="130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155" dirty="0">
                <a:solidFill>
                  <a:srgbClr val="333333"/>
                </a:solidFill>
                <a:latin typeface="Verdana"/>
                <a:cs typeface="Verdana"/>
              </a:rPr>
              <a:t>IT</a:t>
            </a:r>
            <a:r>
              <a:rPr sz="1300" spc="-10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Verdana"/>
                <a:cs typeface="Verdana"/>
              </a:rPr>
              <a:t>expertise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79220" y="4129581"/>
            <a:ext cx="1995634" cy="409536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20" dirty="0">
                <a:solidFill>
                  <a:srgbClr val="333333"/>
                </a:solidFill>
                <a:latin typeface="Verdana"/>
                <a:cs typeface="Verdana"/>
              </a:rPr>
              <a:t>High</a:t>
            </a:r>
            <a:r>
              <a:rPr sz="1300" spc="-9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333333"/>
                </a:solidFill>
                <a:latin typeface="Verdana"/>
                <a:cs typeface="Verdana"/>
              </a:rPr>
              <a:t>initial</a:t>
            </a:r>
            <a:r>
              <a:rPr sz="1300" spc="-9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333333"/>
                </a:solidFill>
                <a:latin typeface="Verdana"/>
                <a:cs typeface="Verdana"/>
              </a:rPr>
              <a:t>investment</a:t>
            </a:r>
            <a:r>
              <a:rPr sz="1300" spc="-9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185" dirty="0">
                <a:solidFill>
                  <a:srgbClr val="333333"/>
                </a:solidFill>
                <a:latin typeface="Verdana"/>
                <a:cs typeface="Verdana"/>
              </a:rPr>
              <a:t>&amp; </a:t>
            </a:r>
            <a:r>
              <a:rPr sz="1300" spc="-25" dirty="0">
                <a:solidFill>
                  <a:srgbClr val="333333"/>
                </a:solidFill>
                <a:latin typeface="Verdana"/>
                <a:cs typeface="Verdana"/>
              </a:rPr>
              <a:t>ongoing</a:t>
            </a:r>
            <a:r>
              <a:rPr sz="1300" spc="-10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33333"/>
                </a:solidFill>
                <a:latin typeface="Verdana"/>
                <a:cs typeface="Verdana"/>
              </a:rPr>
              <a:t>costs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79220" y="4664734"/>
            <a:ext cx="2235536" cy="4353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spc="-25" dirty="0">
                <a:solidFill>
                  <a:srgbClr val="333333"/>
                </a:solidFill>
                <a:latin typeface="Verdana"/>
                <a:cs typeface="Verdana"/>
              </a:rPr>
              <a:t>Long</a:t>
            </a:r>
            <a:r>
              <a:rPr sz="1300" spc="-10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33333"/>
                </a:solidFill>
                <a:latin typeface="Verdana"/>
                <a:cs typeface="Verdana"/>
              </a:rPr>
              <a:t>onboarding</a:t>
            </a:r>
            <a:r>
              <a:rPr sz="1300" spc="-10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160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spc="-10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333333"/>
                </a:solidFill>
                <a:latin typeface="Verdana"/>
                <a:cs typeface="Verdana"/>
              </a:rPr>
              <a:t>training </a:t>
            </a:r>
            <a:r>
              <a:rPr sz="1300" spc="-10" dirty="0">
                <a:solidFill>
                  <a:srgbClr val="333333"/>
                </a:solidFill>
                <a:latin typeface="Verdana"/>
                <a:cs typeface="Verdana"/>
              </a:rPr>
              <a:t>periods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535170" y="1414830"/>
            <a:ext cx="3399157" cy="3842178"/>
            <a:chOff x="4571999" y="2152649"/>
            <a:chExt cx="3248025" cy="4143375"/>
          </a:xfrm>
        </p:grpSpPr>
        <p:sp>
          <p:nvSpPr>
            <p:cNvPr id="33" name="object 33"/>
            <p:cNvSpPr/>
            <p:nvPr/>
          </p:nvSpPr>
          <p:spPr>
            <a:xfrm>
              <a:off x="4586287" y="2166937"/>
              <a:ext cx="3219450" cy="4114800"/>
            </a:xfrm>
            <a:custGeom>
              <a:avLst/>
              <a:gdLst/>
              <a:ahLst/>
              <a:cxnLst/>
              <a:rect l="l" t="t" r="r" b="b"/>
              <a:pathLst>
                <a:path w="3219450" h="4114800">
                  <a:moveTo>
                    <a:pt x="3143803" y="4114799"/>
                  </a:moveTo>
                  <a:lnTo>
                    <a:pt x="75646" y="4114799"/>
                  </a:lnTo>
                  <a:lnTo>
                    <a:pt x="70380" y="4114281"/>
                  </a:lnTo>
                  <a:lnTo>
                    <a:pt x="31561" y="4098200"/>
                  </a:lnTo>
                  <a:lnTo>
                    <a:pt x="4127" y="4059907"/>
                  </a:lnTo>
                  <a:lnTo>
                    <a:pt x="0" y="4039153"/>
                  </a:lnTo>
                  <a:lnTo>
                    <a:pt x="0" y="4033837"/>
                  </a:lnTo>
                  <a:lnTo>
                    <a:pt x="0" y="75646"/>
                  </a:lnTo>
                  <a:lnTo>
                    <a:pt x="16597" y="31561"/>
                  </a:lnTo>
                  <a:lnTo>
                    <a:pt x="54890" y="4128"/>
                  </a:lnTo>
                  <a:lnTo>
                    <a:pt x="75646" y="0"/>
                  </a:lnTo>
                  <a:lnTo>
                    <a:pt x="3143803" y="0"/>
                  </a:lnTo>
                  <a:lnTo>
                    <a:pt x="3187887" y="16597"/>
                  </a:lnTo>
                  <a:lnTo>
                    <a:pt x="3215320" y="54890"/>
                  </a:lnTo>
                  <a:lnTo>
                    <a:pt x="3219449" y="75646"/>
                  </a:lnTo>
                  <a:lnTo>
                    <a:pt x="3219449" y="4039153"/>
                  </a:lnTo>
                  <a:lnTo>
                    <a:pt x="3202850" y="4083237"/>
                  </a:lnTo>
                  <a:lnTo>
                    <a:pt x="3164558" y="4110670"/>
                  </a:lnTo>
                  <a:lnTo>
                    <a:pt x="3149068" y="4114281"/>
                  </a:lnTo>
                  <a:lnTo>
                    <a:pt x="3143803" y="41147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586287" y="2166937"/>
              <a:ext cx="3219450" cy="4114800"/>
            </a:xfrm>
            <a:custGeom>
              <a:avLst/>
              <a:gdLst/>
              <a:ahLst/>
              <a:cxnLst/>
              <a:rect l="l" t="t" r="r" b="b"/>
              <a:pathLst>
                <a:path w="3219450" h="4114800">
                  <a:moveTo>
                    <a:pt x="0" y="4033837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555" y="65167"/>
                  </a:lnTo>
                  <a:lnTo>
                    <a:pt x="2592" y="59953"/>
                  </a:lnTo>
                  <a:lnTo>
                    <a:pt x="4127" y="54890"/>
                  </a:lnTo>
                  <a:lnTo>
                    <a:pt x="6162" y="49979"/>
                  </a:lnTo>
                  <a:lnTo>
                    <a:pt x="8196" y="45067"/>
                  </a:lnTo>
                  <a:lnTo>
                    <a:pt x="10690" y="40401"/>
                  </a:lnTo>
                  <a:lnTo>
                    <a:pt x="13643" y="35981"/>
                  </a:lnTo>
                  <a:lnTo>
                    <a:pt x="16597" y="31561"/>
                  </a:lnTo>
                  <a:lnTo>
                    <a:pt x="19954" y="27472"/>
                  </a:lnTo>
                  <a:lnTo>
                    <a:pt x="23713" y="23713"/>
                  </a:lnTo>
                  <a:lnTo>
                    <a:pt x="27471" y="19954"/>
                  </a:lnTo>
                  <a:lnTo>
                    <a:pt x="31561" y="16597"/>
                  </a:lnTo>
                  <a:lnTo>
                    <a:pt x="35981" y="13644"/>
                  </a:lnTo>
                  <a:lnTo>
                    <a:pt x="40401" y="10690"/>
                  </a:lnTo>
                  <a:lnTo>
                    <a:pt x="45067" y="8197"/>
                  </a:lnTo>
                  <a:lnTo>
                    <a:pt x="75646" y="0"/>
                  </a:lnTo>
                  <a:lnTo>
                    <a:pt x="80962" y="0"/>
                  </a:lnTo>
                  <a:lnTo>
                    <a:pt x="3138487" y="0"/>
                  </a:lnTo>
                  <a:lnTo>
                    <a:pt x="3143803" y="0"/>
                  </a:lnTo>
                  <a:lnTo>
                    <a:pt x="3149068" y="518"/>
                  </a:lnTo>
                  <a:lnTo>
                    <a:pt x="3154281" y="1555"/>
                  </a:lnTo>
                  <a:lnTo>
                    <a:pt x="3159495" y="2592"/>
                  </a:lnTo>
                  <a:lnTo>
                    <a:pt x="3164557" y="4128"/>
                  </a:lnTo>
                  <a:lnTo>
                    <a:pt x="3169469" y="6162"/>
                  </a:lnTo>
                  <a:lnTo>
                    <a:pt x="3174380" y="8197"/>
                  </a:lnTo>
                  <a:lnTo>
                    <a:pt x="3179046" y="10690"/>
                  </a:lnTo>
                  <a:lnTo>
                    <a:pt x="3183467" y="13644"/>
                  </a:lnTo>
                  <a:lnTo>
                    <a:pt x="3187887" y="16597"/>
                  </a:lnTo>
                  <a:lnTo>
                    <a:pt x="3191977" y="19954"/>
                  </a:lnTo>
                  <a:lnTo>
                    <a:pt x="3195736" y="23713"/>
                  </a:lnTo>
                  <a:lnTo>
                    <a:pt x="3199494" y="27472"/>
                  </a:lnTo>
                  <a:lnTo>
                    <a:pt x="3217893" y="65167"/>
                  </a:lnTo>
                  <a:lnTo>
                    <a:pt x="3219449" y="80962"/>
                  </a:lnTo>
                  <a:lnTo>
                    <a:pt x="3219449" y="4033837"/>
                  </a:lnTo>
                  <a:lnTo>
                    <a:pt x="3219449" y="4039153"/>
                  </a:lnTo>
                  <a:lnTo>
                    <a:pt x="3218930" y="4044417"/>
                  </a:lnTo>
                  <a:lnTo>
                    <a:pt x="3217893" y="4049631"/>
                  </a:lnTo>
                  <a:lnTo>
                    <a:pt x="3216856" y="4054845"/>
                  </a:lnTo>
                  <a:lnTo>
                    <a:pt x="3195736" y="4091086"/>
                  </a:lnTo>
                  <a:lnTo>
                    <a:pt x="3183467" y="4101153"/>
                  </a:lnTo>
                  <a:lnTo>
                    <a:pt x="3179046" y="4104107"/>
                  </a:lnTo>
                  <a:lnTo>
                    <a:pt x="3143803" y="4114799"/>
                  </a:lnTo>
                  <a:lnTo>
                    <a:pt x="3138487" y="4114799"/>
                  </a:lnTo>
                  <a:lnTo>
                    <a:pt x="80962" y="4114799"/>
                  </a:lnTo>
                  <a:lnTo>
                    <a:pt x="75646" y="4114799"/>
                  </a:lnTo>
                  <a:lnTo>
                    <a:pt x="70380" y="4114281"/>
                  </a:lnTo>
                  <a:lnTo>
                    <a:pt x="35981" y="4101153"/>
                  </a:lnTo>
                  <a:lnTo>
                    <a:pt x="31561" y="4098200"/>
                  </a:lnTo>
                  <a:lnTo>
                    <a:pt x="6162" y="4064819"/>
                  </a:lnTo>
                  <a:lnTo>
                    <a:pt x="4127" y="4059907"/>
                  </a:lnTo>
                  <a:lnTo>
                    <a:pt x="2592" y="4054845"/>
                  </a:lnTo>
                  <a:lnTo>
                    <a:pt x="1555" y="4049631"/>
                  </a:lnTo>
                  <a:lnTo>
                    <a:pt x="518" y="4044417"/>
                  </a:lnTo>
                  <a:lnTo>
                    <a:pt x="0" y="4039153"/>
                  </a:lnTo>
                  <a:lnTo>
                    <a:pt x="0" y="4033837"/>
                  </a:lnTo>
                  <a:close/>
                </a:path>
              </a:pathLst>
            </a:custGeom>
            <a:ln w="28574">
              <a:solidFill>
                <a:srgbClr val="0056B3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5" name="object 35"/>
            <p:cNvSpPr/>
            <p:nvPr/>
          </p:nvSpPr>
          <p:spPr>
            <a:xfrm>
              <a:off x="5905499" y="25050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00062" y="142875"/>
                  </a:moveTo>
                  <a:lnTo>
                    <a:pt x="71437" y="142875"/>
                  </a:lnTo>
                  <a:lnTo>
                    <a:pt x="77058" y="115090"/>
                  </a:lnTo>
                  <a:lnTo>
                    <a:pt x="92380" y="92380"/>
                  </a:lnTo>
                  <a:lnTo>
                    <a:pt x="115090" y="77058"/>
                  </a:lnTo>
                  <a:lnTo>
                    <a:pt x="142875" y="71437"/>
                  </a:lnTo>
                  <a:lnTo>
                    <a:pt x="142875" y="26789"/>
                  </a:lnTo>
                  <a:lnTo>
                    <a:pt x="144973" y="16340"/>
                  </a:lnTo>
                  <a:lnTo>
                    <a:pt x="150702" y="7827"/>
                  </a:lnTo>
                  <a:lnTo>
                    <a:pt x="159215" y="2098"/>
                  </a:lnTo>
                  <a:lnTo>
                    <a:pt x="169664" y="0"/>
                  </a:lnTo>
                  <a:lnTo>
                    <a:pt x="180112" y="2098"/>
                  </a:lnTo>
                  <a:lnTo>
                    <a:pt x="188625" y="7827"/>
                  </a:lnTo>
                  <a:lnTo>
                    <a:pt x="194355" y="16340"/>
                  </a:lnTo>
                  <a:lnTo>
                    <a:pt x="196453" y="26789"/>
                  </a:lnTo>
                  <a:lnTo>
                    <a:pt x="196453" y="71437"/>
                  </a:lnTo>
                  <a:lnTo>
                    <a:pt x="428625" y="71437"/>
                  </a:lnTo>
                  <a:lnTo>
                    <a:pt x="456409" y="77058"/>
                  </a:lnTo>
                  <a:lnTo>
                    <a:pt x="479119" y="92380"/>
                  </a:lnTo>
                  <a:lnTo>
                    <a:pt x="494441" y="115090"/>
                  </a:lnTo>
                  <a:lnTo>
                    <a:pt x="500062" y="142875"/>
                  </a:lnTo>
                  <a:close/>
                </a:path>
                <a:path w="571500" h="571500">
                  <a:moveTo>
                    <a:pt x="312539" y="71437"/>
                  </a:moveTo>
                  <a:lnTo>
                    <a:pt x="258960" y="71437"/>
                  </a:lnTo>
                  <a:lnTo>
                    <a:pt x="258960" y="26789"/>
                  </a:lnTo>
                  <a:lnTo>
                    <a:pt x="261059" y="16340"/>
                  </a:lnTo>
                  <a:lnTo>
                    <a:pt x="266788" y="7827"/>
                  </a:lnTo>
                  <a:lnTo>
                    <a:pt x="275301" y="2098"/>
                  </a:lnTo>
                  <a:lnTo>
                    <a:pt x="285750" y="0"/>
                  </a:lnTo>
                  <a:lnTo>
                    <a:pt x="296198" y="2098"/>
                  </a:lnTo>
                  <a:lnTo>
                    <a:pt x="304711" y="7827"/>
                  </a:lnTo>
                  <a:lnTo>
                    <a:pt x="310440" y="16340"/>
                  </a:lnTo>
                  <a:lnTo>
                    <a:pt x="312539" y="26789"/>
                  </a:lnTo>
                  <a:lnTo>
                    <a:pt x="312539" y="71437"/>
                  </a:lnTo>
                  <a:close/>
                </a:path>
                <a:path w="571500" h="571500">
                  <a:moveTo>
                    <a:pt x="428625" y="71437"/>
                  </a:moveTo>
                  <a:lnTo>
                    <a:pt x="375046" y="71437"/>
                  </a:lnTo>
                  <a:lnTo>
                    <a:pt x="375046" y="26789"/>
                  </a:lnTo>
                  <a:lnTo>
                    <a:pt x="377145" y="16340"/>
                  </a:lnTo>
                  <a:lnTo>
                    <a:pt x="382874" y="7827"/>
                  </a:lnTo>
                  <a:lnTo>
                    <a:pt x="391387" y="2098"/>
                  </a:lnTo>
                  <a:lnTo>
                    <a:pt x="401835" y="0"/>
                  </a:lnTo>
                  <a:lnTo>
                    <a:pt x="412284" y="2098"/>
                  </a:lnTo>
                  <a:lnTo>
                    <a:pt x="420797" y="7827"/>
                  </a:lnTo>
                  <a:lnTo>
                    <a:pt x="426526" y="16340"/>
                  </a:lnTo>
                  <a:lnTo>
                    <a:pt x="428625" y="26789"/>
                  </a:lnTo>
                  <a:lnTo>
                    <a:pt x="428625" y="71437"/>
                  </a:lnTo>
                  <a:close/>
                </a:path>
                <a:path w="571500" h="571500">
                  <a:moveTo>
                    <a:pt x="178593" y="428625"/>
                  </a:moveTo>
                  <a:lnTo>
                    <a:pt x="26789" y="428625"/>
                  </a:lnTo>
                  <a:lnTo>
                    <a:pt x="16340" y="426526"/>
                  </a:lnTo>
                  <a:lnTo>
                    <a:pt x="7827" y="420797"/>
                  </a:lnTo>
                  <a:lnTo>
                    <a:pt x="2098" y="412284"/>
                  </a:lnTo>
                  <a:lnTo>
                    <a:pt x="0" y="401835"/>
                  </a:lnTo>
                  <a:lnTo>
                    <a:pt x="2098" y="391387"/>
                  </a:lnTo>
                  <a:lnTo>
                    <a:pt x="7827" y="382874"/>
                  </a:lnTo>
                  <a:lnTo>
                    <a:pt x="16340" y="377145"/>
                  </a:lnTo>
                  <a:lnTo>
                    <a:pt x="26789" y="375046"/>
                  </a:lnTo>
                  <a:lnTo>
                    <a:pt x="71437" y="375046"/>
                  </a:lnTo>
                  <a:lnTo>
                    <a:pt x="71437" y="312539"/>
                  </a:lnTo>
                  <a:lnTo>
                    <a:pt x="26789" y="312539"/>
                  </a:lnTo>
                  <a:lnTo>
                    <a:pt x="16340" y="310440"/>
                  </a:lnTo>
                  <a:lnTo>
                    <a:pt x="7827" y="304711"/>
                  </a:lnTo>
                  <a:lnTo>
                    <a:pt x="2098" y="296198"/>
                  </a:lnTo>
                  <a:lnTo>
                    <a:pt x="0" y="285750"/>
                  </a:lnTo>
                  <a:lnTo>
                    <a:pt x="2098" y="275301"/>
                  </a:lnTo>
                  <a:lnTo>
                    <a:pt x="7827" y="266788"/>
                  </a:lnTo>
                  <a:lnTo>
                    <a:pt x="16340" y="261059"/>
                  </a:lnTo>
                  <a:lnTo>
                    <a:pt x="26789" y="258960"/>
                  </a:lnTo>
                  <a:lnTo>
                    <a:pt x="71437" y="258960"/>
                  </a:lnTo>
                  <a:lnTo>
                    <a:pt x="71437" y="196453"/>
                  </a:lnTo>
                  <a:lnTo>
                    <a:pt x="26789" y="196453"/>
                  </a:lnTo>
                  <a:lnTo>
                    <a:pt x="16340" y="194355"/>
                  </a:lnTo>
                  <a:lnTo>
                    <a:pt x="7827" y="188625"/>
                  </a:lnTo>
                  <a:lnTo>
                    <a:pt x="2098" y="180112"/>
                  </a:lnTo>
                  <a:lnTo>
                    <a:pt x="0" y="169664"/>
                  </a:lnTo>
                  <a:lnTo>
                    <a:pt x="2098" y="159215"/>
                  </a:lnTo>
                  <a:lnTo>
                    <a:pt x="7827" y="150702"/>
                  </a:lnTo>
                  <a:lnTo>
                    <a:pt x="16340" y="144973"/>
                  </a:lnTo>
                  <a:lnTo>
                    <a:pt x="26789" y="142875"/>
                  </a:lnTo>
                  <a:lnTo>
                    <a:pt x="178593" y="142875"/>
                  </a:lnTo>
                  <a:lnTo>
                    <a:pt x="164677" y="145677"/>
                  </a:lnTo>
                  <a:lnTo>
                    <a:pt x="153325" y="153325"/>
                  </a:lnTo>
                  <a:lnTo>
                    <a:pt x="145677" y="164677"/>
                  </a:lnTo>
                  <a:lnTo>
                    <a:pt x="142875" y="178593"/>
                  </a:lnTo>
                  <a:lnTo>
                    <a:pt x="142875" y="392906"/>
                  </a:lnTo>
                  <a:lnTo>
                    <a:pt x="145677" y="406822"/>
                  </a:lnTo>
                  <a:lnTo>
                    <a:pt x="153325" y="418174"/>
                  </a:lnTo>
                  <a:lnTo>
                    <a:pt x="164677" y="425822"/>
                  </a:lnTo>
                  <a:lnTo>
                    <a:pt x="178593" y="428625"/>
                  </a:lnTo>
                  <a:close/>
                </a:path>
                <a:path w="571500" h="571500">
                  <a:moveTo>
                    <a:pt x="544710" y="428625"/>
                  </a:moveTo>
                  <a:lnTo>
                    <a:pt x="392906" y="428625"/>
                  </a:lnTo>
                  <a:lnTo>
                    <a:pt x="406822" y="425822"/>
                  </a:lnTo>
                  <a:lnTo>
                    <a:pt x="418174" y="418174"/>
                  </a:lnTo>
                  <a:lnTo>
                    <a:pt x="425822" y="406822"/>
                  </a:lnTo>
                  <a:lnTo>
                    <a:pt x="428625" y="392906"/>
                  </a:lnTo>
                  <a:lnTo>
                    <a:pt x="428625" y="178593"/>
                  </a:lnTo>
                  <a:lnTo>
                    <a:pt x="425822" y="164677"/>
                  </a:lnTo>
                  <a:lnTo>
                    <a:pt x="418174" y="153325"/>
                  </a:lnTo>
                  <a:lnTo>
                    <a:pt x="406822" y="145677"/>
                  </a:lnTo>
                  <a:lnTo>
                    <a:pt x="392906" y="142875"/>
                  </a:lnTo>
                  <a:lnTo>
                    <a:pt x="544710" y="142875"/>
                  </a:lnTo>
                  <a:lnTo>
                    <a:pt x="555159" y="144973"/>
                  </a:lnTo>
                  <a:lnTo>
                    <a:pt x="563672" y="150702"/>
                  </a:lnTo>
                  <a:lnTo>
                    <a:pt x="569401" y="159215"/>
                  </a:lnTo>
                  <a:lnTo>
                    <a:pt x="571500" y="169664"/>
                  </a:lnTo>
                  <a:lnTo>
                    <a:pt x="569401" y="180112"/>
                  </a:lnTo>
                  <a:lnTo>
                    <a:pt x="563672" y="188625"/>
                  </a:lnTo>
                  <a:lnTo>
                    <a:pt x="555159" y="194355"/>
                  </a:lnTo>
                  <a:lnTo>
                    <a:pt x="544710" y="196453"/>
                  </a:lnTo>
                  <a:lnTo>
                    <a:pt x="500062" y="196453"/>
                  </a:lnTo>
                  <a:lnTo>
                    <a:pt x="500062" y="258960"/>
                  </a:lnTo>
                  <a:lnTo>
                    <a:pt x="544710" y="258960"/>
                  </a:lnTo>
                  <a:lnTo>
                    <a:pt x="555159" y="261059"/>
                  </a:lnTo>
                  <a:lnTo>
                    <a:pt x="563672" y="266788"/>
                  </a:lnTo>
                  <a:lnTo>
                    <a:pt x="569401" y="275301"/>
                  </a:lnTo>
                  <a:lnTo>
                    <a:pt x="571500" y="285750"/>
                  </a:lnTo>
                  <a:lnTo>
                    <a:pt x="569401" y="296198"/>
                  </a:lnTo>
                  <a:lnTo>
                    <a:pt x="563672" y="304711"/>
                  </a:lnTo>
                  <a:lnTo>
                    <a:pt x="555159" y="310440"/>
                  </a:lnTo>
                  <a:lnTo>
                    <a:pt x="544710" y="312539"/>
                  </a:lnTo>
                  <a:lnTo>
                    <a:pt x="500062" y="312539"/>
                  </a:lnTo>
                  <a:lnTo>
                    <a:pt x="500062" y="375046"/>
                  </a:lnTo>
                  <a:lnTo>
                    <a:pt x="544710" y="375046"/>
                  </a:lnTo>
                  <a:lnTo>
                    <a:pt x="555159" y="377145"/>
                  </a:lnTo>
                  <a:lnTo>
                    <a:pt x="563672" y="382874"/>
                  </a:lnTo>
                  <a:lnTo>
                    <a:pt x="569401" y="391387"/>
                  </a:lnTo>
                  <a:lnTo>
                    <a:pt x="571500" y="401835"/>
                  </a:lnTo>
                  <a:lnTo>
                    <a:pt x="569401" y="412284"/>
                  </a:lnTo>
                  <a:lnTo>
                    <a:pt x="563672" y="420797"/>
                  </a:lnTo>
                  <a:lnTo>
                    <a:pt x="555159" y="426526"/>
                  </a:lnTo>
                  <a:lnTo>
                    <a:pt x="544710" y="428625"/>
                  </a:lnTo>
                  <a:close/>
                </a:path>
                <a:path w="571500" h="571500">
                  <a:moveTo>
                    <a:pt x="392906" y="392906"/>
                  </a:moveTo>
                  <a:lnTo>
                    <a:pt x="178593" y="392906"/>
                  </a:lnTo>
                  <a:lnTo>
                    <a:pt x="178593" y="178593"/>
                  </a:lnTo>
                  <a:lnTo>
                    <a:pt x="392906" y="178593"/>
                  </a:lnTo>
                  <a:lnTo>
                    <a:pt x="392906" y="392906"/>
                  </a:lnTo>
                  <a:close/>
                </a:path>
                <a:path w="571500" h="571500">
                  <a:moveTo>
                    <a:pt x="169664" y="571500"/>
                  </a:moveTo>
                  <a:lnTo>
                    <a:pt x="159215" y="569401"/>
                  </a:lnTo>
                  <a:lnTo>
                    <a:pt x="150702" y="563672"/>
                  </a:lnTo>
                  <a:lnTo>
                    <a:pt x="144973" y="555159"/>
                  </a:lnTo>
                  <a:lnTo>
                    <a:pt x="142875" y="544710"/>
                  </a:lnTo>
                  <a:lnTo>
                    <a:pt x="142875" y="500062"/>
                  </a:lnTo>
                  <a:lnTo>
                    <a:pt x="115090" y="494441"/>
                  </a:lnTo>
                  <a:lnTo>
                    <a:pt x="92380" y="479119"/>
                  </a:lnTo>
                  <a:lnTo>
                    <a:pt x="77058" y="456409"/>
                  </a:lnTo>
                  <a:lnTo>
                    <a:pt x="71437" y="428625"/>
                  </a:lnTo>
                  <a:lnTo>
                    <a:pt x="500062" y="428625"/>
                  </a:lnTo>
                  <a:lnTo>
                    <a:pt x="494441" y="456409"/>
                  </a:lnTo>
                  <a:lnTo>
                    <a:pt x="479119" y="479119"/>
                  </a:lnTo>
                  <a:lnTo>
                    <a:pt x="456409" y="494441"/>
                  </a:lnTo>
                  <a:lnTo>
                    <a:pt x="428625" y="500062"/>
                  </a:lnTo>
                  <a:lnTo>
                    <a:pt x="196453" y="500062"/>
                  </a:lnTo>
                  <a:lnTo>
                    <a:pt x="196453" y="544710"/>
                  </a:lnTo>
                  <a:lnTo>
                    <a:pt x="194355" y="555159"/>
                  </a:lnTo>
                  <a:lnTo>
                    <a:pt x="188625" y="563672"/>
                  </a:lnTo>
                  <a:lnTo>
                    <a:pt x="180112" y="569401"/>
                  </a:lnTo>
                  <a:lnTo>
                    <a:pt x="169664" y="571500"/>
                  </a:lnTo>
                  <a:close/>
                </a:path>
                <a:path w="571500" h="571500">
                  <a:moveTo>
                    <a:pt x="285750" y="571500"/>
                  </a:moveTo>
                  <a:lnTo>
                    <a:pt x="275301" y="569401"/>
                  </a:lnTo>
                  <a:lnTo>
                    <a:pt x="266788" y="563672"/>
                  </a:lnTo>
                  <a:lnTo>
                    <a:pt x="261059" y="555159"/>
                  </a:lnTo>
                  <a:lnTo>
                    <a:pt x="258960" y="544710"/>
                  </a:lnTo>
                  <a:lnTo>
                    <a:pt x="258960" y="500062"/>
                  </a:lnTo>
                  <a:lnTo>
                    <a:pt x="312539" y="500062"/>
                  </a:lnTo>
                  <a:lnTo>
                    <a:pt x="312539" y="544710"/>
                  </a:lnTo>
                  <a:lnTo>
                    <a:pt x="310440" y="555159"/>
                  </a:lnTo>
                  <a:lnTo>
                    <a:pt x="304711" y="563672"/>
                  </a:lnTo>
                  <a:lnTo>
                    <a:pt x="296198" y="569401"/>
                  </a:lnTo>
                  <a:lnTo>
                    <a:pt x="285750" y="571500"/>
                  </a:lnTo>
                  <a:close/>
                </a:path>
                <a:path w="571500" h="571500">
                  <a:moveTo>
                    <a:pt x="401835" y="571500"/>
                  </a:moveTo>
                  <a:lnTo>
                    <a:pt x="391387" y="569401"/>
                  </a:lnTo>
                  <a:lnTo>
                    <a:pt x="382874" y="563672"/>
                  </a:lnTo>
                  <a:lnTo>
                    <a:pt x="377145" y="555159"/>
                  </a:lnTo>
                  <a:lnTo>
                    <a:pt x="375046" y="544710"/>
                  </a:lnTo>
                  <a:lnTo>
                    <a:pt x="375046" y="500062"/>
                  </a:lnTo>
                  <a:lnTo>
                    <a:pt x="428625" y="500062"/>
                  </a:lnTo>
                  <a:lnTo>
                    <a:pt x="428625" y="544710"/>
                  </a:lnTo>
                  <a:lnTo>
                    <a:pt x="426526" y="555159"/>
                  </a:lnTo>
                  <a:lnTo>
                    <a:pt x="420797" y="563672"/>
                  </a:lnTo>
                  <a:lnTo>
                    <a:pt x="412284" y="569401"/>
                  </a:lnTo>
                  <a:lnTo>
                    <a:pt x="401835" y="571500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438953" y="2551667"/>
            <a:ext cx="1497889" cy="3276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70" dirty="0">
                <a:solidFill>
                  <a:srgbClr val="333333"/>
                </a:solidFill>
                <a:latin typeface="Arial Black"/>
                <a:cs typeface="Arial Black"/>
              </a:rPr>
              <a:t>ISF</a:t>
            </a:r>
            <a:r>
              <a:rPr sz="2050" spc="-190" dirty="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sz="2050" spc="-185" dirty="0">
                <a:solidFill>
                  <a:srgbClr val="333333"/>
                </a:solidFill>
                <a:latin typeface="Arial Black"/>
                <a:cs typeface="Arial Black"/>
              </a:rPr>
              <a:t>Solution</a:t>
            </a:r>
            <a:endParaRPr sz="2050" dirty="0">
              <a:latin typeface="Arial Black"/>
              <a:cs typeface="Arial Black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792345" y="1348154"/>
            <a:ext cx="3057525" cy="3590925"/>
            <a:chOff x="4829174" y="2085974"/>
            <a:chExt cx="3057525" cy="3590925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9174" y="3848099"/>
              <a:ext cx="152399" cy="1523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9174" y="4410074"/>
              <a:ext cx="152399" cy="1523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9174" y="4972049"/>
              <a:ext cx="152399" cy="15239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9174" y="5524499"/>
              <a:ext cx="152399" cy="15239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486523" y="2085974"/>
              <a:ext cx="1400175" cy="295275"/>
            </a:xfrm>
            <a:custGeom>
              <a:avLst/>
              <a:gdLst/>
              <a:ahLst/>
              <a:cxnLst/>
              <a:rect l="l" t="t" r="r" b="b"/>
              <a:pathLst>
                <a:path w="1400175" h="295275">
                  <a:moveTo>
                    <a:pt x="1367126" y="295274"/>
                  </a:moveTo>
                  <a:lnTo>
                    <a:pt x="33047" y="295274"/>
                  </a:lnTo>
                  <a:lnTo>
                    <a:pt x="28187" y="294307"/>
                  </a:lnTo>
                  <a:lnTo>
                    <a:pt x="966" y="267087"/>
                  </a:lnTo>
                  <a:lnTo>
                    <a:pt x="0" y="262227"/>
                  </a:lnTo>
                  <a:lnTo>
                    <a:pt x="0" y="2571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67126" y="0"/>
                  </a:lnTo>
                  <a:lnTo>
                    <a:pt x="1399207" y="28187"/>
                  </a:lnTo>
                  <a:lnTo>
                    <a:pt x="1400174" y="33047"/>
                  </a:lnTo>
                  <a:lnTo>
                    <a:pt x="1400174" y="262227"/>
                  </a:lnTo>
                  <a:lnTo>
                    <a:pt x="1371987" y="294307"/>
                  </a:lnTo>
                  <a:lnTo>
                    <a:pt x="1367126" y="29527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022533" y="3034206"/>
            <a:ext cx="2551860" cy="409536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55" dirty="0">
                <a:solidFill>
                  <a:srgbClr val="333333"/>
                </a:solidFill>
                <a:latin typeface="Verdana"/>
                <a:cs typeface="Verdana"/>
              </a:rPr>
              <a:t>Affordable</a:t>
            </a:r>
            <a:r>
              <a:rPr sz="130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333333"/>
                </a:solidFill>
                <a:latin typeface="Verdana"/>
                <a:cs typeface="Verdana"/>
              </a:rPr>
              <a:t>plug-</a:t>
            </a:r>
            <a:r>
              <a:rPr sz="1300" spc="-65" dirty="0">
                <a:solidFill>
                  <a:srgbClr val="333333"/>
                </a:solidFill>
                <a:latin typeface="Verdana"/>
                <a:cs typeface="Verdana"/>
              </a:rPr>
              <a:t>and-</a:t>
            </a:r>
            <a:r>
              <a:rPr sz="1300" spc="-20" dirty="0">
                <a:solidFill>
                  <a:srgbClr val="333333"/>
                </a:solidFill>
                <a:latin typeface="Verdana"/>
                <a:cs typeface="Verdana"/>
              </a:rPr>
              <a:t>play </a:t>
            </a:r>
            <a:r>
              <a:rPr sz="1300" spc="-80" dirty="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r>
              <a:rPr sz="130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Verdana"/>
                <a:cs typeface="Verdana"/>
              </a:rPr>
              <a:t>for</a:t>
            </a:r>
            <a:r>
              <a:rPr sz="130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333333"/>
                </a:solidFill>
                <a:latin typeface="Verdana"/>
                <a:cs typeface="Verdana"/>
              </a:rPr>
              <a:t>small</a:t>
            </a:r>
            <a:r>
              <a:rPr sz="130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333333"/>
                </a:solidFill>
                <a:latin typeface="Verdana"/>
                <a:cs typeface="Verdana"/>
              </a:rPr>
              <a:t>manufacturers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22533" y="3596181"/>
            <a:ext cx="2528601" cy="409536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25" dirty="0">
                <a:solidFill>
                  <a:srgbClr val="333333"/>
                </a:solidFill>
                <a:latin typeface="Verdana"/>
                <a:cs typeface="Verdana"/>
              </a:rPr>
              <a:t>No</a:t>
            </a:r>
            <a:r>
              <a:rPr sz="130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33333"/>
                </a:solidFill>
                <a:latin typeface="Verdana"/>
                <a:cs typeface="Verdana"/>
              </a:rPr>
              <a:t>technical</a:t>
            </a:r>
            <a:r>
              <a:rPr sz="130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Verdana"/>
                <a:cs typeface="Verdana"/>
              </a:rPr>
              <a:t>expertise</a:t>
            </a:r>
            <a:r>
              <a:rPr sz="1300" spc="-10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333333"/>
                </a:solidFill>
                <a:latin typeface="Verdana"/>
                <a:cs typeface="Verdana"/>
              </a:rPr>
              <a:t>required </a:t>
            </a:r>
            <a:r>
              <a:rPr sz="1300" spc="-55" dirty="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sz="1300" spc="-1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Verdana"/>
                <a:cs typeface="Verdana"/>
              </a:rPr>
              <a:t>set</a:t>
            </a:r>
            <a:r>
              <a:rPr sz="1300" spc="-1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33333"/>
                </a:solidFill>
                <a:latin typeface="Verdana"/>
                <a:cs typeface="Verdana"/>
              </a:rPr>
              <a:t>up</a:t>
            </a:r>
            <a:r>
              <a:rPr sz="1300" spc="-1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160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spc="-1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Verdana"/>
                <a:cs typeface="Verdana"/>
              </a:rPr>
              <a:t>operate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22533" y="4158156"/>
            <a:ext cx="2569803" cy="409536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55" dirty="0">
                <a:solidFill>
                  <a:srgbClr val="333333"/>
                </a:solidFill>
                <a:latin typeface="Verdana"/>
                <a:cs typeface="Verdana"/>
              </a:rPr>
              <a:t>Customizable</a:t>
            </a:r>
            <a:r>
              <a:rPr sz="1300" spc="-9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Verdana"/>
                <a:cs typeface="Verdana"/>
              </a:rPr>
              <a:t>for</a:t>
            </a:r>
            <a:r>
              <a:rPr sz="1300" spc="-8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333333"/>
                </a:solidFill>
                <a:latin typeface="Verdana"/>
                <a:cs typeface="Verdana"/>
              </a:rPr>
              <a:t>specific</a:t>
            </a:r>
            <a:r>
              <a:rPr sz="1300" spc="-8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33333"/>
                </a:solidFill>
                <a:latin typeface="Verdana"/>
                <a:cs typeface="Verdana"/>
              </a:rPr>
              <a:t>MSME </a:t>
            </a:r>
            <a:r>
              <a:rPr sz="1300" spc="-55" dirty="0">
                <a:solidFill>
                  <a:srgbClr val="333333"/>
                </a:solidFill>
                <a:latin typeface="Verdana"/>
                <a:cs typeface="Verdana"/>
              </a:rPr>
              <a:t>machinery</a:t>
            </a:r>
            <a:r>
              <a:rPr sz="1300" spc="-6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33333"/>
                </a:solidFill>
                <a:latin typeface="Verdana"/>
                <a:cs typeface="Verdana"/>
              </a:rPr>
              <a:t>needs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22533" y="4693309"/>
            <a:ext cx="2452178" cy="4353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95"/>
              </a:spcBef>
            </a:pPr>
            <a:r>
              <a:rPr sz="1300" spc="-40" dirty="0">
                <a:solidFill>
                  <a:srgbClr val="333333"/>
                </a:solidFill>
                <a:latin typeface="Verdana"/>
                <a:cs typeface="Verdana"/>
              </a:rPr>
              <a:t>Quick</a:t>
            </a:r>
            <a:r>
              <a:rPr sz="1300" spc="-10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333333"/>
                </a:solidFill>
                <a:latin typeface="Verdana"/>
                <a:cs typeface="Verdana"/>
              </a:rPr>
              <a:t>deployment</a:t>
            </a:r>
            <a:r>
              <a:rPr sz="1300" spc="-9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333333"/>
                </a:solidFill>
                <a:latin typeface="Verdana"/>
                <a:cs typeface="Verdana"/>
              </a:rPr>
              <a:t>with</a:t>
            </a:r>
            <a:r>
              <a:rPr sz="1300" spc="-9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Verdana"/>
                <a:cs typeface="Verdana"/>
              </a:rPr>
              <a:t>same- </a:t>
            </a:r>
            <a:r>
              <a:rPr sz="1300" spc="-85" dirty="0">
                <a:solidFill>
                  <a:srgbClr val="333333"/>
                </a:solidFill>
                <a:latin typeface="Verdana"/>
                <a:cs typeface="Verdana"/>
              </a:rPr>
              <a:t>day</a:t>
            </a:r>
            <a:r>
              <a:rPr sz="1300" spc="-1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Verdana"/>
                <a:cs typeface="Verdana"/>
              </a:rPr>
              <a:t>insights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577340" y="1374193"/>
            <a:ext cx="119086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45" dirty="0">
                <a:solidFill>
                  <a:srgbClr val="FFFFFF"/>
                </a:solidFill>
                <a:latin typeface="Arial Black"/>
                <a:cs typeface="Arial Black"/>
              </a:rPr>
              <a:t>Most</a:t>
            </a:r>
            <a:r>
              <a:rPr sz="12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 Black"/>
                <a:cs typeface="Arial Black"/>
              </a:rPr>
              <a:t>Prominent</a:t>
            </a:r>
            <a:endParaRPr sz="1200" dirty="0">
              <a:latin typeface="Arial Black"/>
              <a:cs typeface="Arial Black"/>
            </a:endParaRPr>
          </a:p>
        </p:txBody>
      </p:sp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45144" y="1414829"/>
            <a:ext cx="3399156" cy="3842177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8475196" y="2523092"/>
            <a:ext cx="2708693" cy="3276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4" dirty="0">
                <a:solidFill>
                  <a:srgbClr val="333333"/>
                </a:solidFill>
                <a:latin typeface="Arial Black"/>
                <a:cs typeface="Arial Black"/>
              </a:rPr>
              <a:t>Bosch</a:t>
            </a:r>
            <a:r>
              <a:rPr sz="2050" spc="-160" dirty="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sz="2050" spc="-195" dirty="0">
                <a:solidFill>
                  <a:srgbClr val="333333"/>
                </a:solidFill>
                <a:latin typeface="Arial Black"/>
                <a:cs typeface="Arial Black"/>
              </a:rPr>
              <a:t>Phantom</a:t>
            </a:r>
            <a:r>
              <a:rPr sz="2050" spc="-160" dirty="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sz="2050" spc="-150" dirty="0">
                <a:solidFill>
                  <a:srgbClr val="333333"/>
                </a:solidFill>
                <a:latin typeface="Arial Black"/>
                <a:cs typeface="Arial Black"/>
              </a:rPr>
              <a:t>Edge</a:t>
            </a:r>
            <a:endParaRPr sz="2050" dirty="0">
              <a:latin typeface="Arial Black"/>
              <a:cs typeface="Arial Black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08695" y="3005632"/>
            <a:ext cx="2465469" cy="216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35" dirty="0">
                <a:solidFill>
                  <a:srgbClr val="333333"/>
                </a:solidFill>
                <a:latin typeface="Verdana"/>
                <a:cs typeface="Verdana"/>
              </a:rPr>
              <a:t>Limited</a:t>
            </a:r>
            <a:r>
              <a:rPr sz="1300" spc="-8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333333"/>
                </a:solidFill>
                <a:latin typeface="Verdana"/>
                <a:cs typeface="Verdana"/>
              </a:rPr>
              <a:t>customization</a:t>
            </a:r>
            <a:r>
              <a:rPr sz="1300" spc="-8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333333"/>
                </a:solidFill>
                <a:latin typeface="Verdana"/>
                <a:cs typeface="Verdana"/>
              </a:rPr>
              <a:t>options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08696" y="3386631"/>
            <a:ext cx="2505342" cy="409536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60" dirty="0">
                <a:solidFill>
                  <a:srgbClr val="333333"/>
                </a:solidFill>
                <a:latin typeface="Verdana"/>
                <a:cs typeface="Verdana"/>
              </a:rPr>
              <a:t>Vendor</a:t>
            </a:r>
            <a:r>
              <a:rPr sz="1300" spc="-114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Verdana"/>
                <a:cs typeface="Verdana"/>
              </a:rPr>
              <a:t>lock-</a:t>
            </a:r>
            <a:r>
              <a:rPr sz="1300" spc="-30" dirty="0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sz="130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333333"/>
                </a:solidFill>
                <a:latin typeface="Verdana"/>
                <a:cs typeface="Verdana"/>
              </a:rPr>
              <a:t>with</a:t>
            </a:r>
            <a:r>
              <a:rPr sz="1300" spc="-1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Verdana"/>
                <a:cs typeface="Verdana"/>
              </a:rPr>
              <a:t>proprietary </a:t>
            </a:r>
            <a:r>
              <a:rPr sz="1300" spc="-10" dirty="0">
                <a:solidFill>
                  <a:srgbClr val="333333"/>
                </a:solidFill>
                <a:latin typeface="Verdana"/>
                <a:cs typeface="Verdana"/>
              </a:rPr>
              <a:t>systems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08696" y="3948606"/>
            <a:ext cx="1709879" cy="409536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55" dirty="0">
                <a:solidFill>
                  <a:srgbClr val="333333"/>
                </a:solidFill>
                <a:latin typeface="Verdana"/>
                <a:cs typeface="Verdana"/>
              </a:rPr>
              <a:t>Moderate</a:t>
            </a:r>
            <a:r>
              <a:rPr sz="1300" spc="-7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Verdana"/>
                <a:cs typeface="Verdana"/>
              </a:rPr>
              <a:t>complexity </a:t>
            </a:r>
            <a:r>
              <a:rPr sz="1300" spc="-10" dirty="0">
                <a:solidFill>
                  <a:srgbClr val="333333"/>
                </a:solidFill>
                <a:latin typeface="Verdana"/>
                <a:cs typeface="Verdana"/>
              </a:rPr>
              <a:t>implementation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08696" y="4510581"/>
            <a:ext cx="2364458" cy="409536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30" dirty="0">
                <a:solidFill>
                  <a:srgbClr val="333333"/>
                </a:solidFill>
                <a:latin typeface="Verdana"/>
                <a:cs typeface="Verdana"/>
              </a:rPr>
              <a:t>Not</a:t>
            </a:r>
            <a:r>
              <a:rPr sz="1300" spc="-9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333333"/>
                </a:solidFill>
                <a:latin typeface="Verdana"/>
                <a:cs typeface="Verdana"/>
              </a:rPr>
              <a:t>optimized</a:t>
            </a:r>
            <a:r>
              <a:rPr sz="1300" spc="-9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Verdana"/>
                <a:cs typeface="Verdana"/>
              </a:rPr>
              <a:t>for</a:t>
            </a:r>
            <a:r>
              <a:rPr sz="1300" spc="-9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33333"/>
                </a:solidFill>
                <a:latin typeface="Verdana"/>
                <a:cs typeface="Verdana"/>
              </a:rPr>
              <a:t>small-</a:t>
            </a:r>
            <a:r>
              <a:rPr sz="1300" spc="-60" dirty="0">
                <a:solidFill>
                  <a:srgbClr val="333333"/>
                </a:solidFill>
                <a:latin typeface="Verdana"/>
                <a:cs typeface="Verdana"/>
              </a:rPr>
              <a:t>scale </a:t>
            </a:r>
            <a:r>
              <a:rPr sz="1300" spc="-10" dirty="0">
                <a:solidFill>
                  <a:srgbClr val="333333"/>
                </a:solidFill>
                <a:latin typeface="Verdana"/>
                <a:cs typeface="Verdana"/>
              </a:rPr>
              <a:t>operations</a:t>
            </a:r>
            <a:endParaRPr sz="13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spc="-160" dirty="0">
                <a:latin typeface="Tahoma"/>
                <a:cs typeface="Tahoma"/>
              </a:rPr>
              <a:t>Business</a:t>
            </a:r>
            <a:r>
              <a:rPr sz="3600" spc="-120" dirty="0">
                <a:latin typeface="Tahoma"/>
                <a:cs typeface="Tahoma"/>
              </a:rPr>
              <a:t> </a:t>
            </a:r>
            <a:r>
              <a:rPr sz="3600" spc="-229" dirty="0">
                <a:latin typeface="Tahoma"/>
                <a:cs typeface="Tahoma"/>
              </a:rPr>
              <a:t>Model:</a:t>
            </a:r>
            <a:r>
              <a:rPr sz="3600" spc="-120" dirty="0">
                <a:latin typeface="Tahoma"/>
                <a:cs typeface="Tahoma"/>
              </a:rPr>
              <a:t> </a:t>
            </a:r>
            <a:r>
              <a:rPr sz="3600" spc="-200" dirty="0">
                <a:latin typeface="Tahoma"/>
                <a:cs typeface="Tahoma"/>
              </a:rPr>
              <a:t>B2B</a:t>
            </a:r>
            <a:r>
              <a:rPr sz="3600" spc="-120" dirty="0">
                <a:latin typeface="Tahoma"/>
                <a:cs typeface="Tahoma"/>
              </a:rPr>
              <a:t> </a:t>
            </a:r>
            <a:r>
              <a:rPr sz="3600" spc="-225" dirty="0">
                <a:latin typeface="Tahoma"/>
                <a:cs typeface="Tahoma"/>
              </a:rPr>
              <a:t>Sales,</a:t>
            </a:r>
            <a:r>
              <a:rPr sz="3600" spc="-120" dirty="0">
                <a:latin typeface="Tahoma"/>
                <a:cs typeface="Tahoma"/>
              </a:rPr>
              <a:t> </a:t>
            </a:r>
            <a:r>
              <a:rPr sz="3600" spc="-175" dirty="0">
                <a:latin typeface="Tahoma"/>
                <a:cs typeface="Tahoma"/>
              </a:rPr>
              <a:t>Scalable</a:t>
            </a:r>
            <a:r>
              <a:rPr sz="3600" spc="-114" dirty="0">
                <a:latin typeface="Tahoma"/>
                <a:cs typeface="Tahoma"/>
              </a:rPr>
              <a:t> </a:t>
            </a:r>
            <a:r>
              <a:rPr sz="3600" spc="-280" dirty="0">
                <a:latin typeface="Tahoma"/>
                <a:cs typeface="Tahoma"/>
              </a:rPr>
              <a:t>SaaS</a:t>
            </a:r>
            <a:endParaRPr sz="360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2499" y="1552574"/>
            <a:ext cx="762000" cy="762000"/>
            <a:chOff x="952499" y="1552574"/>
            <a:chExt cx="762000" cy="762000"/>
          </a:xfrm>
        </p:grpSpPr>
        <p:sp>
          <p:nvSpPr>
            <p:cNvPr id="4" name="object 4"/>
            <p:cNvSpPr/>
            <p:nvPr/>
          </p:nvSpPr>
          <p:spPr>
            <a:xfrm>
              <a:off x="952499" y="1552574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2"/>
                  </a:lnTo>
                  <a:lnTo>
                    <a:pt x="243882" y="736471"/>
                  </a:lnTo>
                  <a:lnTo>
                    <a:pt x="201397" y="717012"/>
                  </a:lnTo>
                  <a:lnTo>
                    <a:pt x="161614" y="692498"/>
                  </a:lnTo>
                  <a:lnTo>
                    <a:pt x="125135" y="663302"/>
                  </a:lnTo>
                  <a:lnTo>
                    <a:pt x="92505" y="629861"/>
                  </a:lnTo>
                  <a:lnTo>
                    <a:pt x="64209" y="592672"/>
                  </a:lnTo>
                  <a:lnTo>
                    <a:pt x="40680" y="552299"/>
                  </a:lnTo>
                  <a:lnTo>
                    <a:pt x="22271" y="509354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6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6" y="86483"/>
                  </a:lnTo>
                  <a:lnTo>
                    <a:pt x="177168" y="59108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4" y="1031"/>
                  </a:lnTo>
                  <a:lnTo>
                    <a:pt x="380999" y="0"/>
                  </a:lnTo>
                  <a:lnTo>
                    <a:pt x="390352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2" y="29001"/>
                  </a:lnTo>
                  <a:lnTo>
                    <a:pt x="568796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6"/>
                  </a:lnTo>
                  <a:lnTo>
                    <a:pt x="702890" y="177167"/>
                  </a:lnTo>
                  <a:lnTo>
                    <a:pt x="725420" y="218101"/>
                  </a:lnTo>
                  <a:lnTo>
                    <a:pt x="742769" y="261484"/>
                  </a:lnTo>
                  <a:lnTo>
                    <a:pt x="754679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8" y="526802"/>
                  </a:lnTo>
                  <a:lnTo>
                    <a:pt x="712501" y="568796"/>
                  </a:lnTo>
                  <a:lnTo>
                    <a:pt x="687022" y="607961"/>
                  </a:lnTo>
                  <a:lnTo>
                    <a:pt x="656940" y="643712"/>
                  </a:lnTo>
                  <a:lnTo>
                    <a:pt x="622703" y="675517"/>
                  </a:lnTo>
                  <a:lnTo>
                    <a:pt x="584831" y="702890"/>
                  </a:lnTo>
                  <a:lnTo>
                    <a:pt x="543898" y="725420"/>
                  </a:lnTo>
                  <a:lnTo>
                    <a:pt x="500515" y="742769"/>
                  </a:lnTo>
                  <a:lnTo>
                    <a:pt x="455329" y="754679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180385" y="1781214"/>
              <a:ext cx="306070" cy="305435"/>
            </a:xfrm>
            <a:custGeom>
              <a:avLst/>
              <a:gdLst/>
              <a:ahLst/>
              <a:cxnLst/>
              <a:rect l="l" t="t" r="r" b="b"/>
              <a:pathLst>
                <a:path w="306069" h="305435">
                  <a:moveTo>
                    <a:pt x="106144" y="235883"/>
                  </a:moveTo>
                  <a:lnTo>
                    <a:pt x="98881" y="234037"/>
                  </a:lnTo>
                  <a:lnTo>
                    <a:pt x="94362" y="229572"/>
                  </a:lnTo>
                  <a:lnTo>
                    <a:pt x="93940" y="229096"/>
                  </a:lnTo>
                  <a:lnTo>
                    <a:pt x="70484" y="205641"/>
                  </a:lnTo>
                  <a:lnTo>
                    <a:pt x="68699" y="198319"/>
                  </a:lnTo>
                  <a:lnTo>
                    <a:pt x="72747" y="186234"/>
                  </a:lnTo>
                  <a:lnTo>
                    <a:pt x="75128" y="179328"/>
                  </a:lnTo>
                  <a:lnTo>
                    <a:pt x="77985" y="171410"/>
                  </a:lnTo>
                  <a:lnTo>
                    <a:pt x="9882" y="171410"/>
                  </a:lnTo>
                  <a:lnTo>
                    <a:pt x="5119" y="168672"/>
                  </a:lnTo>
                  <a:lnTo>
                    <a:pt x="0" y="159742"/>
                  </a:lnTo>
                  <a:lnTo>
                    <a:pt x="59" y="154265"/>
                  </a:lnTo>
                  <a:lnTo>
                    <a:pt x="33932" y="97175"/>
                  </a:lnTo>
                  <a:lnTo>
                    <a:pt x="70782" y="76160"/>
                  </a:lnTo>
                  <a:lnTo>
                    <a:pt x="119776" y="76160"/>
                  </a:lnTo>
                  <a:lnTo>
                    <a:pt x="121205" y="73779"/>
                  </a:lnTo>
                  <a:lnTo>
                    <a:pt x="164275" y="27611"/>
                  </a:lnTo>
                  <a:lnTo>
                    <a:pt x="208456" y="6315"/>
                  </a:lnTo>
                  <a:lnTo>
                    <a:pt x="251620" y="0"/>
                  </a:lnTo>
                  <a:lnTo>
                    <a:pt x="288786" y="3116"/>
                  </a:lnTo>
                  <a:lnTo>
                    <a:pt x="295691" y="4366"/>
                  </a:lnTo>
                  <a:lnTo>
                    <a:pt x="301049" y="9783"/>
                  </a:lnTo>
                  <a:lnTo>
                    <a:pt x="302359" y="16689"/>
                  </a:lnTo>
                  <a:lnTo>
                    <a:pt x="305338" y="52348"/>
                  </a:lnTo>
                  <a:lnTo>
                    <a:pt x="226156" y="52348"/>
                  </a:lnTo>
                  <a:lnTo>
                    <a:pt x="223119" y="52952"/>
                  </a:lnTo>
                  <a:lnTo>
                    <a:pt x="205501" y="73003"/>
                  </a:lnTo>
                  <a:lnTo>
                    <a:pt x="205501" y="79318"/>
                  </a:lnTo>
                  <a:lnTo>
                    <a:pt x="226156" y="99973"/>
                  </a:lnTo>
                  <a:lnTo>
                    <a:pt x="297723" y="99973"/>
                  </a:lnTo>
                  <a:lnTo>
                    <a:pt x="277838" y="141208"/>
                  </a:lnTo>
                  <a:lnTo>
                    <a:pt x="236041" y="181412"/>
                  </a:lnTo>
                  <a:lnTo>
                    <a:pt x="233957" y="182840"/>
                  </a:lnTo>
                  <a:lnTo>
                    <a:pt x="231695" y="184269"/>
                  </a:lnTo>
                  <a:lnTo>
                    <a:pt x="229314" y="185698"/>
                  </a:lnTo>
                  <a:lnTo>
                    <a:pt x="229314" y="226655"/>
                  </a:lnTo>
                  <a:lnTo>
                    <a:pt x="134064" y="226655"/>
                  </a:lnTo>
                  <a:lnTo>
                    <a:pt x="125670" y="229572"/>
                  </a:lnTo>
                  <a:lnTo>
                    <a:pt x="106144" y="235883"/>
                  </a:lnTo>
                  <a:close/>
                </a:path>
                <a:path w="306069" h="305435">
                  <a:moveTo>
                    <a:pt x="297723" y="99973"/>
                  </a:moveTo>
                  <a:lnTo>
                    <a:pt x="232472" y="99973"/>
                  </a:lnTo>
                  <a:lnTo>
                    <a:pt x="235509" y="99369"/>
                  </a:lnTo>
                  <a:lnTo>
                    <a:pt x="241344" y="96952"/>
                  </a:lnTo>
                  <a:lnTo>
                    <a:pt x="253126" y="79318"/>
                  </a:lnTo>
                  <a:lnTo>
                    <a:pt x="253126" y="73003"/>
                  </a:lnTo>
                  <a:lnTo>
                    <a:pt x="232472" y="52348"/>
                  </a:lnTo>
                  <a:lnTo>
                    <a:pt x="305338" y="52348"/>
                  </a:lnTo>
                  <a:lnTo>
                    <a:pt x="305389" y="52952"/>
                  </a:lnTo>
                  <a:lnTo>
                    <a:pt x="305466" y="53879"/>
                  </a:lnTo>
                  <a:lnTo>
                    <a:pt x="299150" y="96952"/>
                  </a:lnTo>
                  <a:lnTo>
                    <a:pt x="299072" y="97175"/>
                  </a:lnTo>
                  <a:lnTo>
                    <a:pt x="297723" y="99973"/>
                  </a:lnTo>
                  <a:close/>
                </a:path>
                <a:path w="306069" h="305435">
                  <a:moveTo>
                    <a:pt x="151209" y="305415"/>
                  </a:moveTo>
                  <a:lnTo>
                    <a:pt x="145628" y="305415"/>
                  </a:lnTo>
                  <a:lnTo>
                    <a:pt x="136802" y="300355"/>
                  </a:lnTo>
                  <a:lnTo>
                    <a:pt x="134064" y="295652"/>
                  </a:lnTo>
                  <a:lnTo>
                    <a:pt x="134064" y="226655"/>
                  </a:lnTo>
                  <a:lnTo>
                    <a:pt x="229314" y="226655"/>
                  </a:lnTo>
                  <a:lnTo>
                    <a:pt x="229314" y="234692"/>
                  </a:lnTo>
                  <a:lnTo>
                    <a:pt x="208299" y="271542"/>
                  </a:lnTo>
                  <a:lnTo>
                    <a:pt x="151209" y="305415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39925" y="1527362"/>
            <a:ext cx="9122410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b="1" spc="-70" dirty="0">
                <a:solidFill>
                  <a:srgbClr val="212121"/>
                </a:solidFill>
                <a:latin typeface="Lucida Sans"/>
                <a:cs typeface="Lucida Sans"/>
              </a:rPr>
              <a:t>Go-</a:t>
            </a:r>
            <a:r>
              <a:rPr sz="2050" b="1" spc="-60" dirty="0">
                <a:solidFill>
                  <a:srgbClr val="212121"/>
                </a:solidFill>
                <a:latin typeface="Lucida Sans"/>
                <a:cs typeface="Lucida Sans"/>
              </a:rPr>
              <a:t>to-</a:t>
            </a:r>
            <a:r>
              <a:rPr sz="2050" b="1" spc="-140" dirty="0">
                <a:solidFill>
                  <a:srgbClr val="212121"/>
                </a:solidFill>
                <a:latin typeface="Lucida Sans"/>
                <a:cs typeface="Lucida Sans"/>
              </a:rPr>
              <a:t>Market</a:t>
            </a:r>
            <a:r>
              <a:rPr sz="2050" b="1" spc="-90" dirty="0">
                <a:solidFill>
                  <a:srgbClr val="212121"/>
                </a:solidFill>
                <a:latin typeface="Lucida Sans"/>
                <a:cs typeface="Lucida San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Lucida Sans"/>
                <a:cs typeface="Lucida Sans"/>
              </a:rPr>
              <a:t>Strategy</a:t>
            </a:r>
            <a:endParaRPr sz="2050" dirty="0">
              <a:latin typeface="Lucida Sans"/>
              <a:cs typeface="Lucida Sans"/>
            </a:endParaRPr>
          </a:p>
          <a:p>
            <a:pPr marL="12700" marR="5080">
              <a:lnSpc>
                <a:spcPct val="116399"/>
              </a:lnSpc>
              <a:spcBef>
                <a:spcPts val="1155"/>
              </a:spcBef>
            </a:pP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Direct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70" dirty="0">
                <a:solidFill>
                  <a:srgbClr val="444444"/>
                </a:solidFill>
                <a:latin typeface="Lucida Sans"/>
                <a:cs typeface="Lucida Sans"/>
              </a:rPr>
              <a:t>B2B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50" dirty="0">
                <a:solidFill>
                  <a:srgbClr val="444444"/>
                </a:solidFill>
                <a:latin typeface="Lucida Sans"/>
                <a:cs typeface="Lucida Sans"/>
              </a:rPr>
              <a:t>sales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5" dirty="0">
                <a:solidFill>
                  <a:srgbClr val="444444"/>
                </a:solidFill>
                <a:latin typeface="Lucida Sans"/>
                <a:cs typeface="Lucida Sans"/>
              </a:rPr>
              <a:t>to</a:t>
            </a:r>
            <a:r>
              <a:rPr sz="1450" spc="-6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444444"/>
                </a:solidFill>
                <a:latin typeface="Lucida Sans"/>
                <a:cs typeface="Lucida Sans"/>
              </a:rPr>
              <a:t>MSMEs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through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industry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associations,</a:t>
            </a:r>
            <a:r>
              <a:rPr sz="1450" spc="-6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444444"/>
                </a:solidFill>
                <a:latin typeface="Lucida Sans"/>
                <a:cs typeface="Lucida Sans"/>
              </a:rPr>
              <a:t>demo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days,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and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state</a:t>
            </a:r>
            <a:r>
              <a:rPr sz="1450" spc="-6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55" dirty="0">
                <a:solidFill>
                  <a:srgbClr val="444444"/>
                </a:solidFill>
                <a:latin typeface="Lucida Sans"/>
                <a:cs typeface="Lucida Sans"/>
              </a:rPr>
              <a:t>MSME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5" dirty="0">
                <a:solidFill>
                  <a:srgbClr val="444444"/>
                </a:solidFill>
                <a:latin typeface="Lucida Sans"/>
                <a:cs typeface="Lucida Sans"/>
              </a:rPr>
              <a:t>board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5" dirty="0">
                <a:solidFill>
                  <a:srgbClr val="444444"/>
                </a:solidFill>
                <a:latin typeface="Lucida Sans"/>
                <a:cs typeface="Lucida Sans"/>
              </a:rPr>
              <a:t>partnerships.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Focused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on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444444"/>
                </a:solidFill>
                <a:latin typeface="Lucida Sans"/>
                <a:cs typeface="Lucida Sans"/>
              </a:rPr>
              <a:t>high-impact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60" dirty="0">
                <a:solidFill>
                  <a:srgbClr val="444444"/>
                </a:solidFill>
                <a:latin typeface="Lucida Sans"/>
                <a:cs typeface="Lucida Sans"/>
              </a:rPr>
              <a:t>sectors: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5" dirty="0">
                <a:solidFill>
                  <a:srgbClr val="444444"/>
                </a:solidFill>
                <a:latin typeface="Lucida Sans"/>
                <a:cs typeface="Lucida Sans"/>
              </a:rPr>
              <a:t>auto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parts,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65" dirty="0">
                <a:solidFill>
                  <a:srgbClr val="444444"/>
                </a:solidFill>
                <a:latin typeface="Lucida Sans"/>
                <a:cs typeface="Lucida Sans"/>
              </a:rPr>
              <a:t>textile,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plastics,</a:t>
            </a:r>
            <a:r>
              <a:rPr sz="1450" spc="-7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and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5" dirty="0">
                <a:solidFill>
                  <a:srgbClr val="444444"/>
                </a:solidFill>
                <a:latin typeface="Lucida Sans"/>
                <a:cs typeface="Lucida Sans"/>
              </a:rPr>
              <a:t>fabrication</a:t>
            </a:r>
            <a:r>
              <a:rPr sz="1450" spc="-7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workshops.</a:t>
            </a:r>
            <a:endParaRPr sz="1450" dirty="0">
              <a:latin typeface="Lucida Sans"/>
              <a:cs typeface="Lucida San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52499" y="2933700"/>
            <a:ext cx="3248025" cy="2486025"/>
            <a:chOff x="952499" y="2933700"/>
            <a:chExt cx="3248025" cy="2486025"/>
          </a:xfrm>
        </p:grpSpPr>
        <p:sp>
          <p:nvSpPr>
            <p:cNvPr id="8" name="object 8"/>
            <p:cNvSpPr/>
            <p:nvPr/>
          </p:nvSpPr>
          <p:spPr>
            <a:xfrm>
              <a:off x="952499" y="2933700"/>
              <a:ext cx="3248025" cy="2486025"/>
            </a:xfrm>
            <a:custGeom>
              <a:avLst/>
              <a:gdLst/>
              <a:ahLst/>
              <a:cxnLst/>
              <a:rect l="l" t="t" r="r" b="b"/>
              <a:pathLst>
                <a:path w="3248025" h="2486025">
                  <a:moveTo>
                    <a:pt x="3176828" y="2486024"/>
                  </a:moveTo>
                  <a:lnTo>
                    <a:pt x="71196" y="2486024"/>
                  </a:lnTo>
                  <a:lnTo>
                    <a:pt x="66241" y="2485536"/>
                  </a:lnTo>
                  <a:lnTo>
                    <a:pt x="29705" y="2470402"/>
                  </a:lnTo>
                  <a:lnTo>
                    <a:pt x="3885" y="2434361"/>
                  </a:lnTo>
                  <a:lnTo>
                    <a:pt x="0" y="2414827"/>
                  </a:lnTo>
                  <a:lnTo>
                    <a:pt x="0" y="24098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2" y="3884"/>
                  </a:lnTo>
                  <a:lnTo>
                    <a:pt x="71196" y="0"/>
                  </a:lnTo>
                  <a:lnTo>
                    <a:pt x="3176828" y="0"/>
                  </a:lnTo>
                  <a:lnTo>
                    <a:pt x="3218319" y="15621"/>
                  </a:lnTo>
                  <a:lnTo>
                    <a:pt x="3244138" y="51661"/>
                  </a:lnTo>
                  <a:lnTo>
                    <a:pt x="3248024" y="71196"/>
                  </a:lnTo>
                  <a:lnTo>
                    <a:pt x="3248024" y="2414827"/>
                  </a:lnTo>
                  <a:lnTo>
                    <a:pt x="3232402" y="2456318"/>
                  </a:lnTo>
                  <a:lnTo>
                    <a:pt x="3196362" y="2482138"/>
                  </a:lnTo>
                  <a:lnTo>
                    <a:pt x="3181783" y="2485536"/>
                  </a:lnTo>
                  <a:lnTo>
                    <a:pt x="3176828" y="24860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0624" y="3255168"/>
              <a:ext cx="233362" cy="23336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77924" y="3694797"/>
            <a:ext cx="203898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05" dirty="0">
                <a:solidFill>
                  <a:srgbClr val="0056B3"/>
                </a:solidFill>
                <a:latin typeface="Lucida Sans"/>
                <a:cs typeface="Lucida Sans"/>
              </a:rPr>
              <a:t>Starter</a:t>
            </a:r>
            <a:r>
              <a:rPr sz="17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05" dirty="0">
                <a:solidFill>
                  <a:srgbClr val="0056B3"/>
                </a:solidFill>
                <a:latin typeface="Lucida Sans"/>
                <a:cs typeface="Lucida Sans"/>
              </a:rPr>
              <a:t>Kit</a:t>
            </a:r>
            <a:r>
              <a:rPr sz="17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00" dirty="0">
                <a:solidFill>
                  <a:srgbClr val="0056B3"/>
                </a:solidFill>
                <a:latin typeface="Lucida Sans"/>
                <a:cs typeface="Lucida Sans"/>
              </a:rPr>
              <a:t>Hardware</a:t>
            </a:r>
            <a:endParaRPr sz="1700" dirty="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7924" y="4086351"/>
            <a:ext cx="2519045" cy="10845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Affordable </a:t>
            </a:r>
            <a:r>
              <a:rPr sz="1300" spc="-45" dirty="0">
                <a:solidFill>
                  <a:srgbClr val="545454"/>
                </a:solidFill>
                <a:latin typeface="Verdana"/>
                <a:cs typeface="Verdana"/>
              </a:rPr>
              <a:t>plug-</a:t>
            </a:r>
            <a:r>
              <a:rPr sz="1300" spc="-65" dirty="0">
                <a:solidFill>
                  <a:srgbClr val="545454"/>
                </a:solidFill>
                <a:latin typeface="Verdana"/>
                <a:cs typeface="Verdana"/>
              </a:rPr>
              <a:t>and-</a:t>
            </a:r>
            <a:r>
              <a:rPr sz="1300" spc="-20" dirty="0">
                <a:solidFill>
                  <a:srgbClr val="545454"/>
                </a:solidFill>
                <a:latin typeface="Verdana"/>
                <a:cs typeface="Verdana"/>
              </a:rPr>
              <a:t>play </a:t>
            </a:r>
            <a:r>
              <a:rPr sz="1300" spc="-65" dirty="0">
                <a:solidFill>
                  <a:srgbClr val="545454"/>
                </a:solidFill>
                <a:latin typeface="Verdana"/>
                <a:cs typeface="Verdana"/>
              </a:rPr>
              <a:t>hardware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545454"/>
                </a:solidFill>
                <a:latin typeface="Verdana"/>
                <a:cs typeface="Verdana"/>
              </a:rPr>
              <a:t>units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545454"/>
                </a:solidFill>
                <a:latin typeface="Verdana"/>
                <a:cs typeface="Verdana"/>
              </a:rPr>
              <a:t>with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545454"/>
                </a:solidFill>
                <a:latin typeface="Verdana"/>
                <a:cs typeface="Verdana"/>
              </a:rPr>
              <a:t>essential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545454"/>
                </a:solidFill>
                <a:latin typeface="Verdana"/>
                <a:cs typeface="Verdana"/>
              </a:rPr>
              <a:t>IoT</a:t>
            </a:r>
            <a:endParaRPr sz="1300" dirty="0">
              <a:latin typeface="Verdana"/>
              <a:cs typeface="Verdana"/>
            </a:endParaRPr>
          </a:p>
          <a:p>
            <a:pPr marL="12700" marR="147955">
              <a:lnSpc>
                <a:spcPct val="108200"/>
              </a:lnSpc>
              <a:spcBef>
                <a:spcPts val="40"/>
              </a:spcBef>
            </a:pPr>
            <a:r>
              <a:rPr sz="1300" spc="-75" dirty="0">
                <a:solidFill>
                  <a:srgbClr val="545454"/>
                </a:solidFill>
                <a:latin typeface="Verdana"/>
                <a:cs typeface="Verdana"/>
              </a:rPr>
              <a:t>sensors</a:t>
            </a:r>
            <a:r>
              <a:rPr sz="130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Verdana"/>
                <a:cs typeface="Verdana"/>
              </a:rPr>
              <a:t>and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545454"/>
                </a:solidFill>
                <a:latin typeface="Verdana"/>
                <a:cs typeface="Verdana"/>
              </a:rPr>
              <a:t>edge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Verdana"/>
                <a:cs typeface="Verdana"/>
              </a:rPr>
              <a:t>computing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capabilities.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Volume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545454"/>
                </a:solidFill>
                <a:latin typeface="Verdana"/>
                <a:cs typeface="Verdana"/>
              </a:rPr>
              <a:t>pricing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545454"/>
                </a:solidFill>
                <a:latin typeface="Verdana"/>
                <a:cs typeface="Verdana"/>
              </a:rPr>
              <a:t>for </a:t>
            </a:r>
            <a:r>
              <a:rPr sz="1300" spc="-50" dirty="0">
                <a:solidFill>
                  <a:srgbClr val="545454"/>
                </a:solidFill>
                <a:latin typeface="Verdana"/>
                <a:cs typeface="Verdana"/>
              </a:rPr>
              <a:t>multi-</a:t>
            </a:r>
            <a:r>
              <a:rPr sz="1300" spc="-35" dirty="0">
                <a:solidFill>
                  <a:srgbClr val="545454"/>
                </a:solidFill>
                <a:latin typeface="Verdana"/>
                <a:cs typeface="Verdana"/>
              </a:rPr>
              <a:t>machine</a:t>
            </a:r>
            <a:r>
              <a:rPr sz="1300" spc="-7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Verdana"/>
                <a:cs typeface="Verdana"/>
              </a:rPr>
              <a:t>operations.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1999" y="2933700"/>
            <a:ext cx="3248025" cy="2486025"/>
            <a:chOff x="4571999" y="2933700"/>
            <a:chExt cx="3248025" cy="2486025"/>
          </a:xfrm>
        </p:grpSpPr>
        <p:sp>
          <p:nvSpPr>
            <p:cNvPr id="13" name="object 13"/>
            <p:cNvSpPr/>
            <p:nvPr/>
          </p:nvSpPr>
          <p:spPr>
            <a:xfrm>
              <a:off x="4571999" y="2933700"/>
              <a:ext cx="3248025" cy="2486025"/>
            </a:xfrm>
            <a:custGeom>
              <a:avLst/>
              <a:gdLst/>
              <a:ahLst/>
              <a:cxnLst/>
              <a:rect l="l" t="t" r="r" b="b"/>
              <a:pathLst>
                <a:path w="3248025" h="2486025">
                  <a:moveTo>
                    <a:pt x="3176828" y="2486024"/>
                  </a:moveTo>
                  <a:lnTo>
                    <a:pt x="71196" y="2486024"/>
                  </a:lnTo>
                  <a:lnTo>
                    <a:pt x="66241" y="2485536"/>
                  </a:lnTo>
                  <a:lnTo>
                    <a:pt x="29705" y="2470402"/>
                  </a:lnTo>
                  <a:lnTo>
                    <a:pt x="3885" y="2434361"/>
                  </a:lnTo>
                  <a:lnTo>
                    <a:pt x="0" y="2414827"/>
                  </a:lnTo>
                  <a:lnTo>
                    <a:pt x="0" y="24098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3176828" y="0"/>
                  </a:lnTo>
                  <a:lnTo>
                    <a:pt x="3218318" y="15621"/>
                  </a:lnTo>
                  <a:lnTo>
                    <a:pt x="3244138" y="51661"/>
                  </a:lnTo>
                  <a:lnTo>
                    <a:pt x="3248024" y="71196"/>
                  </a:lnTo>
                  <a:lnTo>
                    <a:pt x="3248024" y="2414827"/>
                  </a:lnTo>
                  <a:lnTo>
                    <a:pt x="3232402" y="2456318"/>
                  </a:lnTo>
                  <a:lnTo>
                    <a:pt x="3196362" y="2482138"/>
                  </a:lnTo>
                  <a:lnTo>
                    <a:pt x="3181783" y="2485536"/>
                  </a:lnTo>
                  <a:lnTo>
                    <a:pt x="3176828" y="24860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810124" y="3255168"/>
              <a:ext cx="266700" cy="233679"/>
            </a:xfrm>
            <a:custGeom>
              <a:avLst/>
              <a:gdLst/>
              <a:ahLst/>
              <a:cxnLst/>
              <a:rect l="l" t="t" r="r" b="b"/>
              <a:pathLst>
                <a:path w="266700" h="233679">
                  <a:moveTo>
                    <a:pt x="259251" y="233362"/>
                  </a:moveTo>
                  <a:lnTo>
                    <a:pt x="41671" y="233362"/>
                  </a:lnTo>
                  <a:lnTo>
                    <a:pt x="25447" y="230088"/>
                  </a:lnTo>
                  <a:lnTo>
                    <a:pt x="12202" y="221160"/>
                  </a:lnTo>
                  <a:lnTo>
                    <a:pt x="3273" y="207914"/>
                  </a:lnTo>
                  <a:lnTo>
                    <a:pt x="0" y="191690"/>
                  </a:lnTo>
                  <a:lnTo>
                    <a:pt x="0" y="7448"/>
                  </a:lnTo>
                  <a:lnTo>
                    <a:pt x="7448" y="0"/>
                  </a:lnTo>
                  <a:lnTo>
                    <a:pt x="25888" y="0"/>
                  </a:lnTo>
                  <a:lnTo>
                    <a:pt x="33337" y="7448"/>
                  </a:lnTo>
                  <a:lnTo>
                    <a:pt x="33337" y="196274"/>
                  </a:lnTo>
                  <a:lnTo>
                    <a:pt x="37087" y="200025"/>
                  </a:lnTo>
                  <a:lnTo>
                    <a:pt x="259251" y="200025"/>
                  </a:lnTo>
                  <a:lnTo>
                    <a:pt x="266700" y="207473"/>
                  </a:lnTo>
                  <a:lnTo>
                    <a:pt x="266700" y="225913"/>
                  </a:lnTo>
                  <a:lnTo>
                    <a:pt x="259251" y="233362"/>
                  </a:lnTo>
                  <a:close/>
                </a:path>
                <a:path w="266700" h="233679">
                  <a:moveTo>
                    <a:pt x="213932" y="93084"/>
                  </a:moveTo>
                  <a:lnTo>
                    <a:pt x="166687" y="93084"/>
                  </a:lnTo>
                  <a:lnTo>
                    <a:pt x="221538" y="38181"/>
                  </a:lnTo>
                  <a:lnTo>
                    <a:pt x="227056" y="34519"/>
                  </a:lnTo>
                  <a:lnTo>
                    <a:pt x="233336" y="33298"/>
                  </a:lnTo>
                  <a:lnTo>
                    <a:pt x="239616" y="34519"/>
                  </a:lnTo>
                  <a:lnTo>
                    <a:pt x="245134" y="38181"/>
                  </a:lnTo>
                  <a:lnTo>
                    <a:pt x="248797" y="43700"/>
                  </a:lnTo>
                  <a:lnTo>
                    <a:pt x="250018" y="49980"/>
                  </a:lnTo>
                  <a:lnTo>
                    <a:pt x="248797" y="56260"/>
                  </a:lnTo>
                  <a:lnTo>
                    <a:pt x="244929" y="62088"/>
                  </a:lnTo>
                  <a:lnTo>
                    <a:pt x="213932" y="93084"/>
                  </a:lnTo>
                  <a:close/>
                </a:path>
                <a:path w="266700" h="233679">
                  <a:moveTo>
                    <a:pt x="66648" y="150005"/>
                  </a:moveTo>
                  <a:lnTo>
                    <a:pt x="60368" y="148784"/>
                  </a:lnTo>
                  <a:lnTo>
                    <a:pt x="54850" y="145122"/>
                  </a:lnTo>
                  <a:lnTo>
                    <a:pt x="51188" y="139604"/>
                  </a:lnTo>
                  <a:lnTo>
                    <a:pt x="49967" y="133323"/>
                  </a:lnTo>
                  <a:lnTo>
                    <a:pt x="51188" y="127043"/>
                  </a:lnTo>
                  <a:lnTo>
                    <a:pt x="54850" y="121525"/>
                  </a:lnTo>
                  <a:lnTo>
                    <a:pt x="113191" y="63184"/>
                  </a:lnTo>
                  <a:lnTo>
                    <a:pt x="118709" y="59522"/>
                  </a:lnTo>
                  <a:lnTo>
                    <a:pt x="124989" y="58301"/>
                  </a:lnTo>
                  <a:lnTo>
                    <a:pt x="131269" y="59522"/>
                  </a:lnTo>
                  <a:lnTo>
                    <a:pt x="136787" y="63184"/>
                  </a:lnTo>
                  <a:lnTo>
                    <a:pt x="166687" y="93084"/>
                  </a:lnTo>
                  <a:lnTo>
                    <a:pt x="213932" y="93084"/>
                  </a:lnTo>
                  <a:lnTo>
                    <a:pt x="208411" y="98606"/>
                  </a:lnTo>
                  <a:lnTo>
                    <a:pt x="125015" y="98606"/>
                  </a:lnTo>
                  <a:lnTo>
                    <a:pt x="78447" y="145122"/>
                  </a:lnTo>
                  <a:lnTo>
                    <a:pt x="72929" y="148784"/>
                  </a:lnTo>
                  <a:lnTo>
                    <a:pt x="66648" y="150005"/>
                  </a:lnTo>
                  <a:close/>
                </a:path>
                <a:path w="266700" h="233679">
                  <a:moveTo>
                    <a:pt x="167048" y="133323"/>
                  </a:moveTo>
                  <a:lnTo>
                    <a:pt x="166378" y="133323"/>
                  </a:lnTo>
                  <a:lnTo>
                    <a:pt x="160433" y="132168"/>
                  </a:lnTo>
                  <a:lnTo>
                    <a:pt x="154915" y="128505"/>
                  </a:lnTo>
                  <a:lnTo>
                    <a:pt x="125015" y="98606"/>
                  </a:lnTo>
                  <a:lnTo>
                    <a:pt x="208411" y="98606"/>
                  </a:lnTo>
                  <a:lnTo>
                    <a:pt x="178511" y="128505"/>
                  </a:lnTo>
                  <a:lnTo>
                    <a:pt x="172993" y="132168"/>
                  </a:lnTo>
                  <a:lnTo>
                    <a:pt x="167048" y="133323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92662" y="3694797"/>
            <a:ext cx="221996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14" dirty="0">
                <a:solidFill>
                  <a:srgbClr val="0056B3"/>
                </a:solidFill>
                <a:latin typeface="Lucida Sans"/>
                <a:cs typeface="Lucida Sans"/>
              </a:rPr>
              <a:t>Subscription</a:t>
            </a:r>
            <a:r>
              <a:rPr sz="1700" b="1" spc="-4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90" dirty="0">
                <a:solidFill>
                  <a:srgbClr val="0056B3"/>
                </a:solidFill>
                <a:latin typeface="Lucida Sans"/>
                <a:cs typeface="Lucida Sans"/>
              </a:rPr>
              <a:t>Analytics</a:t>
            </a:r>
            <a:endParaRPr sz="1700" dirty="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2662" y="4086351"/>
            <a:ext cx="2552700" cy="10845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84200">
              <a:lnSpc>
                <a:spcPct val="105800"/>
              </a:lnSpc>
              <a:spcBef>
                <a:spcPts val="30"/>
              </a:spcBef>
            </a:pPr>
            <a:r>
              <a:rPr lang="en-IN" sz="1300" spc="-45" dirty="0">
                <a:solidFill>
                  <a:srgbClr val="545454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Monthly</a:t>
            </a:r>
            <a:r>
              <a:rPr sz="1300" spc="-10" dirty="0">
                <a:solidFill>
                  <a:srgbClr val="54545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300" spc="-50" dirty="0">
                <a:solidFill>
                  <a:srgbClr val="545454"/>
                </a:solidFill>
                <a:latin typeface="Verdana"/>
                <a:cs typeface="Verdana"/>
              </a:rPr>
              <a:t>cloud-</a:t>
            </a:r>
            <a:r>
              <a:rPr sz="1300" spc="-45" dirty="0">
                <a:solidFill>
                  <a:srgbClr val="545454"/>
                </a:solidFill>
                <a:latin typeface="Verdana"/>
                <a:cs typeface="Verdana"/>
              </a:rPr>
              <a:t>based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dashboard</a:t>
            </a:r>
            <a:r>
              <a:rPr sz="1300" spc="-7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545454"/>
                </a:solidFill>
                <a:latin typeface="Verdana"/>
                <a:cs typeface="Verdana"/>
              </a:rPr>
              <a:t>with</a:t>
            </a:r>
            <a:r>
              <a:rPr sz="1300" spc="-7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545454"/>
                </a:solidFill>
                <a:latin typeface="Verdana"/>
                <a:cs typeface="Verdana"/>
              </a:rPr>
              <a:t>real-</a:t>
            </a:r>
            <a:r>
              <a:rPr sz="1300" spc="-20" dirty="0">
                <a:solidFill>
                  <a:srgbClr val="545454"/>
                </a:solidFill>
                <a:latin typeface="Verdana"/>
                <a:cs typeface="Verdana"/>
              </a:rPr>
              <a:t>time</a:t>
            </a:r>
            <a:endParaRPr sz="1300" dirty="0">
              <a:latin typeface="Verdana"/>
              <a:cs typeface="Verdana"/>
            </a:endParaRPr>
          </a:p>
          <a:p>
            <a:pPr marL="12700" marR="5080">
              <a:lnSpc>
                <a:spcPct val="108200"/>
              </a:lnSpc>
              <a:spcBef>
                <a:spcPts val="40"/>
              </a:spcBef>
            </a:pP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monitoring,</a:t>
            </a:r>
            <a:r>
              <a:rPr sz="1300" spc="-9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545454"/>
                </a:solidFill>
                <a:latin typeface="Verdana"/>
                <a:cs typeface="Verdana"/>
              </a:rPr>
              <a:t>predictive</a:t>
            </a:r>
            <a:r>
              <a:rPr sz="1300" spc="-8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545454"/>
                </a:solidFill>
                <a:latin typeface="Verdana"/>
                <a:cs typeface="Verdana"/>
              </a:rPr>
              <a:t>alerts,</a:t>
            </a:r>
            <a:r>
              <a:rPr sz="1300" spc="-8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Verdana"/>
                <a:cs typeface="Verdana"/>
              </a:rPr>
              <a:t>and </a:t>
            </a:r>
            <a:r>
              <a:rPr sz="1300" spc="-45" dirty="0">
                <a:solidFill>
                  <a:srgbClr val="545454"/>
                </a:solidFill>
                <a:latin typeface="Verdana"/>
                <a:cs typeface="Verdana"/>
              </a:rPr>
              <a:t>maintenance</a:t>
            </a:r>
            <a:r>
              <a:rPr sz="1300" spc="-6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Verdana"/>
                <a:cs typeface="Verdana"/>
              </a:rPr>
              <a:t>optimization recommendations.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81973" y="2933700"/>
            <a:ext cx="3248025" cy="2486025"/>
            <a:chOff x="8181973" y="2933700"/>
            <a:chExt cx="3248025" cy="2486025"/>
          </a:xfrm>
        </p:grpSpPr>
        <p:sp>
          <p:nvSpPr>
            <p:cNvPr id="18" name="object 18"/>
            <p:cNvSpPr/>
            <p:nvPr/>
          </p:nvSpPr>
          <p:spPr>
            <a:xfrm>
              <a:off x="8181973" y="2933700"/>
              <a:ext cx="3248025" cy="2486025"/>
            </a:xfrm>
            <a:custGeom>
              <a:avLst/>
              <a:gdLst/>
              <a:ahLst/>
              <a:cxnLst/>
              <a:rect l="l" t="t" r="r" b="b"/>
              <a:pathLst>
                <a:path w="3248025" h="2486025">
                  <a:moveTo>
                    <a:pt x="3176828" y="2486024"/>
                  </a:moveTo>
                  <a:lnTo>
                    <a:pt x="71196" y="2486024"/>
                  </a:lnTo>
                  <a:lnTo>
                    <a:pt x="66241" y="2485536"/>
                  </a:lnTo>
                  <a:lnTo>
                    <a:pt x="29705" y="2470402"/>
                  </a:lnTo>
                  <a:lnTo>
                    <a:pt x="3886" y="2434361"/>
                  </a:lnTo>
                  <a:lnTo>
                    <a:pt x="0" y="2414827"/>
                  </a:lnTo>
                  <a:lnTo>
                    <a:pt x="0" y="24098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3176828" y="0"/>
                  </a:lnTo>
                  <a:lnTo>
                    <a:pt x="3218319" y="15621"/>
                  </a:lnTo>
                  <a:lnTo>
                    <a:pt x="3244138" y="51661"/>
                  </a:lnTo>
                  <a:lnTo>
                    <a:pt x="3248024" y="71196"/>
                  </a:lnTo>
                  <a:lnTo>
                    <a:pt x="3248024" y="2414827"/>
                  </a:lnTo>
                  <a:lnTo>
                    <a:pt x="3232401" y="2456318"/>
                  </a:lnTo>
                  <a:lnTo>
                    <a:pt x="3196362" y="2482138"/>
                  </a:lnTo>
                  <a:lnTo>
                    <a:pt x="3181782" y="2485536"/>
                  </a:lnTo>
                  <a:lnTo>
                    <a:pt x="3176828" y="24860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20099" y="32384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61257" y="241696"/>
                  </a:moveTo>
                  <a:lnTo>
                    <a:pt x="58340" y="241696"/>
                  </a:lnTo>
                  <a:lnTo>
                    <a:pt x="45374" y="239073"/>
                  </a:lnTo>
                  <a:lnTo>
                    <a:pt x="34776" y="231923"/>
                  </a:lnTo>
                  <a:lnTo>
                    <a:pt x="27626" y="221325"/>
                  </a:lnTo>
                  <a:lnTo>
                    <a:pt x="25003" y="208359"/>
                  </a:lnTo>
                  <a:lnTo>
                    <a:pt x="25003" y="204504"/>
                  </a:lnTo>
                  <a:lnTo>
                    <a:pt x="25680" y="200754"/>
                  </a:lnTo>
                  <a:lnTo>
                    <a:pt x="26878" y="197316"/>
                  </a:lnTo>
                  <a:lnTo>
                    <a:pt x="16042" y="191228"/>
                  </a:lnTo>
                  <a:lnTo>
                    <a:pt x="7540" y="182288"/>
                  </a:lnTo>
                  <a:lnTo>
                    <a:pt x="1987" y="171121"/>
                  </a:lnTo>
                  <a:lnTo>
                    <a:pt x="0" y="158353"/>
                  </a:lnTo>
                  <a:lnTo>
                    <a:pt x="1742" y="146396"/>
                  </a:lnTo>
                  <a:lnTo>
                    <a:pt x="6634" y="135791"/>
                  </a:lnTo>
                  <a:lnTo>
                    <a:pt x="14174" y="127052"/>
                  </a:lnTo>
                  <a:lnTo>
                    <a:pt x="23857" y="120692"/>
                  </a:lnTo>
                  <a:lnTo>
                    <a:pt x="19325" y="115014"/>
                  </a:lnTo>
                  <a:lnTo>
                    <a:pt x="16668" y="107825"/>
                  </a:lnTo>
                  <a:lnTo>
                    <a:pt x="16668" y="100012"/>
                  </a:lnTo>
                  <a:lnTo>
                    <a:pt x="18661" y="88632"/>
                  </a:lnTo>
                  <a:lnTo>
                    <a:pt x="24169" y="78942"/>
                  </a:lnTo>
                  <a:lnTo>
                    <a:pt x="32491" y="71634"/>
                  </a:lnTo>
                  <a:lnTo>
                    <a:pt x="42922" y="67404"/>
                  </a:lnTo>
                  <a:lnTo>
                    <a:pt x="42088" y="64539"/>
                  </a:lnTo>
                  <a:lnTo>
                    <a:pt x="41671" y="61466"/>
                  </a:lnTo>
                  <a:lnTo>
                    <a:pt x="41671" y="58340"/>
                  </a:lnTo>
                  <a:lnTo>
                    <a:pt x="43573" y="47228"/>
                  </a:lnTo>
                  <a:lnTo>
                    <a:pt x="48840" y="37693"/>
                  </a:lnTo>
                  <a:lnTo>
                    <a:pt x="56812" y="30395"/>
                  </a:lnTo>
                  <a:lnTo>
                    <a:pt x="66831" y="25992"/>
                  </a:lnTo>
                  <a:lnTo>
                    <a:pt x="69907" y="15778"/>
                  </a:lnTo>
                  <a:lnTo>
                    <a:pt x="76279" y="7526"/>
                  </a:lnTo>
                  <a:lnTo>
                    <a:pt x="85180" y="2010"/>
                  </a:lnTo>
                  <a:lnTo>
                    <a:pt x="95845" y="0"/>
                  </a:lnTo>
                  <a:lnTo>
                    <a:pt x="107193" y="2294"/>
                  </a:lnTo>
                  <a:lnTo>
                    <a:pt x="116466" y="8549"/>
                  </a:lnTo>
                  <a:lnTo>
                    <a:pt x="122721" y="17822"/>
                  </a:lnTo>
                  <a:lnTo>
                    <a:pt x="125015" y="29170"/>
                  </a:lnTo>
                  <a:lnTo>
                    <a:pt x="125015" y="237529"/>
                  </a:lnTo>
                  <a:lnTo>
                    <a:pt x="124394" y="240602"/>
                  </a:lnTo>
                  <a:lnTo>
                    <a:pt x="66831" y="240602"/>
                  </a:lnTo>
                  <a:lnTo>
                    <a:pt x="64122" y="241332"/>
                  </a:lnTo>
                  <a:lnTo>
                    <a:pt x="61257" y="241696"/>
                  </a:lnTo>
                  <a:close/>
                </a:path>
                <a:path w="266700" h="266700">
                  <a:moveTo>
                    <a:pt x="95845" y="266700"/>
                  </a:moveTo>
                  <a:lnTo>
                    <a:pt x="85180" y="264688"/>
                  </a:lnTo>
                  <a:lnTo>
                    <a:pt x="76279" y="259160"/>
                  </a:lnTo>
                  <a:lnTo>
                    <a:pt x="69907" y="250877"/>
                  </a:lnTo>
                  <a:lnTo>
                    <a:pt x="66831" y="240602"/>
                  </a:lnTo>
                  <a:lnTo>
                    <a:pt x="124394" y="240602"/>
                  </a:lnTo>
                  <a:lnTo>
                    <a:pt x="122721" y="248877"/>
                  </a:lnTo>
                  <a:lnTo>
                    <a:pt x="116466" y="258150"/>
                  </a:lnTo>
                  <a:lnTo>
                    <a:pt x="107193" y="264405"/>
                  </a:lnTo>
                  <a:lnTo>
                    <a:pt x="95845" y="266700"/>
                  </a:lnTo>
                  <a:close/>
                </a:path>
                <a:path w="266700" h="266700">
                  <a:moveTo>
                    <a:pt x="170854" y="266700"/>
                  </a:moveTo>
                  <a:lnTo>
                    <a:pt x="159506" y="264405"/>
                  </a:lnTo>
                  <a:lnTo>
                    <a:pt x="150233" y="258150"/>
                  </a:lnTo>
                  <a:lnTo>
                    <a:pt x="143978" y="248877"/>
                  </a:lnTo>
                  <a:lnTo>
                    <a:pt x="141684" y="237529"/>
                  </a:lnTo>
                  <a:lnTo>
                    <a:pt x="141684" y="29170"/>
                  </a:lnTo>
                  <a:lnTo>
                    <a:pt x="143978" y="17822"/>
                  </a:lnTo>
                  <a:lnTo>
                    <a:pt x="150233" y="8549"/>
                  </a:lnTo>
                  <a:lnTo>
                    <a:pt x="159506" y="2294"/>
                  </a:lnTo>
                  <a:lnTo>
                    <a:pt x="170854" y="0"/>
                  </a:lnTo>
                  <a:lnTo>
                    <a:pt x="181511" y="2010"/>
                  </a:lnTo>
                  <a:lnTo>
                    <a:pt x="190401" y="7526"/>
                  </a:lnTo>
                  <a:lnTo>
                    <a:pt x="196771" y="15778"/>
                  </a:lnTo>
                  <a:lnTo>
                    <a:pt x="199868" y="25992"/>
                  </a:lnTo>
                  <a:lnTo>
                    <a:pt x="209909" y="30387"/>
                  </a:lnTo>
                  <a:lnTo>
                    <a:pt x="217878" y="37673"/>
                  </a:lnTo>
                  <a:lnTo>
                    <a:pt x="223133" y="47206"/>
                  </a:lnTo>
                  <a:lnTo>
                    <a:pt x="225028" y="58340"/>
                  </a:lnTo>
                  <a:lnTo>
                    <a:pt x="225028" y="61466"/>
                  </a:lnTo>
                  <a:lnTo>
                    <a:pt x="224611" y="64539"/>
                  </a:lnTo>
                  <a:lnTo>
                    <a:pt x="223777" y="67404"/>
                  </a:lnTo>
                  <a:lnTo>
                    <a:pt x="234208" y="71612"/>
                  </a:lnTo>
                  <a:lnTo>
                    <a:pt x="242530" y="78922"/>
                  </a:lnTo>
                  <a:lnTo>
                    <a:pt x="248038" y="88625"/>
                  </a:lnTo>
                  <a:lnTo>
                    <a:pt x="250031" y="100012"/>
                  </a:lnTo>
                  <a:lnTo>
                    <a:pt x="250031" y="107825"/>
                  </a:lnTo>
                  <a:lnTo>
                    <a:pt x="247374" y="115014"/>
                  </a:lnTo>
                  <a:lnTo>
                    <a:pt x="242842" y="120692"/>
                  </a:lnTo>
                  <a:lnTo>
                    <a:pt x="252525" y="127052"/>
                  </a:lnTo>
                  <a:lnTo>
                    <a:pt x="260065" y="135791"/>
                  </a:lnTo>
                  <a:lnTo>
                    <a:pt x="264957" y="146396"/>
                  </a:lnTo>
                  <a:lnTo>
                    <a:pt x="266700" y="158353"/>
                  </a:lnTo>
                  <a:lnTo>
                    <a:pt x="264712" y="171121"/>
                  </a:lnTo>
                  <a:lnTo>
                    <a:pt x="259160" y="182288"/>
                  </a:lnTo>
                  <a:lnTo>
                    <a:pt x="250657" y="191228"/>
                  </a:lnTo>
                  <a:lnTo>
                    <a:pt x="239821" y="197316"/>
                  </a:lnTo>
                  <a:lnTo>
                    <a:pt x="241019" y="200754"/>
                  </a:lnTo>
                  <a:lnTo>
                    <a:pt x="241696" y="204504"/>
                  </a:lnTo>
                  <a:lnTo>
                    <a:pt x="241696" y="208359"/>
                  </a:lnTo>
                  <a:lnTo>
                    <a:pt x="239073" y="221325"/>
                  </a:lnTo>
                  <a:lnTo>
                    <a:pt x="231923" y="231923"/>
                  </a:lnTo>
                  <a:lnTo>
                    <a:pt x="221325" y="239073"/>
                  </a:lnTo>
                  <a:lnTo>
                    <a:pt x="213766" y="240602"/>
                  </a:lnTo>
                  <a:lnTo>
                    <a:pt x="199868" y="240602"/>
                  </a:lnTo>
                  <a:lnTo>
                    <a:pt x="196792" y="250877"/>
                  </a:lnTo>
                  <a:lnTo>
                    <a:pt x="190420" y="259160"/>
                  </a:lnTo>
                  <a:lnTo>
                    <a:pt x="181519" y="264688"/>
                  </a:lnTo>
                  <a:lnTo>
                    <a:pt x="170854" y="266700"/>
                  </a:lnTo>
                  <a:close/>
                </a:path>
                <a:path w="266700" h="266700">
                  <a:moveTo>
                    <a:pt x="208359" y="241696"/>
                  </a:moveTo>
                  <a:lnTo>
                    <a:pt x="205442" y="241696"/>
                  </a:lnTo>
                  <a:lnTo>
                    <a:pt x="202577" y="241332"/>
                  </a:lnTo>
                  <a:lnTo>
                    <a:pt x="199868" y="240602"/>
                  </a:lnTo>
                  <a:lnTo>
                    <a:pt x="213766" y="240602"/>
                  </a:lnTo>
                  <a:lnTo>
                    <a:pt x="208359" y="241696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407400" y="3694797"/>
            <a:ext cx="20053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14" dirty="0">
                <a:solidFill>
                  <a:srgbClr val="0056B3"/>
                </a:solidFill>
                <a:latin typeface="Lucida Sans"/>
                <a:cs typeface="Lucida Sans"/>
              </a:rPr>
              <a:t>ML </a:t>
            </a:r>
            <a:r>
              <a:rPr sz="1700" b="1" spc="-75" dirty="0">
                <a:solidFill>
                  <a:srgbClr val="0056B3"/>
                </a:solidFill>
                <a:latin typeface="Lucida Sans"/>
                <a:cs typeface="Lucida Sans"/>
              </a:rPr>
              <a:t>Add-</a:t>
            </a:r>
            <a:r>
              <a:rPr sz="1700" b="1" spc="-120" dirty="0">
                <a:solidFill>
                  <a:srgbClr val="0056B3"/>
                </a:solidFill>
                <a:latin typeface="Lucida Sans"/>
                <a:cs typeface="Lucida Sans"/>
              </a:rPr>
              <a:t>on</a:t>
            </a:r>
            <a:r>
              <a:rPr sz="1700" b="1" spc="-11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55" dirty="0">
                <a:solidFill>
                  <a:srgbClr val="0056B3"/>
                </a:solidFill>
                <a:latin typeface="Lucida Sans"/>
                <a:cs typeface="Lucida Sans"/>
              </a:rPr>
              <a:t>Package</a:t>
            </a:r>
            <a:endParaRPr sz="170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07400" y="4086351"/>
            <a:ext cx="2498090" cy="10845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30"/>
              </a:spcBef>
            </a:pPr>
            <a:r>
              <a:rPr sz="1300" spc="-30" dirty="0">
                <a:solidFill>
                  <a:srgbClr val="545454"/>
                </a:solidFill>
                <a:latin typeface="Verdana"/>
                <a:cs typeface="Verdana"/>
              </a:rPr>
              <a:t>Premium</a:t>
            </a:r>
            <a:r>
              <a:rPr sz="130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Verdana"/>
                <a:cs typeface="Verdana"/>
              </a:rPr>
              <a:t>digital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545454"/>
                </a:solidFill>
                <a:latin typeface="Verdana"/>
                <a:cs typeface="Verdana"/>
              </a:rPr>
              <a:t>twin</a:t>
            </a:r>
            <a:r>
              <a:rPr sz="1300" spc="-10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545454"/>
                </a:solidFill>
                <a:latin typeface="Verdana"/>
                <a:cs typeface="Verdana"/>
              </a:rPr>
              <a:t>simulation </a:t>
            </a:r>
            <a:r>
              <a:rPr sz="1300" spc="-90" dirty="0">
                <a:solidFill>
                  <a:srgbClr val="545454"/>
                </a:solidFill>
                <a:latin typeface="Verdana"/>
                <a:cs typeface="Verdana"/>
              </a:rPr>
              <a:t>features,</a:t>
            </a:r>
            <a:r>
              <a:rPr sz="1300" spc="-9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advanced</a:t>
            </a:r>
            <a:r>
              <a:rPr sz="1300" spc="-9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Verdana"/>
                <a:cs typeface="Verdana"/>
              </a:rPr>
              <a:t>anomaly</a:t>
            </a:r>
            <a:endParaRPr sz="1300">
              <a:latin typeface="Verdana"/>
              <a:cs typeface="Verdana"/>
            </a:endParaRPr>
          </a:p>
          <a:p>
            <a:pPr marL="12700" marR="248285">
              <a:lnSpc>
                <a:spcPct val="108200"/>
              </a:lnSpc>
              <a:spcBef>
                <a:spcPts val="40"/>
              </a:spcBef>
            </a:pPr>
            <a:r>
              <a:rPr sz="1300" spc="-60" dirty="0">
                <a:solidFill>
                  <a:srgbClr val="545454"/>
                </a:solidFill>
                <a:latin typeface="Verdana"/>
                <a:cs typeface="Verdana"/>
              </a:rPr>
              <a:t>detection,</a:t>
            </a:r>
            <a:r>
              <a:rPr sz="1300" spc="-9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Verdana"/>
                <a:cs typeface="Verdana"/>
              </a:rPr>
              <a:t>and</a:t>
            </a:r>
            <a:r>
              <a:rPr sz="1300" spc="-8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Verdana"/>
                <a:cs typeface="Verdana"/>
              </a:rPr>
              <a:t>customized </a:t>
            </a:r>
            <a:r>
              <a:rPr sz="1300" spc="-50" dirty="0">
                <a:solidFill>
                  <a:srgbClr val="545454"/>
                </a:solidFill>
                <a:latin typeface="Verdana"/>
                <a:cs typeface="Verdana"/>
              </a:rPr>
              <a:t>predictive</a:t>
            </a:r>
            <a:r>
              <a:rPr sz="130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Verdana"/>
                <a:cs typeface="Verdana"/>
              </a:rPr>
              <a:t>models</a:t>
            </a:r>
            <a:r>
              <a:rPr sz="130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545454"/>
                </a:solidFill>
                <a:latin typeface="Verdana"/>
                <a:cs typeface="Verdana"/>
              </a:rPr>
              <a:t>for</a:t>
            </a:r>
            <a:r>
              <a:rPr sz="130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545454"/>
                </a:solidFill>
                <a:latin typeface="Verdana"/>
                <a:cs typeface="Verdana"/>
              </a:rPr>
              <a:t>specific </a:t>
            </a:r>
            <a:r>
              <a:rPr sz="1300" spc="-55" dirty="0">
                <a:solidFill>
                  <a:srgbClr val="545454"/>
                </a:solidFill>
                <a:latin typeface="Verdana"/>
                <a:cs typeface="Verdana"/>
              </a:rPr>
              <a:t>machinery</a:t>
            </a:r>
            <a:r>
              <a:rPr sz="1300" spc="-6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Verdana"/>
                <a:cs typeface="Verdana"/>
              </a:rPr>
              <a:t>types.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52499" y="5670875"/>
            <a:ext cx="762000" cy="762000"/>
            <a:chOff x="952499" y="5800724"/>
            <a:chExt cx="762000" cy="762000"/>
          </a:xfrm>
        </p:grpSpPr>
        <p:sp>
          <p:nvSpPr>
            <p:cNvPr id="23" name="object 23"/>
            <p:cNvSpPr/>
            <p:nvPr/>
          </p:nvSpPr>
          <p:spPr>
            <a:xfrm>
              <a:off x="952499" y="5800724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1"/>
                  </a:lnTo>
                  <a:lnTo>
                    <a:pt x="243882" y="736470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1"/>
                  </a:lnTo>
                  <a:lnTo>
                    <a:pt x="92505" y="629860"/>
                  </a:lnTo>
                  <a:lnTo>
                    <a:pt x="64209" y="592670"/>
                  </a:lnTo>
                  <a:lnTo>
                    <a:pt x="40680" y="552298"/>
                  </a:lnTo>
                  <a:lnTo>
                    <a:pt x="22271" y="509354"/>
                  </a:lnTo>
                  <a:lnTo>
                    <a:pt x="9257" y="464478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6"/>
                  </a:lnTo>
                  <a:lnTo>
                    <a:pt x="13800" y="279385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6" y="86483"/>
                  </a:lnTo>
                  <a:lnTo>
                    <a:pt x="177168" y="59109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1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2" y="115"/>
                  </a:lnTo>
                  <a:lnTo>
                    <a:pt x="436904" y="4124"/>
                  </a:lnTo>
                  <a:lnTo>
                    <a:pt x="482614" y="13800"/>
                  </a:lnTo>
                  <a:lnTo>
                    <a:pt x="526802" y="29001"/>
                  </a:lnTo>
                  <a:lnTo>
                    <a:pt x="568796" y="49498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6"/>
                  </a:lnTo>
                  <a:lnTo>
                    <a:pt x="702890" y="177168"/>
                  </a:lnTo>
                  <a:lnTo>
                    <a:pt x="725420" y="218101"/>
                  </a:lnTo>
                  <a:lnTo>
                    <a:pt x="742769" y="261484"/>
                  </a:lnTo>
                  <a:lnTo>
                    <a:pt x="754679" y="306670"/>
                  </a:lnTo>
                  <a:lnTo>
                    <a:pt x="760968" y="352975"/>
                  </a:lnTo>
                  <a:lnTo>
                    <a:pt x="761999" y="380999"/>
                  </a:lnTo>
                  <a:lnTo>
                    <a:pt x="761885" y="390352"/>
                  </a:lnTo>
                  <a:lnTo>
                    <a:pt x="757876" y="436903"/>
                  </a:lnTo>
                  <a:lnTo>
                    <a:pt x="748199" y="482613"/>
                  </a:lnTo>
                  <a:lnTo>
                    <a:pt x="732998" y="526800"/>
                  </a:lnTo>
                  <a:lnTo>
                    <a:pt x="712501" y="568795"/>
                  </a:lnTo>
                  <a:lnTo>
                    <a:pt x="687022" y="607960"/>
                  </a:lnTo>
                  <a:lnTo>
                    <a:pt x="656940" y="643712"/>
                  </a:lnTo>
                  <a:lnTo>
                    <a:pt x="622703" y="675516"/>
                  </a:lnTo>
                  <a:lnTo>
                    <a:pt x="584831" y="702890"/>
                  </a:lnTo>
                  <a:lnTo>
                    <a:pt x="543898" y="725419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42999" y="6067424"/>
              <a:ext cx="381000" cy="228600"/>
            </a:xfrm>
            <a:custGeom>
              <a:avLst/>
              <a:gdLst/>
              <a:ahLst/>
              <a:cxnLst/>
              <a:rect l="l" t="t" r="r" b="b"/>
              <a:pathLst>
                <a:path w="381000" h="228600">
                  <a:moveTo>
                    <a:pt x="167959" y="228547"/>
                  </a:moveTo>
                  <a:lnTo>
                    <a:pt x="157129" y="226947"/>
                  </a:lnTo>
                  <a:lnTo>
                    <a:pt x="147399" y="221099"/>
                  </a:lnTo>
                  <a:lnTo>
                    <a:pt x="92987" y="171449"/>
                  </a:lnTo>
                  <a:lnTo>
                    <a:pt x="76199" y="171449"/>
                  </a:lnTo>
                  <a:lnTo>
                    <a:pt x="76199" y="38099"/>
                  </a:lnTo>
                  <a:lnTo>
                    <a:pt x="119062" y="9524"/>
                  </a:lnTo>
                  <a:lnTo>
                    <a:pt x="126342" y="5425"/>
                  </a:lnTo>
                  <a:lnTo>
                    <a:pt x="134086" y="2448"/>
                  </a:lnTo>
                  <a:lnTo>
                    <a:pt x="142480" y="574"/>
                  </a:lnTo>
                  <a:lnTo>
                    <a:pt x="143144" y="574"/>
                  </a:lnTo>
                  <a:lnTo>
                    <a:pt x="151344" y="0"/>
                  </a:lnTo>
                  <a:lnTo>
                    <a:pt x="157757" y="0"/>
                  </a:lnTo>
                  <a:lnTo>
                    <a:pt x="165496" y="1547"/>
                  </a:lnTo>
                  <a:lnTo>
                    <a:pt x="172402" y="4464"/>
                  </a:lnTo>
                  <a:lnTo>
                    <a:pt x="122872" y="44529"/>
                  </a:lnTo>
                  <a:lnTo>
                    <a:pt x="112474" y="56932"/>
                  </a:lnTo>
                  <a:lnTo>
                    <a:pt x="107595" y="71824"/>
                  </a:lnTo>
                  <a:lnTo>
                    <a:pt x="108420" y="86677"/>
                  </a:lnTo>
                  <a:lnTo>
                    <a:pt x="108465" y="87475"/>
                  </a:lnTo>
                  <a:lnTo>
                    <a:pt x="115312" y="102155"/>
                  </a:lnTo>
                  <a:lnTo>
                    <a:pt x="127978" y="113673"/>
                  </a:lnTo>
                  <a:lnTo>
                    <a:pt x="143552" y="119107"/>
                  </a:lnTo>
                  <a:lnTo>
                    <a:pt x="241479" y="119107"/>
                  </a:lnTo>
                  <a:lnTo>
                    <a:pt x="285988" y="159900"/>
                  </a:lnTo>
                  <a:lnTo>
                    <a:pt x="292653" y="169070"/>
                  </a:lnTo>
                  <a:lnTo>
                    <a:pt x="295200" y="179724"/>
                  </a:lnTo>
                  <a:lnTo>
                    <a:pt x="293572" y="190557"/>
                  </a:lnTo>
                  <a:lnTo>
                    <a:pt x="287714" y="200263"/>
                  </a:lnTo>
                  <a:lnTo>
                    <a:pt x="281829" y="204727"/>
                  </a:lnTo>
                  <a:lnTo>
                    <a:pt x="250745" y="204727"/>
                  </a:lnTo>
                  <a:lnTo>
                    <a:pt x="249940" y="206990"/>
                  </a:lnTo>
                  <a:lnTo>
                    <a:pt x="194369" y="206990"/>
                  </a:lnTo>
                  <a:lnTo>
                    <a:pt x="193238" y="211395"/>
                  </a:lnTo>
                  <a:lnTo>
                    <a:pt x="191035" y="215622"/>
                  </a:lnTo>
                  <a:lnTo>
                    <a:pt x="187761" y="219253"/>
                  </a:lnTo>
                  <a:lnTo>
                    <a:pt x="178600" y="225962"/>
                  </a:lnTo>
                  <a:lnTo>
                    <a:pt x="167959" y="228547"/>
                  </a:lnTo>
                  <a:close/>
                </a:path>
                <a:path w="381000" h="228600">
                  <a:moveTo>
                    <a:pt x="146208" y="100213"/>
                  </a:moveTo>
                  <a:lnTo>
                    <a:pt x="137666" y="97230"/>
                  </a:lnTo>
                  <a:lnTo>
                    <a:pt x="130730" y="90904"/>
                  </a:lnTo>
                  <a:lnTo>
                    <a:pt x="126969" y="82859"/>
                  </a:lnTo>
                  <a:lnTo>
                    <a:pt x="126496" y="74272"/>
                  </a:lnTo>
                  <a:lnTo>
                    <a:pt x="129181" y="66099"/>
                  </a:lnTo>
                  <a:lnTo>
                    <a:pt x="192524" y="12620"/>
                  </a:lnTo>
                  <a:lnTo>
                    <a:pt x="228242" y="0"/>
                  </a:lnTo>
                  <a:lnTo>
                    <a:pt x="236313" y="574"/>
                  </a:lnTo>
                  <a:lnTo>
                    <a:pt x="244189" y="2277"/>
                  </a:lnTo>
                  <a:lnTo>
                    <a:pt x="251741" y="5073"/>
                  </a:lnTo>
                  <a:lnTo>
                    <a:pt x="258841" y="8929"/>
                  </a:lnTo>
                  <a:lnTo>
                    <a:pt x="304383" y="38099"/>
                  </a:lnTo>
                  <a:lnTo>
                    <a:pt x="304799" y="38099"/>
                  </a:lnTo>
                  <a:lnTo>
                    <a:pt x="304799" y="46374"/>
                  </a:lnTo>
                  <a:lnTo>
                    <a:pt x="226933" y="46374"/>
                  </a:lnTo>
                  <a:lnTo>
                    <a:pt x="163651" y="95547"/>
                  </a:lnTo>
                  <a:lnTo>
                    <a:pt x="155242" y="99702"/>
                  </a:lnTo>
                  <a:lnTo>
                    <a:pt x="146208" y="100213"/>
                  </a:lnTo>
                  <a:close/>
                </a:path>
                <a:path w="381000" h="228600">
                  <a:moveTo>
                    <a:pt x="304799" y="150494"/>
                  </a:moveTo>
                  <a:lnTo>
                    <a:pt x="222080" y="74272"/>
                  </a:lnTo>
                  <a:lnTo>
                    <a:pt x="234493" y="64650"/>
                  </a:lnTo>
                  <a:lnTo>
                    <a:pt x="238660" y="61376"/>
                  </a:lnTo>
                  <a:lnTo>
                    <a:pt x="239434" y="55423"/>
                  </a:lnTo>
                  <a:lnTo>
                    <a:pt x="232886" y="47089"/>
                  </a:lnTo>
                  <a:lnTo>
                    <a:pt x="226933" y="46374"/>
                  </a:lnTo>
                  <a:lnTo>
                    <a:pt x="304799" y="46374"/>
                  </a:lnTo>
                  <a:lnTo>
                    <a:pt x="304799" y="150494"/>
                  </a:lnTo>
                  <a:close/>
                </a:path>
                <a:path w="381000" h="228600">
                  <a:moveTo>
                    <a:pt x="241479" y="119107"/>
                  </a:moveTo>
                  <a:lnTo>
                    <a:pt x="143552" y="119107"/>
                  </a:lnTo>
                  <a:lnTo>
                    <a:pt x="160007" y="118178"/>
                  </a:lnTo>
                  <a:lnTo>
                    <a:pt x="175319" y="110609"/>
                  </a:lnTo>
                  <a:lnTo>
                    <a:pt x="206097" y="86677"/>
                  </a:lnTo>
                  <a:lnTo>
                    <a:pt x="241479" y="119107"/>
                  </a:lnTo>
                  <a:close/>
                </a:path>
                <a:path w="381000" h="228600">
                  <a:moveTo>
                    <a:pt x="269922" y="209371"/>
                  </a:moveTo>
                  <a:lnTo>
                    <a:pt x="260029" y="208785"/>
                  </a:lnTo>
                  <a:lnTo>
                    <a:pt x="250745" y="204727"/>
                  </a:lnTo>
                  <a:lnTo>
                    <a:pt x="281829" y="204727"/>
                  </a:lnTo>
                  <a:lnTo>
                    <a:pt x="279468" y="206519"/>
                  </a:lnTo>
                  <a:lnTo>
                    <a:pt x="269922" y="209371"/>
                  </a:lnTo>
                  <a:close/>
                </a:path>
                <a:path w="381000" h="228600">
                  <a:moveTo>
                    <a:pt x="225028" y="223763"/>
                  </a:moveTo>
                  <a:lnTo>
                    <a:pt x="214195" y="222135"/>
                  </a:lnTo>
                  <a:lnTo>
                    <a:pt x="204489" y="216277"/>
                  </a:lnTo>
                  <a:lnTo>
                    <a:pt x="194369" y="206990"/>
                  </a:lnTo>
                  <a:lnTo>
                    <a:pt x="249940" y="206990"/>
                  </a:lnTo>
                  <a:lnTo>
                    <a:pt x="249495" y="208240"/>
                  </a:lnTo>
                  <a:lnTo>
                    <a:pt x="247530" y="211633"/>
                  </a:lnTo>
                  <a:lnTo>
                    <a:pt x="244852" y="214550"/>
                  </a:lnTo>
                  <a:lnTo>
                    <a:pt x="235843" y="221099"/>
                  </a:lnTo>
                  <a:lnTo>
                    <a:pt x="236172" y="221099"/>
                  </a:lnTo>
                  <a:lnTo>
                    <a:pt x="225028" y="223763"/>
                  </a:lnTo>
                  <a:close/>
                </a:path>
                <a:path w="381000" h="228600">
                  <a:moveTo>
                    <a:pt x="38099" y="190499"/>
                  </a:moveTo>
                  <a:lnTo>
                    <a:pt x="19049" y="190499"/>
                  </a:lnTo>
                  <a:lnTo>
                    <a:pt x="11628" y="189005"/>
                  </a:lnTo>
                  <a:lnTo>
                    <a:pt x="5573" y="184926"/>
                  </a:lnTo>
                  <a:lnTo>
                    <a:pt x="1494" y="178871"/>
                  </a:lnTo>
                  <a:lnTo>
                    <a:pt x="0" y="171449"/>
                  </a:lnTo>
                  <a:lnTo>
                    <a:pt x="0" y="42386"/>
                  </a:lnTo>
                  <a:lnTo>
                    <a:pt x="4286" y="38099"/>
                  </a:lnTo>
                  <a:lnTo>
                    <a:pt x="57149" y="38099"/>
                  </a:lnTo>
                  <a:lnTo>
                    <a:pt x="57149" y="152399"/>
                  </a:lnTo>
                  <a:lnTo>
                    <a:pt x="25944" y="152399"/>
                  </a:lnTo>
                  <a:lnTo>
                    <a:pt x="23699" y="153329"/>
                  </a:lnTo>
                  <a:lnTo>
                    <a:pt x="19979" y="157049"/>
                  </a:lnTo>
                  <a:lnTo>
                    <a:pt x="19049" y="159294"/>
                  </a:lnTo>
                  <a:lnTo>
                    <a:pt x="19049" y="164555"/>
                  </a:lnTo>
                  <a:lnTo>
                    <a:pt x="19979" y="166800"/>
                  </a:lnTo>
                  <a:lnTo>
                    <a:pt x="23699" y="170520"/>
                  </a:lnTo>
                  <a:lnTo>
                    <a:pt x="25944" y="171449"/>
                  </a:lnTo>
                  <a:lnTo>
                    <a:pt x="57149" y="171449"/>
                  </a:lnTo>
                  <a:lnTo>
                    <a:pt x="55655" y="178871"/>
                  </a:lnTo>
                  <a:lnTo>
                    <a:pt x="51576" y="184926"/>
                  </a:lnTo>
                  <a:lnTo>
                    <a:pt x="45521" y="189005"/>
                  </a:lnTo>
                  <a:lnTo>
                    <a:pt x="38099" y="190499"/>
                  </a:lnTo>
                  <a:close/>
                </a:path>
                <a:path w="381000" h="228600">
                  <a:moveTo>
                    <a:pt x="57149" y="171449"/>
                  </a:moveTo>
                  <a:lnTo>
                    <a:pt x="31205" y="171449"/>
                  </a:lnTo>
                  <a:lnTo>
                    <a:pt x="33450" y="170520"/>
                  </a:lnTo>
                  <a:lnTo>
                    <a:pt x="37170" y="166800"/>
                  </a:lnTo>
                  <a:lnTo>
                    <a:pt x="38099" y="164555"/>
                  </a:lnTo>
                  <a:lnTo>
                    <a:pt x="38099" y="159294"/>
                  </a:lnTo>
                  <a:lnTo>
                    <a:pt x="37170" y="157049"/>
                  </a:lnTo>
                  <a:lnTo>
                    <a:pt x="33450" y="153329"/>
                  </a:lnTo>
                  <a:lnTo>
                    <a:pt x="31205" y="152399"/>
                  </a:lnTo>
                  <a:lnTo>
                    <a:pt x="57149" y="152399"/>
                  </a:lnTo>
                  <a:lnTo>
                    <a:pt x="57149" y="171449"/>
                  </a:lnTo>
                  <a:close/>
                </a:path>
                <a:path w="381000" h="228600">
                  <a:moveTo>
                    <a:pt x="361949" y="190499"/>
                  </a:moveTo>
                  <a:lnTo>
                    <a:pt x="342899" y="190499"/>
                  </a:lnTo>
                  <a:lnTo>
                    <a:pt x="335478" y="189005"/>
                  </a:lnTo>
                  <a:lnTo>
                    <a:pt x="329423" y="184926"/>
                  </a:lnTo>
                  <a:lnTo>
                    <a:pt x="325344" y="178871"/>
                  </a:lnTo>
                  <a:lnTo>
                    <a:pt x="323849" y="171449"/>
                  </a:lnTo>
                  <a:lnTo>
                    <a:pt x="323849" y="38099"/>
                  </a:lnTo>
                  <a:lnTo>
                    <a:pt x="376713" y="38099"/>
                  </a:lnTo>
                  <a:lnTo>
                    <a:pt x="380999" y="42386"/>
                  </a:lnTo>
                  <a:lnTo>
                    <a:pt x="380999" y="152399"/>
                  </a:lnTo>
                  <a:lnTo>
                    <a:pt x="349794" y="152399"/>
                  </a:lnTo>
                  <a:lnTo>
                    <a:pt x="347549" y="153329"/>
                  </a:lnTo>
                  <a:lnTo>
                    <a:pt x="343829" y="157049"/>
                  </a:lnTo>
                  <a:lnTo>
                    <a:pt x="342899" y="159294"/>
                  </a:lnTo>
                  <a:lnTo>
                    <a:pt x="342899" y="164555"/>
                  </a:lnTo>
                  <a:lnTo>
                    <a:pt x="343829" y="166800"/>
                  </a:lnTo>
                  <a:lnTo>
                    <a:pt x="347549" y="170520"/>
                  </a:lnTo>
                  <a:lnTo>
                    <a:pt x="349794" y="171449"/>
                  </a:lnTo>
                  <a:lnTo>
                    <a:pt x="380999" y="171449"/>
                  </a:lnTo>
                  <a:lnTo>
                    <a:pt x="379505" y="178871"/>
                  </a:lnTo>
                  <a:lnTo>
                    <a:pt x="375426" y="184926"/>
                  </a:lnTo>
                  <a:lnTo>
                    <a:pt x="369371" y="189005"/>
                  </a:lnTo>
                  <a:lnTo>
                    <a:pt x="361949" y="190499"/>
                  </a:lnTo>
                  <a:close/>
                </a:path>
                <a:path w="381000" h="228600">
                  <a:moveTo>
                    <a:pt x="380999" y="171449"/>
                  </a:moveTo>
                  <a:lnTo>
                    <a:pt x="355055" y="171449"/>
                  </a:lnTo>
                  <a:lnTo>
                    <a:pt x="357300" y="170520"/>
                  </a:lnTo>
                  <a:lnTo>
                    <a:pt x="361020" y="166800"/>
                  </a:lnTo>
                  <a:lnTo>
                    <a:pt x="361949" y="164555"/>
                  </a:lnTo>
                  <a:lnTo>
                    <a:pt x="361949" y="159294"/>
                  </a:lnTo>
                  <a:lnTo>
                    <a:pt x="361020" y="157049"/>
                  </a:lnTo>
                  <a:lnTo>
                    <a:pt x="357300" y="153329"/>
                  </a:lnTo>
                  <a:lnTo>
                    <a:pt x="355055" y="152399"/>
                  </a:lnTo>
                  <a:lnTo>
                    <a:pt x="380999" y="152399"/>
                  </a:lnTo>
                  <a:lnTo>
                    <a:pt x="380999" y="1714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939925" y="5645663"/>
            <a:ext cx="9292590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b="1" spc="-150" dirty="0">
                <a:solidFill>
                  <a:srgbClr val="212121"/>
                </a:solidFill>
                <a:latin typeface="Lucida Sans"/>
                <a:cs typeface="Lucida Sans"/>
              </a:rPr>
              <a:t>Expansion</a:t>
            </a:r>
            <a:r>
              <a:rPr sz="2050" b="1" spc="-80" dirty="0">
                <a:solidFill>
                  <a:srgbClr val="212121"/>
                </a:solidFill>
                <a:latin typeface="Lucida Sans"/>
                <a:cs typeface="Lucida Sans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Lucida Sans"/>
                <a:cs typeface="Lucida Sans"/>
              </a:rPr>
              <a:t>Strategy</a:t>
            </a:r>
            <a:endParaRPr sz="2050">
              <a:latin typeface="Lucida Sans"/>
              <a:cs typeface="Lucida Sans"/>
            </a:endParaRPr>
          </a:p>
          <a:p>
            <a:pPr marL="12700" marR="5080">
              <a:lnSpc>
                <a:spcPct val="116399"/>
              </a:lnSpc>
              <a:spcBef>
                <a:spcPts val="1155"/>
              </a:spcBef>
            </a:pP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Strategic</a:t>
            </a:r>
            <a:r>
              <a:rPr sz="1450" spc="-6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partnerships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444444"/>
                </a:solidFill>
                <a:latin typeface="Lucida Sans"/>
                <a:cs typeface="Lucida Sans"/>
              </a:rPr>
              <a:t>with</a:t>
            </a:r>
            <a:r>
              <a:rPr sz="1450" spc="-6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55" dirty="0">
                <a:solidFill>
                  <a:srgbClr val="444444"/>
                </a:solidFill>
                <a:latin typeface="Lucida Sans"/>
                <a:cs typeface="Lucida Sans"/>
              </a:rPr>
              <a:t>MSME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support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40" dirty="0">
                <a:solidFill>
                  <a:srgbClr val="444444"/>
                </a:solidFill>
                <a:latin typeface="Lucida Sans"/>
                <a:cs typeface="Lucida Sans"/>
              </a:rPr>
              <a:t>agencies,</a:t>
            </a:r>
            <a:r>
              <a:rPr sz="1450" spc="-6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40" dirty="0">
                <a:solidFill>
                  <a:srgbClr val="444444"/>
                </a:solidFill>
                <a:latin typeface="Lucida Sans"/>
                <a:cs typeface="Lucida Sans"/>
              </a:rPr>
              <a:t>industrial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444444"/>
                </a:solidFill>
                <a:latin typeface="Lucida Sans"/>
                <a:cs typeface="Lucida Sans"/>
              </a:rPr>
              <a:t>equipment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OEMs,</a:t>
            </a:r>
            <a:r>
              <a:rPr sz="1450" spc="-6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and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5" dirty="0">
                <a:solidFill>
                  <a:srgbClr val="444444"/>
                </a:solidFill>
                <a:latin typeface="Lucida Sans"/>
                <a:cs typeface="Lucida Sans"/>
              </a:rPr>
              <a:t>regional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maintenance </a:t>
            </a: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service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60" dirty="0">
                <a:solidFill>
                  <a:srgbClr val="444444"/>
                </a:solidFill>
                <a:latin typeface="Lucida Sans"/>
                <a:cs typeface="Lucida Sans"/>
              </a:rPr>
              <a:t>providers.</a:t>
            </a:r>
            <a:r>
              <a:rPr sz="1450" spc="-5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5" dirty="0">
                <a:solidFill>
                  <a:srgbClr val="444444"/>
                </a:solidFill>
                <a:latin typeface="Lucida Sans"/>
                <a:cs typeface="Lucida Sans"/>
              </a:rPr>
              <a:t>Expand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50" dirty="0">
                <a:solidFill>
                  <a:srgbClr val="444444"/>
                </a:solidFill>
                <a:latin typeface="Lucida Sans"/>
                <a:cs typeface="Lucida Sans"/>
              </a:rPr>
              <a:t>offerings </a:t>
            </a: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through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technical</a:t>
            </a:r>
            <a:r>
              <a:rPr sz="1450" spc="-5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support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444444"/>
                </a:solidFill>
                <a:latin typeface="Lucida Sans"/>
                <a:cs typeface="Lucida Sans"/>
              </a:rPr>
              <a:t>contracts</a:t>
            </a:r>
            <a:r>
              <a:rPr sz="1450" spc="-5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and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444444"/>
                </a:solidFill>
                <a:latin typeface="Lucida Sans"/>
                <a:cs typeface="Lucida Sans"/>
              </a:rPr>
              <a:t>industry-</a:t>
            </a:r>
            <a:r>
              <a:rPr sz="1450" spc="-40" dirty="0">
                <a:solidFill>
                  <a:srgbClr val="444444"/>
                </a:solidFill>
                <a:latin typeface="Lucida Sans"/>
                <a:cs typeface="Lucida Sans"/>
              </a:rPr>
              <a:t>specific</a:t>
            </a:r>
            <a:r>
              <a:rPr sz="1450" spc="-50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444444"/>
                </a:solidFill>
                <a:latin typeface="Lucida Sans"/>
                <a:cs typeface="Lucida Sans"/>
              </a:rPr>
              <a:t>ML</a:t>
            </a:r>
            <a:r>
              <a:rPr sz="1450" spc="-55" dirty="0">
                <a:solidFill>
                  <a:srgbClr val="444444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444444"/>
                </a:solidFill>
                <a:latin typeface="Lucida Sans"/>
                <a:cs typeface="Lucida Sans"/>
              </a:rPr>
              <a:t>models.</a:t>
            </a:r>
            <a:endParaRPr sz="1450">
              <a:latin typeface="Lucida Sans"/>
              <a:cs typeface="Lucida San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800" y="534778"/>
            <a:ext cx="5696585" cy="5803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spc="-75" dirty="0">
                <a:latin typeface="Arial"/>
                <a:cs typeface="Arial"/>
              </a:rPr>
              <a:t>Financial</a:t>
            </a:r>
            <a:r>
              <a:rPr sz="3600" spc="-120" dirty="0">
                <a:latin typeface="Arial"/>
                <a:cs typeface="Arial"/>
              </a:rPr>
              <a:t> </a:t>
            </a:r>
            <a:r>
              <a:rPr sz="3600" spc="-95" dirty="0">
                <a:latin typeface="Arial"/>
                <a:cs typeface="Arial"/>
              </a:rPr>
              <a:t>Projections</a:t>
            </a:r>
            <a:r>
              <a:rPr sz="3600" spc="-110" dirty="0">
                <a:latin typeface="Arial"/>
                <a:cs typeface="Arial"/>
              </a:rPr>
              <a:t> </a:t>
            </a:r>
            <a:r>
              <a:rPr sz="3600" spc="-315" dirty="0">
                <a:latin typeface="Arial"/>
                <a:cs typeface="Arial"/>
              </a:rPr>
              <a:t>&amp;</a:t>
            </a:r>
            <a:r>
              <a:rPr sz="3600" spc="-110" dirty="0">
                <a:latin typeface="Arial"/>
                <a:cs typeface="Arial"/>
              </a:rPr>
              <a:t> </a:t>
            </a:r>
            <a:r>
              <a:rPr sz="3600" spc="-50" dirty="0">
                <a:latin typeface="Arial"/>
                <a:cs typeface="Arial"/>
              </a:rPr>
              <a:t>ROI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31175" y="1670415"/>
            <a:ext cx="5029200" cy="1228725"/>
            <a:chOff x="952499" y="2143124"/>
            <a:chExt cx="5029200" cy="1228725"/>
          </a:xfrm>
        </p:grpSpPr>
        <p:sp>
          <p:nvSpPr>
            <p:cNvPr id="4" name="object 4"/>
            <p:cNvSpPr/>
            <p:nvPr/>
          </p:nvSpPr>
          <p:spPr>
            <a:xfrm>
              <a:off x="971549" y="2143124"/>
              <a:ext cx="5010150" cy="1228725"/>
            </a:xfrm>
            <a:custGeom>
              <a:avLst/>
              <a:gdLst/>
              <a:ahLst/>
              <a:cxnLst/>
              <a:rect l="l" t="t" r="r" b="b"/>
              <a:pathLst>
                <a:path w="5010150" h="1228725">
                  <a:moveTo>
                    <a:pt x="4938952" y="1228724"/>
                  </a:moveTo>
                  <a:lnTo>
                    <a:pt x="0" y="1228724"/>
                  </a:lnTo>
                  <a:lnTo>
                    <a:pt x="0" y="0"/>
                  </a:lnTo>
                  <a:lnTo>
                    <a:pt x="4938952" y="0"/>
                  </a:lnTo>
                  <a:lnTo>
                    <a:pt x="4943907" y="488"/>
                  </a:lnTo>
                  <a:lnTo>
                    <a:pt x="4980443" y="15621"/>
                  </a:lnTo>
                  <a:lnTo>
                    <a:pt x="5006262" y="51661"/>
                  </a:lnTo>
                  <a:lnTo>
                    <a:pt x="5010149" y="71196"/>
                  </a:lnTo>
                  <a:lnTo>
                    <a:pt x="5010149" y="1157527"/>
                  </a:lnTo>
                  <a:lnTo>
                    <a:pt x="4994526" y="1199019"/>
                  </a:lnTo>
                  <a:lnTo>
                    <a:pt x="4958487" y="1224838"/>
                  </a:lnTo>
                  <a:lnTo>
                    <a:pt x="4938952" y="12287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52499" y="2143124"/>
              <a:ext cx="38100" cy="1228725"/>
            </a:xfrm>
            <a:custGeom>
              <a:avLst/>
              <a:gdLst/>
              <a:ahLst/>
              <a:cxnLst/>
              <a:rect l="l" t="t" r="r" b="b"/>
              <a:pathLst>
                <a:path w="38100" h="1228725">
                  <a:moveTo>
                    <a:pt x="38099" y="1228724"/>
                  </a:moveTo>
                  <a:lnTo>
                    <a:pt x="0" y="12287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22872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31175" y="3042015"/>
            <a:ext cx="5029200" cy="1228725"/>
            <a:chOff x="952499" y="3514724"/>
            <a:chExt cx="5029200" cy="1228725"/>
          </a:xfrm>
        </p:grpSpPr>
        <p:sp>
          <p:nvSpPr>
            <p:cNvPr id="7" name="object 7"/>
            <p:cNvSpPr/>
            <p:nvPr/>
          </p:nvSpPr>
          <p:spPr>
            <a:xfrm>
              <a:off x="971549" y="3514724"/>
              <a:ext cx="5010150" cy="1228725"/>
            </a:xfrm>
            <a:custGeom>
              <a:avLst/>
              <a:gdLst/>
              <a:ahLst/>
              <a:cxnLst/>
              <a:rect l="l" t="t" r="r" b="b"/>
              <a:pathLst>
                <a:path w="5010150" h="1228725">
                  <a:moveTo>
                    <a:pt x="4938952" y="1228724"/>
                  </a:moveTo>
                  <a:lnTo>
                    <a:pt x="0" y="1228724"/>
                  </a:lnTo>
                  <a:lnTo>
                    <a:pt x="0" y="0"/>
                  </a:lnTo>
                  <a:lnTo>
                    <a:pt x="4938952" y="0"/>
                  </a:lnTo>
                  <a:lnTo>
                    <a:pt x="4943907" y="488"/>
                  </a:lnTo>
                  <a:lnTo>
                    <a:pt x="4980443" y="15621"/>
                  </a:lnTo>
                  <a:lnTo>
                    <a:pt x="5006262" y="51661"/>
                  </a:lnTo>
                  <a:lnTo>
                    <a:pt x="5010149" y="71196"/>
                  </a:lnTo>
                  <a:lnTo>
                    <a:pt x="5010149" y="1157528"/>
                  </a:lnTo>
                  <a:lnTo>
                    <a:pt x="4994526" y="1199018"/>
                  </a:lnTo>
                  <a:lnTo>
                    <a:pt x="4958487" y="1224838"/>
                  </a:lnTo>
                  <a:lnTo>
                    <a:pt x="4938952" y="12287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52499" y="3514724"/>
              <a:ext cx="38100" cy="1228725"/>
            </a:xfrm>
            <a:custGeom>
              <a:avLst/>
              <a:gdLst/>
              <a:ahLst/>
              <a:cxnLst/>
              <a:rect l="l" t="t" r="r" b="b"/>
              <a:pathLst>
                <a:path w="38100" h="1228725">
                  <a:moveTo>
                    <a:pt x="38099" y="1228724"/>
                  </a:moveTo>
                  <a:lnTo>
                    <a:pt x="0" y="12287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22872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31175" y="4413615"/>
            <a:ext cx="5029200" cy="1228725"/>
            <a:chOff x="952499" y="4886324"/>
            <a:chExt cx="5029200" cy="1228725"/>
          </a:xfrm>
        </p:grpSpPr>
        <p:sp>
          <p:nvSpPr>
            <p:cNvPr id="10" name="object 10"/>
            <p:cNvSpPr/>
            <p:nvPr/>
          </p:nvSpPr>
          <p:spPr>
            <a:xfrm>
              <a:off x="971549" y="4886324"/>
              <a:ext cx="5010150" cy="1228725"/>
            </a:xfrm>
            <a:custGeom>
              <a:avLst/>
              <a:gdLst/>
              <a:ahLst/>
              <a:cxnLst/>
              <a:rect l="l" t="t" r="r" b="b"/>
              <a:pathLst>
                <a:path w="5010150" h="1228725">
                  <a:moveTo>
                    <a:pt x="4938952" y="1228724"/>
                  </a:moveTo>
                  <a:lnTo>
                    <a:pt x="0" y="1228724"/>
                  </a:lnTo>
                  <a:lnTo>
                    <a:pt x="0" y="0"/>
                  </a:lnTo>
                  <a:lnTo>
                    <a:pt x="4938952" y="0"/>
                  </a:lnTo>
                  <a:lnTo>
                    <a:pt x="4943907" y="487"/>
                  </a:lnTo>
                  <a:lnTo>
                    <a:pt x="4980443" y="15621"/>
                  </a:lnTo>
                  <a:lnTo>
                    <a:pt x="5006262" y="51661"/>
                  </a:lnTo>
                  <a:lnTo>
                    <a:pt x="5010149" y="71196"/>
                  </a:lnTo>
                  <a:lnTo>
                    <a:pt x="5010149" y="1157527"/>
                  </a:lnTo>
                  <a:lnTo>
                    <a:pt x="4994526" y="1199019"/>
                  </a:lnTo>
                  <a:lnTo>
                    <a:pt x="4958487" y="1224838"/>
                  </a:lnTo>
                  <a:lnTo>
                    <a:pt x="4938952" y="1228724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2499" y="4886324"/>
              <a:ext cx="38100" cy="1228725"/>
            </a:xfrm>
            <a:custGeom>
              <a:avLst/>
              <a:gdLst/>
              <a:ahLst/>
              <a:cxnLst/>
              <a:rect l="l" t="t" r="r" b="b"/>
              <a:pathLst>
                <a:path w="38100" h="1228725">
                  <a:moveTo>
                    <a:pt x="38099" y="1228724"/>
                  </a:moveTo>
                  <a:lnTo>
                    <a:pt x="0" y="12287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228724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9800" y="1231606"/>
            <a:ext cx="8451215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5460365" algn="l"/>
              </a:tabLst>
            </a:pPr>
            <a:r>
              <a:rPr sz="2350" b="1" spc="-114" dirty="0">
                <a:solidFill>
                  <a:srgbClr val="212121"/>
                </a:solidFill>
                <a:latin typeface="Lucida Sans"/>
                <a:cs typeface="Lucida Sans"/>
              </a:rPr>
              <a:t>Pricing</a:t>
            </a:r>
            <a:r>
              <a:rPr sz="2350" b="1" spc="-135" dirty="0">
                <a:solidFill>
                  <a:srgbClr val="212121"/>
                </a:solidFill>
                <a:latin typeface="Lucida Sans"/>
                <a:cs typeface="Lucida Sans"/>
              </a:rPr>
              <a:t> </a:t>
            </a:r>
            <a:r>
              <a:rPr sz="2350" b="1" spc="-20" dirty="0">
                <a:solidFill>
                  <a:srgbClr val="212121"/>
                </a:solidFill>
                <a:latin typeface="Lucida Sans"/>
                <a:cs typeface="Lucida Sans"/>
              </a:rPr>
              <a:t>Model</a:t>
            </a:r>
            <a:r>
              <a:rPr sz="2350" b="1" dirty="0">
                <a:solidFill>
                  <a:srgbClr val="212121"/>
                </a:solidFill>
                <a:latin typeface="Lucida Sans"/>
                <a:cs typeface="Lucida Sans"/>
              </a:rPr>
              <a:t>	</a:t>
            </a:r>
            <a:r>
              <a:rPr sz="2350" b="1" spc="-155" dirty="0">
                <a:solidFill>
                  <a:srgbClr val="212121"/>
                </a:solidFill>
                <a:latin typeface="Lucida Sans"/>
                <a:cs typeface="Lucida Sans"/>
              </a:rPr>
              <a:t>Customer</a:t>
            </a:r>
            <a:r>
              <a:rPr sz="2350" b="1" spc="-150" dirty="0">
                <a:solidFill>
                  <a:srgbClr val="212121"/>
                </a:solidFill>
                <a:latin typeface="Lucida Sans"/>
                <a:cs typeface="Lucida Sans"/>
              </a:rPr>
              <a:t> </a:t>
            </a:r>
            <a:r>
              <a:rPr sz="2350" b="1" spc="-135" dirty="0">
                <a:solidFill>
                  <a:srgbClr val="212121"/>
                </a:solidFill>
                <a:latin typeface="Lucida Sans"/>
                <a:cs typeface="Lucida Sans"/>
              </a:rPr>
              <a:t>ROI</a:t>
            </a:r>
            <a:r>
              <a:rPr sz="2350" b="1" spc="-145" dirty="0">
                <a:solidFill>
                  <a:srgbClr val="212121"/>
                </a:solidFill>
                <a:latin typeface="Lucida Sans"/>
                <a:cs typeface="Lucida Sans"/>
              </a:rPr>
              <a:t> </a:t>
            </a:r>
            <a:r>
              <a:rPr sz="2350" b="1" spc="-55" dirty="0">
                <a:solidFill>
                  <a:srgbClr val="212121"/>
                </a:solidFill>
                <a:latin typeface="Lucida Sans"/>
                <a:cs typeface="Lucida Sans"/>
              </a:rPr>
              <a:t>Impact</a:t>
            </a:r>
            <a:endParaRPr sz="235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7075" y="1745468"/>
            <a:ext cx="3376295" cy="23526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500" b="1" spc="-90" dirty="0">
                <a:solidFill>
                  <a:srgbClr val="0056B3"/>
                </a:solidFill>
                <a:latin typeface="Lucida Sans"/>
                <a:cs typeface="Lucida Sans"/>
              </a:rPr>
              <a:t>Hardware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20" dirty="0">
                <a:solidFill>
                  <a:srgbClr val="0056B3"/>
                </a:solidFill>
                <a:latin typeface="Lucida Sans"/>
                <a:cs typeface="Lucida Sans"/>
              </a:rPr>
              <a:t>Unit</a:t>
            </a:r>
            <a:endParaRPr sz="15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700" b="1" spc="-10" dirty="0">
                <a:solidFill>
                  <a:srgbClr val="212121"/>
                </a:solidFill>
                <a:latin typeface="Arial"/>
                <a:cs typeface="Arial"/>
              </a:rPr>
              <a:t>₹</a:t>
            </a:r>
            <a:r>
              <a:rPr sz="2050" b="1" spc="-10" dirty="0">
                <a:solidFill>
                  <a:srgbClr val="212121"/>
                </a:solidFill>
                <a:latin typeface="Arial"/>
                <a:cs typeface="Arial"/>
              </a:rPr>
              <a:t>7,500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dirty="0">
                <a:solidFill>
                  <a:srgbClr val="545454"/>
                </a:solidFill>
                <a:latin typeface="Lucida Sans"/>
                <a:cs typeface="Lucida Sans"/>
              </a:rPr>
              <a:t>One-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time</a:t>
            </a:r>
            <a:r>
              <a:rPr sz="1300" spc="-5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30" dirty="0">
                <a:solidFill>
                  <a:srgbClr val="545454"/>
                </a:solidFill>
                <a:latin typeface="Lucida Sans"/>
                <a:cs typeface="Lucida Sans"/>
              </a:rPr>
              <a:t>purchase</a:t>
            </a:r>
            <a:r>
              <a:rPr sz="1300" spc="-5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per</a:t>
            </a:r>
            <a:r>
              <a:rPr sz="1300" spc="-5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machine</a:t>
            </a:r>
            <a:r>
              <a:rPr sz="1300" spc="-5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monitored</a:t>
            </a: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2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2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Analytics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0" dirty="0">
                <a:solidFill>
                  <a:srgbClr val="0056B3"/>
                </a:solidFill>
                <a:latin typeface="Lucida Sans"/>
                <a:cs typeface="Lucida Sans"/>
              </a:rPr>
              <a:t>Subscription</a:t>
            </a:r>
            <a:endParaRPr sz="15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700" b="1" spc="35" dirty="0">
                <a:solidFill>
                  <a:srgbClr val="212121"/>
                </a:solidFill>
                <a:latin typeface="Arial"/>
                <a:cs typeface="Arial"/>
              </a:rPr>
              <a:t>₹</a:t>
            </a:r>
            <a:r>
              <a:rPr sz="2050" b="1" spc="35" dirty="0">
                <a:solidFill>
                  <a:srgbClr val="212121"/>
                </a:solidFill>
                <a:latin typeface="Arial"/>
                <a:cs typeface="Arial"/>
              </a:rPr>
              <a:t>500/month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spc="-40" dirty="0">
                <a:solidFill>
                  <a:srgbClr val="545454"/>
                </a:solidFill>
                <a:latin typeface="Lucida Sans"/>
                <a:cs typeface="Lucida Sans"/>
              </a:rPr>
              <a:t>Cloud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45" dirty="0">
                <a:solidFill>
                  <a:srgbClr val="545454"/>
                </a:solidFill>
                <a:latin typeface="Lucida Sans"/>
                <a:cs typeface="Lucida Sans"/>
              </a:rPr>
              <a:t>dashboard,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55" dirty="0">
                <a:solidFill>
                  <a:srgbClr val="545454"/>
                </a:solidFill>
                <a:latin typeface="Lucida Sans"/>
                <a:cs typeface="Lucida Sans"/>
              </a:rPr>
              <a:t>alerts,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Lucida Sans"/>
                <a:cs typeface="Lucida Sans"/>
              </a:rPr>
              <a:t>digital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twin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access</a:t>
            </a:r>
            <a:endParaRPr sz="13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7075" y="4539168"/>
            <a:ext cx="174815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90" dirty="0">
                <a:solidFill>
                  <a:srgbClr val="0056B3"/>
                </a:solidFill>
                <a:latin typeface="Lucida Sans"/>
                <a:cs typeface="Lucida Sans"/>
              </a:rPr>
              <a:t>Enterprise</a:t>
            </a:r>
            <a:r>
              <a:rPr sz="1500" b="1" spc="-2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40" dirty="0">
                <a:solidFill>
                  <a:srgbClr val="0056B3"/>
                </a:solidFill>
                <a:latin typeface="Lucida Sans"/>
                <a:cs typeface="Lucida Sans"/>
              </a:rPr>
              <a:t>Package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7075" y="4709999"/>
            <a:ext cx="3251200" cy="76009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050" b="1" spc="-70" dirty="0">
                <a:solidFill>
                  <a:srgbClr val="212121"/>
                </a:solidFill>
                <a:latin typeface="Arial"/>
                <a:cs typeface="Arial"/>
              </a:rPr>
              <a:t>Custom</a:t>
            </a:r>
            <a:r>
              <a:rPr sz="2050" b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050" b="1" spc="-10" dirty="0">
                <a:solidFill>
                  <a:srgbClr val="212121"/>
                </a:solidFill>
                <a:latin typeface="Arial"/>
                <a:cs typeface="Arial"/>
              </a:rPr>
              <a:t>Pricing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For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multi-</a:t>
            </a:r>
            <a:r>
              <a:rPr sz="1300" spc="-35" dirty="0">
                <a:solidFill>
                  <a:srgbClr val="545454"/>
                </a:solidFill>
                <a:latin typeface="Lucida Sans"/>
                <a:cs typeface="Lucida Sans"/>
              </a:rPr>
              <a:t>location</a:t>
            </a:r>
            <a:r>
              <a:rPr sz="1300" spc="-5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deployments</a:t>
            </a:r>
            <a:r>
              <a:rPr sz="1300" spc="-5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50" dirty="0">
                <a:solidFill>
                  <a:srgbClr val="545454"/>
                </a:solidFill>
                <a:latin typeface="Lucida Sans"/>
                <a:cs typeface="Lucida Sans"/>
              </a:rPr>
              <a:t>(10+</a:t>
            </a:r>
            <a:r>
              <a:rPr sz="1300" spc="-6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units)</a:t>
            </a:r>
            <a:endParaRPr sz="1300">
              <a:latin typeface="Lucida Sans"/>
              <a:cs typeface="Lucida San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rcRect r="379" b="17233"/>
          <a:stretch>
            <a:fillRect/>
          </a:stretch>
        </p:blipFill>
        <p:spPr>
          <a:xfrm>
            <a:off x="6376742" y="1892024"/>
            <a:ext cx="5010150" cy="197088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849772" y="4047619"/>
            <a:ext cx="762000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b="1" spc="-25" dirty="0">
                <a:solidFill>
                  <a:srgbClr val="0056B3"/>
                </a:solidFill>
                <a:latin typeface="Arial"/>
                <a:cs typeface="Arial"/>
              </a:rPr>
              <a:t>30%</a:t>
            </a:r>
            <a:endParaRPr sz="2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27881" y="4561954"/>
            <a:ext cx="100584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399"/>
              </a:lnSpc>
              <a:spcBef>
                <a:spcPts val="95"/>
              </a:spcBef>
            </a:pP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Reduction</a:t>
            </a:r>
            <a:r>
              <a:rPr sz="1300" spc="-8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Lucida Sans"/>
                <a:cs typeface="Lucida Sans"/>
              </a:rPr>
              <a:t>in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unplanned downtime</a:t>
            </a:r>
            <a:endParaRPr sz="130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10260" y="4047619"/>
            <a:ext cx="761365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b="1" spc="-25" dirty="0">
                <a:solidFill>
                  <a:srgbClr val="0056B3"/>
                </a:solidFill>
                <a:latin typeface="Arial"/>
                <a:cs typeface="Arial"/>
              </a:rPr>
              <a:t>20%</a:t>
            </a:r>
            <a:endParaRPr sz="2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23319" y="4561954"/>
            <a:ext cx="133540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2570">
              <a:lnSpc>
                <a:spcPct val="115399"/>
              </a:lnSpc>
              <a:spcBef>
                <a:spcPts val="95"/>
              </a:spcBef>
            </a:pPr>
            <a:r>
              <a:rPr sz="1300" spc="-30" dirty="0">
                <a:solidFill>
                  <a:srgbClr val="545454"/>
                </a:solidFill>
                <a:latin typeface="Lucida Sans"/>
                <a:cs typeface="Lucida Sans"/>
              </a:rPr>
              <a:t>Increase</a:t>
            </a:r>
            <a:r>
              <a:rPr sz="1300" spc="-6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in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machine</a:t>
            </a:r>
            <a:r>
              <a:rPr sz="1300" spc="-75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40" dirty="0">
                <a:solidFill>
                  <a:srgbClr val="545454"/>
                </a:solidFill>
                <a:latin typeface="Lucida Sans"/>
                <a:cs typeface="Lucida Sans"/>
              </a:rPr>
              <a:t>lifespan</a:t>
            </a:r>
            <a:endParaRPr sz="130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69123" y="4047619"/>
            <a:ext cx="564515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b="1" spc="-165" dirty="0">
                <a:solidFill>
                  <a:srgbClr val="0056B3"/>
                </a:solidFill>
                <a:latin typeface="Arial"/>
                <a:cs typeface="Arial"/>
              </a:rPr>
              <a:t>15x</a:t>
            </a:r>
            <a:endParaRPr sz="2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62090" y="4561954"/>
            <a:ext cx="117856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5399"/>
              </a:lnSpc>
              <a:spcBef>
                <a:spcPts val="95"/>
              </a:spcBef>
            </a:pP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Return</a:t>
            </a:r>
            <a:r>
              <a:rPr sz="1300" spc="-8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Lucida Sans"/>
                <a:cs typeface="Lucida Sans"/>
              </a:rPr>
              <a:t>on investment</a:t>
            </a:r>
            <a:r>
              <a:rPr sz="1300" spc="-30" dirty="0">
                <a:solidFill>
                  <a:srgbClr val="545454"/>
                </a:solidFill>
                <a:latin typeface="Lucida Sans"/>
                <a:cs typeface="Lucida Sans"/>
              </a:rPr>
              <a:t> </a:t>
            </a:r>
            <a:r>
              <a:rPr sz="1300" spc="-125" dirty="0">
                <a:solidFill>
                  <a:srgbClr val="545454"/>
                </a:solidFill>
                <a:latin typeface="Lucida Sans"/>
                <a:cs typeface="Lucida Sans"/>
              </a:rPr>
              <a:t>(1st </a:t>
            </a:r>
            <a:r>
              <a:rPr sz="1300" spc="-10" dirty="0">
                <a:solidFill>
                  <a:srgbClr val="545454"/>
                </a:solidFill>
                <a:latin typeface="Lucida Sans"/>
                <a:cs typeface="Lucida Sans"/>
              </a:rPr>
              <a:t>year)</a:t>
            </a:r>
            <a:endParaRPr sz="130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5347" y="5743603"/>
            <a:ext cx="10441305" cy="1025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95"/>
              </a:spcBef>
            </a:pPr>
            <a:r>
              <a:rPr sz="1800" b="1" spc="-60" dirty="0">
                <a:solidFill>
                  <a:srgbClr val="0056B3"/>
                </a:solidFill>
                <a:latin typeface="Lucida Sans"/>
                <a:cs typeface="Lucida Sans"/>
              </a:rPr>
              <a:t>Scalable</a:t>
            </a:r>
            <a:r>
              <a:rPr sz="1800" b="1" spc="-10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800" b="1" spc="-65" dirty="0">
                <a:solidFill>
                  <a:srgbClr val="0056B3"/>
                </a:solidFill>
                <a:latin typeface="Lucida Sans"/>
                <a:cs typeface="Lucida Sans"/>
              </a:rPr>
              <a:t>Revenue</a:t>
            </a:r>
            <a:r>
              <a:rPr sz="1800" b="1" spc="-10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800" b="1" spc="-75" dirty="0">
                <a:solidFill>
                  <a:srgbClr val="0056B3"/>
                </a:solidFill>
                <a:latin typeface="Lucida Sans"/>
                <a:cs typeface="Lucida Sans"/>
              </a:rPr>
              <a:t>Model:</a:t>
            </a:r>
            <a:r>
              <a:rPr sz="1800" b="1" spc="-13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Our</a:t>
            </a:r>
            <a:r>
              <a:rPr sz="1800" spc="-5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recurring</a:t>
            </a:r>
            <a:r>
              <a:rPr sz="1800" spc="-5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subscription</a:t>
            </a:r>
            <a:r>
              <a:rPr sz="1800" spc="-5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65" dirty="0">
                <a:solidFill>
                  <a:srgbClr val="444444"/>
                </a:solidFill>
                <a:latin typeface="Century Gothic"/>
                <a:cs typeface="Century Gothic"/>
              </a:rPr>
              <a:t>model</a:t>
            </a:r>
            <a:r>
              <a:rPr sz="1800" spc="-5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5" dirty="0">
                <a:solidFill>
                  <a:srgbClr val="444444"/>
                </a:solidFill>
                <a:latin typeface="Century Gothic"/>
                <a:cs typeface="Century Gothic"/>
              </a:rPr>
              <a:t>creates</a:t>
            </a:r>
            <a:r>
              <a:rPr sz="1800" spc="-5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444444"/>
                </a:solidFill>
                <a:latin typeface="Century Gothic"/>
                <a:cs typeface="Century Gothic"/>
              </a:rPr>
              <a:t>long-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term</a:t>
            </a:r>
            <a:r>
              <a:rPr sz="1800" spc="-5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5" dirty="0">
                <a:solidFill>
                  <a:srgbClr val="444444"/>
                </a:solidFill>
                <a:latin typeface="Century Gothic"/>
                <a:cs typeface="Century Gothic"/>
              </a:rPr>
              <a:t>value</a:t>
            </a:r>
            <a:r>
              <a:rPr sz="1800" spc="-5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while </a:t>
            </a:r>
            <a:r>
              <a:rPr sz="1800" spc="-25" dirty="0">
                <a:solidFill>
                  <a:srgbClr val="444444"/>
                </a:solidFill>
                <a:latin typeface="Century Gothic"/>
                <a:cs typeface="Century Gothic"/>
              </a:rPr>
              <a:t>remaining</a:t>
            </a:r>
            <a:r>
              <a:rPr sz="1800" spc="-3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0" dirty="0">
                <a:solidFill>
                  <a:srgbClr val="444444"/>
                </a:solidFill>
                <a:latin typeface="Century Gothic"/>
                <a:cs typeface="Century Gothic"/>
              </a:rPr>
              <a:t>affordable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for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MSMEs.</a:t>
            </a:r>
            <a:r>
              <a:rPr sz="1800" spc="-3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With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India's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275" dirty="0">
                <a:solidFill>
                  <a:srgbClr val="444444"/>
                </a:solidFill>
                <a:latin typeface="Century Gothic"/>
                <a:cs typeface="Century Gothic"/>
              </a:rPr>
              <a:t>11-</a:t>
            </a:r>
            <a:r>
              <a:rPr sz="1800" spc="-240" dirty="0">
                <a:solidFill>
                  <a:srgbClr val="444444"/>
                </a:solidFill>
                <a:latin typeface="Century Gothic"/>
                <a:cs typeface="Century Gothic"/>
              </a:rPr>
              <a:t>15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444444"/>
                </a:solidFill>
                <a:latin typeface="Century Gothic"/>
                <a:cs typeface="Century Gothic"/>
              </a:rPr>
              <a:t>lakh</a:t>
            </a:r>
            <a:r>
              <a:rPr sz="1800" spc="-3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manufacturing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MSMEs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80" dirty="0">
                <a:solidFill>
                  <a:srgbClr val="444444"/>
                </a:solidFill>
                <a:latin typeface="Century Gothic"/>
                <a:cs typeface="Century Gothic"/>
              </a:rPr>
              <a:t>as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our</a:t>
            </a:r>
            <a:r>
              <a:rPr sz="1800" spc="-3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70" dirty="0">
                <a:solidFill>
                  <a:srgbClr val="444444"/>
                </a:solidFill>
                <a:latin typeface="Century Gothic"/>
                <a:cs typeface="Century Gothic"/>
              </a:rPr>
              <a:t>target</a:t>
            </a:r>
            <a:r>
              <a:rPr sz="1800" spc="-3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market, </a:t>
            </a:r>
            <a:r>
              <a:rPr sz="1800" spc="-50" dirty="0">
                <a:solidFill>
                  <a:srgbClr val="444444"/>
                </a:solidFill>
                <a:latin typeface="Century Gothic"/>
                <a:cs typeface="Century Gothic"/>
              </a:rPr>
              <a:t>capturing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60" dirty="0">
                <a:solidFill>
                  <a:srgbClr val="444444"/>
                </a:solidFill>
                <a:latin typeface="Century Gothic"/>
                <a:cs typeface="Century Gothic"/>
              </a:rPr>
              <a:t>just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225" dirty="0">
                <a:solidFill>
                  <a:srgbClr val="444444"/>
                </a:solidFill>
                <a:latin typeface="Century Gothic"/>
                <a:cs typeface="Century Gothic"/>
              </a:rPr>
              <a:t>1%</a:t>
            </a:r>
            <a:r>
              <a:rPr sz="1800" spc="-3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55" dirty="0">
                <a:solidFill>
                  <a:srgbClr val="444444"/>
                </a:solidFill>
                <a:latin typeface="Century Gothic"/>
                <a:cs typeface="Century Gothic"/>
              </a:rPr>
              <a:t>would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45" dirty="0">
                <a:solidFill>
                  <a:srgbClr val="444444"/>
                </a:solidFill>
                <a:latin typeface="Century Gothic"/>
                <a:cs typeface="Century Gothic"/>
              </a:rPr>
              <a:t>yield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444444"/>
                </a:solidFill>
                <a:latin typeface="Arial"/>
                <a:cs typeface="Arial"/>
              </a:rPr>
              <a:t>₹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4.5+</a:t>
            </a:r>
            <a:r>
              <a:rPr sz="1800" spc="-3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85" dirty="0">
                <a:solidFill>
                  <a:srgbClr val="444444"/>
                </a:solidFill>
                <a:latin typeface="Century Gothic"/>
                <a:cs typeface="Century Gothic"/>
              </a:rPr>
              <a:t>crore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44444"/>
                </a:solidFill>
                <a:latin typeface="Century Gothic"/>
                <a:cs typeface="Century Gothic"/>
              </a:rPr>
              <a:t>in</a:t>
            </a:r>
            <a:r>
              <a:rPr sz="1800" spc="-35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75" dirty="0">
                <a:solidFill>
                  <a:srgbClr val="444444"/>
                </a:solidFill>
                <a:latin typeface="Century Gothic"/>
                <a:cs typeface="Century Gothic"/>
              </a:rPr>
              <a:t>annual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recurring</a:t>
            </a:r>
            <a:r>
              <a:rPr sz="1800" spc="-40" dirty="0">
                <a:solidFill>
                  <a:srgbClr val="444444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entury Gothic"/>
                <a:cs typeface="Century Gothic"/>
              </a:rPr>
              <a:t>revenue.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05" dirty="0"/>
              <a:t>Development</a:t>
            </a:r>
            <a:r>
              <a:rPr spc="-295" dirty="0"/>
              <a:t> </a:t>
            </a:r>
            <a:r>
              <a:rPr spc="-345" dirty="0"/>
              <a:t>Roadmap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52499" y="3381374"/>
            <a:ext cx="2409825" cy="3067050"/>
            <a:chOff x="952499" y="3381374"/>
            <a:chExt cx="2409825" cy="3067050"/>
          </a:xfrm>
        </p:grpSpPr>
        <p:sp>
          <p:nvSpPr>
            <p:cNvPr id="4" name="object 4"/>
            <p:cNvSpPr/>
            <p:nvPr/>
          </p:nvSpPr>
          <p:spPr>
            <a:xfrm>
              <a:off x="971549" y="3381374"/>
              <a:ext cx="2390775" cy="3067050"/>
            </a:xfrm>
            <a:custGeom>
              <a:avLst/>
              <a:gdLst/>
              <a:ahLst/>
              <a:cxnLst/>
              <a:rect l="l" t="t" r="r" b="b"/>
              <a:pathLst>
                <a:path w="2390775" h="3067050">
                  <a:moveTo>
                    <a:pt x="2319578" y="3067049"/>
                  </a:moveTo>
                  <a:lnTo>
                    <a:pt x="0" y="3067049"/>
                  </a:lnTo>
                  <a:lnTo>
                    <a:pt x="0" y="0"/>
                  </a:lnTo>
                  <a:lnTo>
                    <a:pt x="2319578" y="0"/>
                  </a:lnTo>
                  <a:lnTo>
                    <a:pt x="2324533" y="488"/>
                  </a:lnTo>
                  <a:lnTo>
                    <a:pt x="2361069" y="15621"/>
                  </a:lnTo>
                  <a:lnTo>
                    <a:pt x="2386888" y="51661"/>
                  </a:lnTo>
                  <a:lnTo>
                    <a:pt x="2390774" y="71196"/>
                  </a:lnTo>
                  <a:lnTo>
                    <a:pt x="2390774" y="2995852"/>
                  </a:lnTo>
                  <a:lnTo>
                    <a:pt x="2375152" y="3037343"/>
                  </a:lnTo>
                  <a:lnTo>
                    <a:pt x="2339112" y="3063163"/>
                  </a:lnTo>
                  <a:lnTo>
                    <a:pt x="2319578" y="3067049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52499" y="3381374"/>
              <a:ext cx="38100" cy="3067050"/>
            </a:xfrm>
            <a:custGeom>
              <a:avLst/>
              <a:gdLst/>
              <a:ahLst/>
              <a:cxnLst/>
              <a:rect l="l" t="t" r="r" b="b"/>
              <a:pathLst>
                <a:path w="38100" h="3067050">
                  <a:moveTo>
                    <a:pt x="38099" y="3067049"/>
                  </a:moveTo>
                  <a:lnTo>
                    <a:pt x="0" y="3067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0670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0564" y="3619529"/>
              <a:ext cx="229100" cy="22906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68399" y="4030802"/>
            <a:ext cx="163068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60" dirty="0">
                <a:solidFill>
                  <a:srgbClr val="0056B3"/>
                </a:solidFill>
                <a:latin typeface="Lucida Sans"/>
                <a:cs typeface="Lucida Sans"/>
              </a:rPr>
              <a:t>Phase</a:t>
            </a:r>
            <a:r>
              <a:rPr sz="15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254" dirty="0">
                <a:solidFill>
                  <a:srgbClr val="0056B3"/>
                </a:solidFill>
                <a:latin typeface="Lucida Sans"/>
                <a:cs typeface="Lucida Sans"/>
              </a:rPr>
              <a:t>1:</a:t>
            </a:r>
            <a:r>
              <a:rPr sz="15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50" dirty="0">
                <a:solidFill>
                  <a:srgbClr val="0056B3"/>
                </a:solidFill>
                <a:latin typeface="Lucida Sans"/>
                <a:cs typeface="Lucida Sans"/>
              </a:rPr>
              <a:t>MVP</a:t>
            </a:r>
            <a:r>
              <a:rPr sz="15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40" dirty="0">
                <a:solidFill>
                  <a:srgbClr val="0056B3"/>
                </a:solidFill>
                <a:latin typeface="Lucida Sans"/>
                <a:cs typeface="Lucida Sans"/>
              </a:rPr>
              <a:t>Pilot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8399" y="4383379"/>
            <a:ext cx="1675764" cy="13970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95885" indent="-83185">
              <a:lnSpc>
                <a:spcPct val="100000"/>
              </a:lnSpc>
              <a:spcBef>
                <a:spcPts val="335"/>
              </a:spcBef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Local</a:t>
            </a:r>
            <a:r>
              <a:rPr sz="1300" spc="-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545454"/>
                </a:solidFill>
                <a:latin typeface="Arial"/>
                <a:cs typeface="Arial"/>
              </a:rPr>
              <a:t>MSME</a:t>
            </a:r>
            <a:r>
              <a:rPr sz="1300" spc="-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40" dirty="0">
                <a:solidFill>
                  <a:srgbClr val="545454"/>
                </a:solidFill>
                <a:latin typeface="Arial"/>
                <a:cs typeface="Arial"/>
              </a:rPr>
              <a:t>testing</a:t>
            </a:r>
            <a:endParaRPr sz="1300">
              <a:latin typeface="Arial"/>
              <a:cs typeface="Arial"/>
            </a:endParaRPr>
          </a:p>
          <a:p>
            <a:pPr marL="95885" indent="-83185">
              <a:lnSpc>
                <a:spcPct val="100000"/>
              </a:lnSpc>
              <a:spcBef>
                <a:spcPts val="240"/>
              </a:spcBef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Basic</a:t>
            </a:r>
            <a:r>
              <a:rPr sz="1300" spc="-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545454"/>
                </a:solidFill>
                <a:latin typeface="Arial"/>
                <a:cs typeface="Arial"/>
              </a:rPr>
              <a:t>IoT</a:t>
            </a:r>
            <a:r>
              <a:rPr sz="1300" spc="-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60" dirty="0">
                <a:solidFill>
                  <a:srgbClr val="545454"/>
                </a:solidFill>
                <a:latin typeface="Arial"/>
                <a:cs typeface="Arial"/>
              </a:rPr>
              <a:t>monitoring</a:t>
            </a:r>
            <a:endParaRPr sz="1300">
              <a:latin typeface="Arial"/>
              <a:cs typeface="Arial"/>
            </a:endParaRPr>
          </a:p>
          <a:p>
            <a:pPr marL="12700" marR="168910" indent="83185">
              <a:lnSpc>
                <a:spcPct val="115399"/>
              </a:lnSpc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Initial</a:t>
            </a:r>
            <a:r>
              <a:rPr sz="1300" spc="114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ML</a:t>
            </a:r>
            <a:r>
              <a:rPr sz="1300" spc="114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anomaly </a:t>
            </a:r>
            <a:r>
              <a:rPr sz="1300" spc="40" dirty="0">
                <a:solidFill>
                  <a:srgbClr val="545454"/>
                </a:solidFill>
                <a:latin typeface="Arial"/>
                <a:cs typeface="Arial"/>
              </a:rPr>
              <a:t>detection</a:t>
            </a:r>
            <a:endParaRPr sz="1300">
              <a:latin typeface="Arial"/>
              <a:cs typeface="Arial"/>
            </a:endParaRPr>
          </a:p>
          <a:p>
            <a:pPr marL="12700" marR="52705" indent="83185">
              <a:lnSpc>
                <a:spcPct val="115399"/>
              </a:lnSpc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Prototype</a:t>
            </a:r>
            <a:r>
              <a:rPr sz="1300" spc="2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hardware </a:t>
            </a:r>
            <a:r>
              <a:rPr sz="1300" spc="50" dirty="0">
                <a:solidFill>
                  <a:srgbClr val="545454"/>
                </a:solidFill>
                <a:latin typeface="Arial"/>
                <a:cs typeface="Arial"/>
              </a:rPr>
              <a:t>deployment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38549" y="3381374"/>
            <a:ext cx="2409825" cy="3067050"/>
            <a:chOff x="3638549" y="3381374"/>
            <a:chExt cx="2409825" cy="3067050"/>
          </a:xfrm>
        </p:grpSpPr>
        <p:sp>
          <p:nvSpPr>
            <p:cNvPr id="10" name="object 10"/>
            <p:cNvSpPr/>
            <p:nvPr/>
          </p:nvSpPr>
          <p:spPr>
            <a:xfrm>
              <a:off x="3657599" y="3381374"/>
              <a:ext cx="2390775" cy="3067050"/>
            </a:xfrm>
            <a:custGeom>
              <a:avLst/>
              <a:gdLst/>
              <a:ahLst/>
              <a:cxnLst/>
              <a:rect l="l" t="t" r="r" b="b"/>
              <a:pathLst>
                <a:path w="2390775" h="3067050">
                  <a:moveTo>
                    <a:pt x="2319578" y="3067049"/>
                  </a:moveTo>
                  <a:lnTo>
                    <a:pt x="0" y="3067049"/>
                  </a:lnTo>
                  <a:lnTo>
                    <a:pt x="0" y="0"/>
                  </a:lnTo>
                  <a:lnTo>
                    <a:pt x="2319578" y="0"/>
                  </a:lnTo>
                  <a:lnTo>
                    <a:pt x="2324532" y="488"/>
                  </a:lnTo>
                  <a:lnTo>
                    <a:pt x="2361069" y="15621"/>
                  </a:lnTo>
                  <a:lnTo>
                    <a:pt x="2386887" y="51661"/>
                  </a:lnTo>
                  <a:lnTo>
                    <a:pt x="2390774" y="71196"/>
                  </a:lnTo>
                  <a:lnTo>
                    <a:pt x="2390774" y="2995852"/>
                  </a:lnTo>
                  <a:lnTo>
                    <a:pt x="2375152" y="3037343"/>
                  </a:lnTo>
                  <a:lnTo>
                    <a:pt x="2339112" y="3063163"/>
                  </a:lnTo>
                  <a:lnTo>
                    <a:pt x="2319578" y="3067049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38549" y="3381374"/>
              <a:ext cx="38100" cy="3067050"/>
            </a:xfrm>
            <a:custGeom>
              <a:avLst/>
              <a:gdLst/>
              <a:ahLst/>
              <a:cxnLst/>
              <a:rect l="l" t="t" r="r" b="b"/>
              <a:pathLst>
                <a:path w="38100" h="3067050">
                  <a:moveTo>
                    <a:pt x="38099" y="3067049"/>
                  </a:moveTo>
                  <a:lnTo>
                    <a:pt x="0" y="3067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0670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1437" y="3633787"/>
              <a:ext cx="228600" cy="2000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857575" y="4007774"/>
            <a:ext cx="1270635" cy="539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0"/>
              </a:spcBef>
            </a:pPr>
            <a:r>
              <a:rPr sz="1500" b="1" spc="-60" dirty="0">
                <a:solidFill>
                  <a:srgbClr val="0056B3"/>
                </a:solidFill>
                <a:latin typeface="Lucida Sans"/>
                <a:cs typeface="Lucida Sans"/>
              </a:rPr>
              <a:t>Phase</a:t>
            </a:r>
            <a:r>
              <a:rPr sz="15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20" dirty="0">
                <a:solidFill>
                  <a:srgbClr val="0056B3"/>
                </a:solidFill>
                <a:latin typeface="Lucida Sans"/>
                <a:cs typeface="Lucida Sans"/>
              </a:rPr>
              <a:t>2:</a:t>
            </a:r>
            <a:r>
              <a:rPr sz="1500" b="1" spc="-9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55" dirty="0">
                <a:solidFill>
                  <a:srgbClr val="0056B3"/>
                </a:solidFill>
                <a:latin typeface="Lucida Sans"/>
                <a:cs typeface="Lucida Sans"/>
              </a:rPr>
              <a:t>Scale </a:t>
            </a:r>
            <a:r>
              <a:rPr sz="1500" b="1" spc="-10" dirty="0">
                <a:solidFill>
                  <a:srgbClr val="0056B3"/>
                </a:solidFill>
                <a:latin typeface="Lucida Sans"/>
                <a:cs typeface="Lucida Sans"/>
              </a:rPr>
              <a:t>Production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57575" y="4640554"/>
            <a:ext cx="2011680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35965" indent="83185">
              <a:lnSpc>
                <a:spcPct val="115399"/>
              </a:lnSpc>
              <a:spcBef>
                <a:spcPts val="95"/>
              </a:spcBef>
              <a:buChar char="•"/>
              <a:tabLst>
                <a:tab pos="95885" algn="l"/>
              </a:tabLst>
            </a:pPr>
            <a:r>
              <a:rPr sz="1300" spc="-20" dirty="0">
                <a:solidFill>
                  <a:srgbClr val="545454"/>
                </a:solidFill>
                <a:latin typeface="Arial"/>
                <a:cs typeface="Arial"/>
              </a:rPr>
              <a:t>Scale</a:t>
            </a:r>
            <a:r>
              <a:rPr sz="1300" spc="-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hardware </a:t>
            </a:r>
            <a:r>
              <a:rPr sz="1300" spc="55" dirty="0">
                <a:solidFill>
                  <a:srgbClr val="545454"/>
                </a:solidFill>
                <a:latin typeface="Arial"/>
                <a:cs typeface="Arial"/>
              </a:rPr>
              <a:t>manufacturing</a:t>
            </a:r>
            <a:endParaRPr sz="1300">
              <a:latin typeface="Arial"/>
              <a:cs typeface="Arial"/>
            </a:endParaRPr>
          </a:p>
          <a:p>
            <a:pPr marL="95885" indent="-83185">
              <a:lnSpc>
                <a:spcPct val="100000"/>
              </a:lnSpc>
              <a:spcBef>
                <a:spcPts val="240"/>
              </a:spcBef>
              <a:buChar char="•"/>
              <a:tabLst>
                <a:tab pos="95885" algn="l"/>
              </a:tabLst>
            </a:pPr>
            <a:r>
              <a:rPr sz="1300" spc="55" dirty="0">
                <a:solidFill>
                  <a:srgbClr val="545454"/>
                </a:solidFill>
                <a:latin typeface="Arial"/>
                <a:cs typeface="Arial"/>
              </a:rPr>
              <a:t>Add</a:t>
            </a:r>
            <a:r>
              <a:rPr sz="1300" spc="-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545454"/>
                </a:solidFill>
                <a:latin typeface="Arial"/>
                <a:cs typeface="Arial"/>
              </a:rPr>
              <a:t>digital</a:t>
            </a:r>
            <a:r>
              <a:rPr sz="1300" spc="-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85" dirty="0">
                <a:solidFill>
                  <a:srgbClr val="545454"/>
                </a:solidFill>
                <a:latin typeface="Arial"/>
                <a:cs typeface="Arial"/>
              </a:rPr>
              <a:t>twin</a:t>
            </a:r>
            <a:r>
              <a:rPr sz="1300" spc="-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features</a:t>
            </a:r>
            <a:endParaRPr sz="1300">
              <a:latin typeface="Arial"/>
              <a:cs typeface="Arial"/>
            </a:endParaRPr>
          </a:p>
          <a:p>
            <a:pPr marL="95885" indent="-83185">
              <a:lnSpc>
                <a:spcPct val="100000"/>
              </a:lnSpc>
              <a:spcBef>
                <a:spcPts val="240"/>
              </a:spcBef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Improve</a:t>
            </a:r>
            <a:r>
              <a:rPr sz="1300" spc="114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ML</a:t>
            </a:r>
            <a:r>
              <a:rPr sz="1300" spc="114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40" dirty="0">
                <a:solidFill>
                  <a:srgbClr val="545454"/>
                </a:solidFill>
                <a:latin typeface="Arial"/>
                <a:cs typeface="Arial"/>
              </a:rPr>
              <a:t>algorithms</a:t>
            </a:r>
            <a:endParaRPr sz="1300">
              <a:latin typeface="Arial"/>
              <a:cs typeface="Arial"/>
            </a:endParaRPr>
          </a:p>
          <a:p>
            <a:pPr marL="95885" indent="-83185">
              <a:lnSpc>
                <a:spcPct val="100000"/>
              </a:lnSpc>
              <a:spcBef>
                <a:spcPts val="240"/>
              </a:spcBef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Launch</a:t>
            </a:r>
            <a:r>
              <a:rPr sz="1300" spc="8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545454"/>
                </a:solidFill>
                <a:latin typeface="Arial"/>
                <a:cs typeface="Arial"/>
              </a:rPr>
              <a:t>cloud</a:t>
            </a:r>
            <a:r>
              <a:rPr sz="1300" spc="8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dashboard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4124" y="3381374"/>
            <a:ext cx="2409825" cy="3067050"/>
            <a:chOff x="6334124" y="3381374"/>
            <a:chExt cx="2409825" cy="3067050"/>
          </a:xfrm>
        </p:grpSpPr>
        <p:sp>
          <p:nvSpPr>
            <p:cNvPr id="16" name="object 16"/>
            <p:cNvSpPr/>
            <p:nvPr/>
          </p:nvSpPr>
          <p:spPr>
            <a:xfrm>
              <a:off x="6353174" y="3381374"/>
              <a:ext cx="2390775" cy="3067050"/>
            </a:xfrm>
            <a:custGeom>
              <a:avLst/>
              <a:gdLst/>
              <a:ahLst/>
              <a:cxnLst/>
              <a:rect l="l" t="t" r="r" b="b"/>
              <a:pathLst>
                <a:path w="2390775" h="3067050">
                  <a:moveTo>
                    <a:pt x="2319577" y="3067049"/>
                  </a:moveTo>
                  <a:lnTo>
                    <a:pt x="0" y="3067049"/>
                  </a:lnTo>
                  <a:lnTo>
                    <a:pt x="0" y="0"/>
                  </a:lnTo>
                  <a:lnTo>
                    <a:pt x="2319577" y="0"/>
                  </a:lnTo>
                  <a:lnTo>
                    <a:pt x="2324532" y="488"/>
                  </a:lnTo>
                  <a:lnTo>
                    <a:pt x="2361068" y="15621"/>
                  </a:lnTo>
                  <a:lnTo>
                    <a:pt x="2386887" y="51661"/>
                  </a:lnTo>
                  <a:lnTo>
                    <a:pt x="2390774" y="71196"/>
                  </a:lnTo>
                  <a:lnTo>
                    <a:pt x="2390774" y="2995852"/>
                  </a:lnTo>
                  <a:lnTo>
                    <a:pt x="2375152" y="3037343"/>
                  </a:lnTo>
                  <a:lnTo>
                    <a:pt x="2339112" y="3063163"/>
                  </a:lnTo>
                  <a:lnTo>
                    <a:pt x="2319577" y="3067049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34124" y="3381374"/>
              <a:ext cx="38100" cy="3067050"/>
            </a:xfrm>
            <a:custGeom>
              <a:avLst/>
              <a:gdLst/>
              <a:ahLst/>
              <a:cxnLst/>
              <a:rect l="l" t="t" r="r" b="b"/>
              <a:pathLst>
                <a:path w="38100" h="3067050">
                  <a:moveTo>
                    <a:pt x="38099" y="3067049"/>
                  </a:moveTo>
                  <a:lnTo>
                    <a:pt x="0" y="3067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0670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2724" y="3619499"/>
              <a:ext cx="228600" cy="22855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546750" y="4007774"/>
            <a:ext cx="1470025" cy="539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0"/>
              </a:spcBef>
            </a:pPr>
            <a:r>
              <a:rPr sz="1500" b="1" spc="-60" dirty="0">
                <a:solidFill>
                  <a:srgbClr val="0056B3"/>
                </a:solidFill>
                <a:latin typeface="Lucida Sans"/>
                <a:cs typeface="Lucida Sans"/>
              </a:rPr>
              <a:t>Phase</a:t>
            </a:r>
            <a:r>
              <a:rPr sz="1500" b="1" spc="-9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120" dirty="0">
                <a:solidFill>
                  <a:srgbClr val="0056B3"/>
                </a:solidFill>
                <a:latin typeface="Lucida Sans"/>
                <a:cs typeface="Lucida Sans"/>
              </a:rPr>
              <a:t>3:</a:t>
            </a:r>
            <a:r>
              <a:rPr sz="1500" b="1" spc="-9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Expand </a:t>
            </a:r>
            <a:r>
              <a:rPr sz="1500" b="1" spc="-10" dirty="0">
                <a:solidFill>
                  <a:srgbClr val="0056B3"/>
                </a:solidFill>
                <a:latin typeface="Lucida Sans"/>
                <a:cs typeface="Lucida Sans"/>
              </a:rPr>
              <a:t>Reach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46750" y="4640554"/>
            <a:ext cx="1756410" cy="13970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95885" indent="-83185">
              <a:lnSpc>
                <a:spcPct val="100000"/>
              </a:lnSpc>
              <a:spcBef>
                <a:spcPts val="335"/>
              </a:spcBef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Expand</a:t>
            </a:r>
            <a:r>
              <a:rPr sz="1300" spc="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60" dirty="0">
                <a:solidFill>
                  <a:srgbClr val="545454"/>
                </a:solidFill>
                <a:latin typeface="Arial"/>
                <a:cs typeface="Arial"/>
              </a:rPr>
              <a:t>to</a:t>
            </a:r>
            <a:r>
              <a:rPr sz="1300" spc="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545454"/>
                </a:solidFill>
                <a:latin typeface="Arial"/>
                <a:cs typeface="Arial"/>
              </a:rPr>
              <a:t>5+</a:t>
            </a:r>
            <a:r>
              <a:rPr sz="1300" spc="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states</a:t>
            </a:r>
            <a:endParaRPr sz="1300">
              <a:latin typeface="Arial"/>
              <a:cs typeface="Arial"/>
            </a:endParaRPr>
          </a:p>
          <a:p>
            <a:pPr marL="12700" marR="5080" indent="83185">
              <a:lnSpc>
                <a:spcPct val="115399"/>
              </a:lnSpc>
              <a:buChar char="•"/>
              <a:tabLst>
                <a:tab pos="95885" algn="l"/>
              </a:tabLst>
            </a:pP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Government/industry partnerships</a:t>
            </a:r>
            <a:endParaRPr sz="1300">
              <a:latin typeface="Arial"/>
              <a:cs typeface="Arial"/>
            </a:endParaRPr>
          </a:p>
          <a:p>
            <a:pPr marL="95885" indent="-83185">
              <a:lnSpc>
                <a:spcPct val="100000"/>
              </a:lnSpc>
              <a:spcBef>
                <a:spcPts val="240"/>
              </a:spcBef>
              <a:buChar char="•"/>
              <a:tabLst>
                <a:tab pos="95885" algn="l"/>
              </a:tabLst>
            </a:pPr>
            <a:r>
              <a:rPr sz="1300" spc="55" dirty="0">
                <a:solidFill>
                  <a:srgbClr val="545454"/>
                </a:solidFill>
                <a:latin typeface="Arial"/>
                <a:cs typeface="Arial"/>
              </a:rPr>
              <a:t>Multilingual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50" dirty="0">
                <a:solidFill>
                  <a:srgbClr val="545454"/>
                </a:solidFill>
                <a:latin typeface="Arial"/>
                <a:cs typeface="Arial"/>
              </a:rPr>
              <a:t>support</a:t>
            </a:r>
            <a:endParaRPr sz="1300">
              <a:latin typeface="Arial"/>
              <a:cs typeface="Arial"/>
            </a:endParaRPr>
          </a:p>
          <a:p>
            <a:pPr marL="12700" marR="566420" indent="83185">
              <a:lnSpc>
                <a:spcPct val="115399"/>
              </a:lnSpc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Enhanced</a:t>
            </a:r>
            <a:r>
              <a:rPr sz="1300" spc="2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Arial"/>
                <a:cs typeface="Arial"/>
              </a:rPr>
              <a:t>API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integrations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020174" y="3381374"/>
            <a:ext cx="2409825" cy="3067050"/>
            <a:chOff x="9020174" y="3381374"/>
            <a:chExt cx="2409825" cy="3067050"/>
          </a:xfrm>
        </p:grpSpPr>
        <p:sp>
          <p:nvSpPr>
            <p:cNvPr id="22" name="object 22"/>
            <p:cNvSpPr/>
            <p:nvPr/>
          </p:nvSpPr>
          <p:spPr>
            <a:xfrm>
              <a:off x="9039224" y="3381374"/>
              <a:ext cx="2390775" cy="3067050"/>
            </a:xfrm>
            <a:custGeom>
              <a:avLst/>
              <a:gdLst/>
              <a:ahLst/>
              <a:cxnLst/>
              <a:rect l="l" t="t" r="r" b="b"/>
              <a:pathLst>
                <a:path w="2390775" h="3067050">
                  <a:moveTo>
                    <a:pt x="2319578" y="3067049"/>
                  </a:moveTo>
                  <a:lnTo>
                    <a:pt x="0" y="3067049"/>
                  </a:lnTo>
                  <a:lnTo>
                    <a:pt x="0" y="0"/>
                  </a:lnTo>
                  <a:lnTo>
                    <a:pt x="2319578" y="0"/>
                  </a:lnTo>
                  <a:lnTo>
                    <a:pt x="2324532" y="488"/>
                  </a:lnTo>
                  <a:lnTo>
                    <a:pt x="2361068" y="15621"/>
                  </a:lnTo>
                  <a:lnTo>
                    <a:pt x="2386887" y="51661"/>
                  </a:lnTo>
                  <a:lnTo>
                    <a:pt x="2390773" y="71196"/>
                  </a:lnTo>
                  <a:lnTo>
                    <a:pt x="2390773" y="2995852"/>
                  </a:lnTo>
                  <a:lnTo>
                    <a:pt x="2375151" y="3037343"/>
                  </a:lnTo>
                  <a:lnTo>
                    <a:pt x="2339111" y="3063163"/>
                  </a:lnTo>
                  <a:lnTo>
                    <a:pt x="2319578" y="3067049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20174" y="3381374"/>
              <a:ext cx="38100" cy="3067050"/>
            </a:xfrm>
            <a:custGeom>
              <a:avLst/>
              <a:gdLst/>
              <a:ahLst/>
              <a:cxnLst/>
              <a:rect l="l" t="t" r="r" b="b"/>
              <a:pathLst>
                <a:path w="38100" h="3067050">
                  <a:moveTo>
                    <a:pt x="38099" y="3067049"/>
                  </a:moveTo>
                  <a:lnTo>
                    <a:pt x="0" y="3067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0670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48774" y="3633787"/>
              <a:ext cx="228600" cy="2000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235926" y="4030802"/>
            <a:ext cx="157289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Long-</a:t>
            </a:r>
            <a:r>
              <a:rPr sz="1500" b="1" spc="-135" dirty="0">
                <a:solidFill>
                  <a:srgbClr val="0056B3"/>
                </a:solidFill>
                <a:latin typeface="Lucida Sans"/>
                <a:cs typeface="Lucida Sans"/>
              </a:rPr>
              <a:t>Term</a:t>
            </a:r>
            <a:r>
              <a:rPr sz="1500" b="1" spc="-5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Vision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35926" y="4383379"/>
            <a:ext cx="158432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3185">
              <a:lnSpc>
                <a:spcPct val="115399"/>
              </a:lnSpc>
              <a:spcBef>
                <a:spcPts val="95"/>
              </a:spcBef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Advanced</a:t>
            </a:r>
            <a:r>
              <a:rPr sz="1300" spc="17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analytics </a:t>
            </a:r>
            <a:r>
              <a:rPr sz="1300" spc="40" dirty="0">
                <a:solidFill>
                  <a:srgbClr val="545454"/>
                </a:solidFill>
                <a:latin typeface="Arial"/>
                <a:cs typeface="Arial"/>
              </a:rPr>
              <a:t>integration</a:t>
            </a:r>
            <a:endParaRPr sz="1300">
              <a:latin typeface="Arial"/>
              <a:cs typeface="Arial"/>
            </a:endParaRPr>
          </a:p>
          <a:p>
            <a:pPr marL="12700" marR="194945" indent="83185">
              <a:lnSpc>
                <a:spcPct val="115399"/>
              </a:lnSpc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Expand</a:t>
            </a:r>
            <a:r>
              <a:rPr sz="1300" spc="1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40" dirty="0">
                <a:solidFill>
                  <a:srgbClr val="545454"/>
                </a:solidFill>
                <a:latin typeface="Arial"/>
                <a:cs typeface="Arial"/>
              </a:rPr>
              <a:t>platform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ecosystem</a:t>
            </a:r>
            <a:endParaRPr sz="1300">
              <a:latin typeface="Arial"/>
              <a:cs typeface="Arial"/>
            </a:endParaRPr>
          </a:p>
          <a:p>
            <a:pPr marL="12700" marR="215900" indent="83185">
              <a:lnSpc>
                <a:spcPct val="115399"/>
              </a:lnSpc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Industry-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specific solutions</a:t>
            </a:r>
            <a:endParaRPr sz="1300">
              <a:latin typeface="Arial"/>
              <a:cs typeface="Arial"/>
            </a:endParaRPr>
          </a:p>
          <a:p>
            <a:pPr marL="12700" marR="397510" indent="83185">
              <a:lnSpc>
                <a:spcPct val="115399"/>
              </a:lnSpc>
              <a:buChar char="•"/>
              <a:tabLst>
                <a:tab pos="95885" algn="l"/>
              </a:tabLst>
            </a:pPr>
            <a:r>
              <a:rPr sz="1300" dirty="0">
                <a:solidFill>
                  <a:srgbClr val="545454"/>
                </a:solidFill>
                <a:latin typeface="Arial"/>
                <a:cs typeface="Arial"/>
              </a:rPr>
              <a:t>Global</a:t>
            </a:r>
            <a:r>
              <a:rPr sz="1300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Arial"/>
                <a:cs typeface="Arial"/>
              </a:rPr>
              <a:t>market exploration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952499" y="1552574"/>
            <a:ext cx="10477500" cy="476250"/>
            <a:chOff x="952499" y="1552574"/>
            <a:chExt cx="10477500" cy="476250"/>
          </a:xfrm>
        </p:grpSpPr>
        <p:sp>
          <p:nvSpPr>
            <p:cNvPr id="29" name="object 29"/>
            <p:cNvSpPr/>
            <p:nvPr/>
          </p:nvSpPr>
          <p:spPr>
            <a:xfrm>
              <a:off x="952499" y="1790699"/>
              <a:ext cx="10477500" cy="38100"/>
            </a:xfrm>
            <a:custGeom>
              <a:avLst/>
              <a:gdLst/>
              <a:ahLst/>
              <a:cxnLst/>
              <a:rect l="l" t="t" r="r" b="b"/>
              <a:pathLst>
                <a:path w="10477500" h="38100">
                  <a:moveTo>
                    <a:pt x="104774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0477499" y="0"/>
                  </a:lnTo>
                  <a:lnTo>
                    <a:pt x="10477499" y="3809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62124" y="155257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6"/>
                  </a:lnTo>
                  <a:lnTo>
                    <a:pt x="3053" y="276931"/>
                  </a:lnTo>
                  <a:lnTo>
                    <a:pt x="0" y="245924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3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4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8"/>
                  </a:lnTo>
                  <a:lnTo>
                    <a:pt x="476250" y="230326"/>
                  </a:lnTo>
                  <a:lnTo>
                    <a:pt x="476249" y="238124"/>
                  </a:lnTo>
                  <a:lnTo>
                    <a:pt x="476250" y="245924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89" y="412019"/>
                  </a:lnTo>
                  <a:lnTo>
                    <a:pt x="363935" y="440451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005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954807" y="1652316"/>
            <a:ext cx="9080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b="1" spc="-31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08472" y="2151747"/>
            <a:ext cx="98361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90" dirty="0">
                <a:solidFill>
                  <a:srgbClr val="0056B3"/>
                </a:solidFill>
                <a:latin typeface="Lucida Sans"/>
                <a:cs typeface="Lucida Sans"/>
              </a:rPr>
              <a:t>MVP</a:t>
            </a:r>
            <a:r>
              <a:rPr sz="1700" b="1" spc="-11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55" dirty="0">
                <a:solidFill>
                  <a:srgbClr val="0056B3"/>
                </a:solidFill>
                <a:latin typeface="Lucida Sans"/>
                <a:cs typeface="Lucida Sans"/>
              </a:rPr>
              <a:t>Pilot</a:t>
            </a:r>
            <a:endParaRPr sz="1700">
              <a:latin typeface="Lucida Sans"/>
              <a:cs typeface="Lucida San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57585" y="2520970"/>
            <a:ext cx="88519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75" dirty="0">
                <a:solidFill>
                  <a:srgbClr val="666666"/>
                </a:solidFill>
                <a:latin typeface="Arial"/>
                <a:cs typeface="Arial"/>
              </a:rPr>
              <a:t>Q1-</a:t>
            </a:r>
            <a:r>
              <a:rPr sz="1250" dirty="0">
                <a:solidFill>
                  <a:srgbClr val="666666"/>
                </a:solidFill>
                <a:latin typeface="Arial"/>
                <a:cs typeface="Arial"/>
              </a:rPr>
              <a:t>Q2</a:t>
            </a:r>
            <a:r>
              <a:rPr sz="1250" spc="-20" dirty="0">
                <a:solidFill>
                  <a:srgbClr val="666666"/>
                </a:solidFill>
                <a:latin typeface="Arial"/>
                <a:cs typeface="Arial"/>
              </a:rPr>
              <a:t> 2026</a:t>
            </a:r>
            <a:endParaRPr sz="12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52949" y="155257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245923" y="476249"/>
                </a:moveTo>
                <a:lnTo>
                  <a:pt x="230326" y="476249"/>
                </a:lnTo>
                <a:lnTo>
                  <a:pt x="222545" y="475867"/>
                </a:lnTo>
                <a:lnTo>
                  <a:pt x="184019" y="470152"/>
                </a:lnTo>
                <a:lnTo>
                  <a:pt x="139792" y="455139"/>
                </a:lnTo>
                <a:lnTo>
                  <a:pt x="99345" y="431785"/>
                </a:lnTo>
                <a:lnTo>
                  <a:pt x="64230" y="400989"/>
                </a:lnTo>
                <a:lnTo>
                  <a:pt x="35798" y="363935"/>
                </a:lnTo>
                <a:lnTo>
                  <a:pt x="15141" y="322046"/>
                </a:lnTo>
                <a:lnTo>
                  <a:pt x="3053" y="276931"/>
                </a:lnTo>
                <a:lnTo>
                  <a:pt x="0" y="245924"/>
                </a:lnTo>
                <a:lnTo>
                  <a:pt x="0" y="230326"/>
                </a:lnTo>
                <a:lnTo>
                  <a:pt x="6096" y="184019"/>
                </a:lnTo>
                <a:lnTo>
                  <a:pt x="21110" y="139793"/>
                </a:lnTo>
                <a:lnTo>
                  <a:pt x="44464" y="99345"/>
                </a:lnTo>
                <a:lnTo>
                  <a:pt x="75259" y="64230"/>
                </a:lnTo>
                <a:lnTo>
                  <a:pt x="112314" y="35798"/>
                </a:lnTo>
                <a:lnTo>
                  <a:pt x="154203" y="15141"/>
                </a:lnTo>
                <a:lnTo>
                  <a:pt x="199318" y="3054"/>
                </a:lnTo>
                <a:lnTo>
                  <a:pt x="230326" y="0"/>
                </a:lnTo>
                <a:lnTo>
                  <a:pt x="245923" y="0"/>
                </a:lnTo>
                <a:lnTo>
                  <a:pt x="292230" y="6097"/>
                </a:lnTo>
                <a:lnTo>
                  <a:pt x="336456" y="21110"/>
                </a:lnTo>
                <a:lnTo>
                  <a:pt x="376904" y="44463"/>
                </a:lnTo>
                <a:lnTo>
                  <a:pt x="412019" y="75259"/>
                </a:lnTo>
                <a:lnTo>
                  <a:pt x="440451" y="112314"/>
                </a:lnTo>
                <a:lnTo>
                  <a:pt x="461107" y="154203"/>
                </a:lnTo>
                <a:lnTo>
                  <a:pt x="473195" y="199318"/>
                </a:lnTo>
                <a:lnTo>
                  <a:pt x="476249" y="230326"/>
                </a:lnTo>
                <a:lnTo>
                  <a:pt x="476249" y="238124"/>
                </a:lnTo>
                <a:lnTo>
                  <a:pt x="476249" y="245924"/>
                </a:lnTo>
                <a:lnTo>
                  <a:pt x="470152" y="292229"/>
                </a:lnTo>
                <a:lnTo>
                  <a:pt x="455139" y="336456"/>
                </a:lnTo>
                <a:lnTo>
                  <a:pt x="431785" y="376904"/>
                </a:lnTo>
                <a:lnTo>
                  <a:pt x="400989" y="412019"/>
                </a:lnTo>
                <a:lnTo>
                  <a:pt x="363935" y="440451"/>
                </a:lnTo>
                <a:lnTo>
                  <a:pt x="322045" y="461107"/>
                </a:lnTo>
                <a:lnTo>
                  <a:pt x="276931" y="473195"/>
                </a:lnTo>
                <a:lnTo>
                  <a:pt x="253704" y="475867"/>
                </a:lnTo>
                <a:lnTo>
                  <a:pt x="245923" y="47624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731494" y="1652316"/>
            <a:ext cx="12573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46128" y="2151747"/>
            <a:ext cx="169608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80" dirty="0">
                <a:solidFill>
                  <a:srgbClr val="0056B3"/>
                </a:solidFill>
                <a:latin typeface="Lucida Sans"/>
                <a:cs typeface="Lucida Sans"/>
              </a:rPr>
              <a:t>Scale</a:t>
            </a:r>
            <a:r>
              <a:rPr sz="1700" b="1" spc="-9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80" dirty="0">
                <a:solidFill>
                  <a:srgbClr val="0056B3"/>
                </a:solidFill>
                <a:latin typeface="Lucida Sans"/>
                <a:cs typeface="Lucida Sans"/>
              </a:rPr>
              <a:t>Production</a:t>
            </a:r>
            <a:endParaRPr sz="1700">
              <a:latin typeface="Lucida Sans"/>
              <a:cs typeface="Lucida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28318" y="2520970"/>
            <a:ext cx="93218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666666"/>
                </a:solidFill>
                <a:latin typeface="Arial"/>
                <a:cs typeface="Arial"/>
              </a:rPr>
              <a:t>Q3-</a:t>
            </a:r>
            <a:r>
              <a:rPr sz="1250" spc="60" dirty="0">
                <a:solidFill>
                  <a:srgbClr val="666666"/>
                </a:solidFill>
                <a:latin typeface="Arial"/>
                <a:cs typeface="Arial"/>
              </a:rPr>
              <a:t>Q4</a:t>
            </a:r>
            <a:r>
              <a:rPr sz="125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666666"/>
                </a:solidFill>
                <a:latin typeface="Arial"/>
                <a:cs typeface="Arial"/>
              </a:rPr>
              <a:t>2026</a:t>
            </a:r>
            <a:endParaRPr sz="12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353300" y="155257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245923" y="476249"/>
                </a:moveTo>
                <a:lnTo>
                  <a:pt x="230325" y="476249"/>
                </a:lnTo>
                <a:lnTo>
                  <a:pt x="222545" y="475867"/>
                </a:lnTo>
                <a:lnTo>
                  <a:pt x="184018" y="470152"/>
                </a:lnTo>
                <a:lnTo>
                  <a:pt x="139792" y="455139"/>
                </a:lnTo>
                <a:lnTo>
                  <a:pt x="99344" y="431785"/>
                </a:lnTo>
                <a:lnTo>
                  <a:pt x="64229" y="400989"/>
                </a:lnTo>
                <a:lnTo>
                  <a:pt x="35797" y="363935"/>
                </a:lnTo>
                <a:lnTo>
                  <a:pt x="15140" y="322046"/>
                </a:lnTo>
                <a:lnTo>
                  <a:pt x="3053" y="276931"/>
                </a:lnTo>
                <a:lnTo>
                  <a:pt x="0" y="245924"/>
                </a:lnTo>
                <a:lnTo>
                  <a:pt x="0" y="230326"/>
                </a:lnTo>
                <a:lnTo>
                  <a:pt x="6096" y="184019"/>
                </a:lnTo>
                <a:lnTo>
                  <a:pt x="21109" y="139793"/>
                </a:lnTo>
                <a:lnTo>
                  <a:pt x="44462" y="99345"/>
                </a:lnTo>
                <a:lnTo>
                  <a:pt x="75259" y="64230"/>
                </a:lnTo>
                <a:lnTo>
                  <a:pt x="112313" y="35798"/>
                </a:lnTo>
                <a:lnTo>
                  <a:pt x="154202" y="15141"/>
                </a:lnTo>
                <a:lnTo>
                  <a:pt x="199317" y="3054"/>
                </a:lnTo>
                <a:lnTo>
                  <a:pt x="230325" y="0"/>
                </a:lnTo>
                <a:lnTo>
                  <a:pt x="245923" y="0"/>
                </a:lnTo>
                <a:lnTo>
                  <a:pt x="292228" y="6097"/>
                </a:lnTo>
                <a:lnTo>
                  <a:pt x="336455" y="21110"/>
                </a:lnTo>
                <a:lnTo>
                  <a:pt x="376902" y="44463"/>
                </a:lnTo>
                <a:lnTo>
                  <a:pt x="412017" y="75259"/>
                </a:lnTo>
                <a:lnTo>
                  <a:pt x="440449" y="112314"/>
                </a:lnTo>
                <a:lnTo>
                  <a:pt x="461106" y="154203"/>
                </a:lnTo>
                <a:lnTo>
                  <a:pt x="473195" y="199318"/>
                </a:lnTo>
                <a:lnTo>
                  <a:pt x="476249" y="230326"/>
                </a:lnTo>
                <a:lnTo>
                  <a:pt x="476249" y="238124"/>
                </a:lnTo>
                <a:lnTo>
                  <a:pt x="476249" y="245924"/>
                </a:lnTo>
                <a:lnTo>
                  <a:pt x="470152" y="292229"/>
                </a:lnTo>
                <a:lnTo>
                  <a:pt x="455137" y="336456"/>
                </a:lnTo>
                <a:lnTo>
                  <a:pt x="431784" y="376904"/>
                </a:lnTo>
                <a:lnTo>
                  <a:pt x="400988" y="412019"/>
                </a:lnTo>
                <a:lnTo>
                  <a:pt x="363934" y="440451"/>
                </a:lnTo>
                <a:lnTo>
                  <a:pt x="322044" y="461107"/>
                </a:lnTo>
                <a:lnTo>
                  <a:pt x="276930" y="473195"/>
                </a:lnTo>
                <a:lnTo>
                  <a:pt x="253703" y="475867"/>
                </a:lnTo>
                <a:lnTo>
                  <a:pt x="245923" y="47624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525444" y="1652316"/>
            <a:ext cx="12573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06133" y="2151747"/>
            <a:ext cx="196405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05" dirty="0">
                <a:solidFill>
                  <a:srgbClr val="0056B3"/>
                </a:solidFill>
                <a:latin typeface="Lucida Sans"/>
                <a:cs typeface="Lucida Sans"/>
              </a:rPr>
              <a:t>Regional</a:t>
            </a:r>
            <a:r>
              <a:rPr sz="1700" b="1" spc="-8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105" dirty="0">
                <a:solidFill>
                  <a:srgbClr val="0056B3"/>
                </a:solidFill>
                <a:latin typeface="Lucida Sans"/>
                <a:cs typeface="Lucida Sans"/>
              </a:rPr>
              <a:t>Expansion</a:t>
            </a:r>
            <a:endParaRPr sz="1700">
              <a:latin typeface="Lucida Sans"/>
              <a:cs typeface="Lucida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47421" y="2520970"/>
            <a:ext cx="88138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75" dirty="0">
                <a:solidFill>
                  <a:srgbClr val="666666"/>
                </a:solidFill>
                <a:latin typeface="Arial"/>
                <a:cs typeface="Arial"/>
              </a:rPr>
              <a:t>Q1-</a:t>
            </a:r>
            <a:r>
              <a:rPr sz="1250" dirty="0">
                <a:solidFill>
                  <a:srgbClr val="666666"/>
                </a:solidFill>
                <a:latin typeface="Arial"/>
                <a:cs typeface="Arial"/>
              </a:rPr>
              <a:t>Q3</a:t>
            </a:r>
            <a:r>
              <a:rPr sz="1250" spc="-20" dirty="0">
                <a:solidFill>
                  <a:srgbClr val="666666"/>
                </a:solidFill>
                <a:latin typeface="Arial"/>
                <a:cs typeface="Arial"/>
              </a:rPr>
              <a:t> 2027</a:t>
            </a:r>
            <a:endParaRPr sz="12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144124" y="155257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245923" y="476249"/>
                </a:moveTo>
                <a:lnTo>
                  <a:pt x="230326" y="476249"/>
                </a:lnTo>
                <a:lnTo>
                  <a:pt x="222546" y="475867"/>
                </a:lnTo>
                <a:lnTo>
                  <a:pt x="184018" y="470152"/>
                </a:lnTo>
                <a:lnTo>
                  <a:pt x="139793" y="455139"/>
                </a:lnTo>
                <a:lnTo>
                  <a:pt x="99343" y="431785"/>
                </a:lnTo>
                <a:lnTo>
                  <a:pt x="64229" y="400989"/>
                </a:lnTo>
                <a:lnTo>
                  <a:pt x="35798" y="363935"/>
                </a:lnTo>
                <a:lnTo>
                  <a:pt x="15139" y="322046"/>
                </a:lnTo>
                <a:lnTo>
                  <a:pt x="3054" y="276931"/>
                </a:lnTo>
                <a:lnTo>
                  <a:pt x="0" y="245924"/>
                </a:lnTo>
                <a:lnTo>
                  <a:pt x="0" y="230326"/>
                </a:lnTo>
                <a:lnTo>
                  <a:pt x="6097" y="184019"/>
                </a:lnTo>
                <a:lnTo>
                  <a:pt x="21109" y="139793"/>
                </a:lnTo>
                <a:lnTo>
                  <a:pt x="44463" y="99345"/>
                </a:lnTo>
                <a:lnTo>
                  <a:pt x="75259" y="64230"/>
                </a:lnTo>
                <a:lnTo>
                  <a:pt x="112314" y="35798"/>
                </a:lnTo>
                <a:lnTo>
                  <a:pt x="154203" y="15141"/>
                </a:lnTo>
                <a:lnTo>
                  <a:pt x="199318" y="3054"/>
                </a:lnTo>
                <a:lnTo>
                  <a:pt x="230326" y="0"/>
                </a:lnTo>
                <a:lnTo>
                  <a:pt x="245923" y="0"/>
                </a:lnTo>
                <a:lnTo>
                  <a:pt x="292228" y="6097"/>
                </a:lnTo>
                <a:lnTo>
                  <a:pt x="336456" y="21110"/>
                </a:lnTo>
                <a:lnTo>
                  <a:pt x="376904" y="44463"/>
                </a:lnTo>
                <a:lnTo>
                  <a:pt x="412018" y="75259"/>
                </a:lnTo>
                <a:lnTo>
                  <a:pt x="440451" y="112314"/>
                </a:lnTo>
                <a:lnTo>
                  <a:pt x="461107" y="154203"/>
                </a:lnTo>
                <a:lnTo>
                  <a:pt x="473195" y="199318"/>
                </a:lnTo>
                <a:lnTo>
                  <a:pt x="476249" y="230326"/>
                </a:lnTo>
                <a:lnTo>
                  <a:pt x="476249" y="238124"/>
                </a:lnTo>
                <a:lnTo>
                  <a:pt x="476249" y="245924"/>
                </a:lnTo>
                <a:lnTo>
                  <a:pt x="470152" y="292229"/>
                </a:lnTo>
                <a:lnTo>
                  <a:pt x="455138" y="336456"/>
                </a:lnTo>
                <a:lnTo>
                  <a:pt x="431786" y="376904"/>
                </a:lnTo>
                <a:lnTo>
                  <a:pt x="400989" y="412019"/>
                </a:lnTo>
                <a:lnTo>
                  <a:pt x="363934" y="440451"/>
                </a:lnTo>
                <a:lnTo>
                  <a:pt x="322045" y="461107"/>
                </a:lnTo>
                <a:lnTo>
                  <a:pt x="276929" y="473195"/>
                </a:lnTo>
                <a:lnTo>
                  <a:pt x="253703" y="475867"/>
                </a:lnTo>
                <a:lnTo>
                  <a:pt x="245923" y="47624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311060" y="1652316"/>
            <a:ext cx="14224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b="1" spc="8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443094" y="2151747"/>
            <a:ext cx="18783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90" dirty="0">
                <a:solidFill>
                  <a:srgbClr val="0056B3"/>
                </a:solidFill>
                <a:latin typeface="Lucida Sans"/>
                <a:cs typeface="Lucida Sans"/>
              </a:rPr>
              <a:t>Long-</a:t>
            </a:r>
            <a:r>
              <a:rPr sz="1700" b="1" spc="-170" dirty="0">
                <a:solidFill>
                  <a:srgbClr val="0056B3"/>
                </a:solidFill>
                <a:latin typeface="Lucida Sans"/>
                <a:cs typeface="Lucida Sans"/>
              </a:rPr>
              <a:t>Term</a:t>
            </a:r>
            <a:r>
              <a:rPr sz="1700" b="1" spc="-6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700" b="1" spc="-95" dirty="0">
                <a:solidFill>
                  <a:srgbClr val="0056B3"/>
                </a:solidFill>
                <a:latin typeface="Lucida Sans"/>
                <a:cs typeface="Lucida Sans"/>
              </a:rPr>
              <a:t>Growth</a:t>
            </a:r>
            <a:endParaRPr sz="1700">
              <a:latin typeface="Lucida Sans"/>
              <a:cs typeface="Lucida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140056" y="2520970"/>
            <a:ext cx="48450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666666"/>
                </a:solidFill>
                <a:latin typeface="Arial"/>
                <a:cs typeface="Arial"/>
              </a:rPr>
              <a:t>2028+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7599" y="0"/>
            <a:ext cx="8534400" cy="6858000"/>
          </a:xfrm>
          <a:custGeom>
            <a:avLst/>
            <a:gdLst/>
            <a:ahLst/>
            <a:cxnLst/>
            <a:rect l="l" t="t" r="r" b="b"/>
            <a:pathLst>
              <a:path w="8534400" h="6858000">
                <a:moveTo>
                  <a:pt x="8534399" y="6857999"/>
                </a:moveTo>
                <a:lnTo>
                  <a:pt x="0" y="6857999"/>
                </a:lnTo>
                <a:lnTo>
                  <a:pt x="1706879" y="0"/>
                </a:lnTo>
                <a:lnTo>
                  <a:pt x="8534399" y="0"/>
                </a:lnTo>
                <a:lnTo>
                  <a:pt x="8534399" y="6857999"/>
                </a:lnTo>
                <a:close/>
              </a:path>
            </a:pathLst>
          </a:custGeom>
          <a:solidFill>
            <a:srgbClr val="F0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14300" cy="6858000"/>
          </a:xfrm>
          <a:custGeom>
            <a:avLst/>
            <a:gdLst/>
            <a:ahLst/>
            <a:cxnLst/>
            <a:rect l="l" t="t" r="r" b="b"/>
            <a:pathLst>
              <a:path w="114300" h="6858000">
                <a:moveTo>
                  <a:pt x="114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14299" y="0"/>
                </a:lnTo>
                <a:lnTo>
                  <a:pt x="114299" y="6857999"/>
                </a:lnTo>
                <a:close/>
              </a:path>
            </a:pathLst>
          </a:custGeom>
          <a:solidFill>
            <a:srgbClr val="0056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9800" y="483464"/>
            <a:ext cx="80416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400"/>
              </a:lnSpc>
              <a:spcBef>
                <a:spcPts val="100"/>
              </a:spcBef>
            </a:pPr>
            <a:r>
              <a:rPr sz="4150" b="0" spc="-350" dirty="0">
                <a:latin typeface="Arial Black"/>
                <a:cs typeface="Arial Black"/>
              </a:rPr>
              <a:t>Our</a:t>
            </a:r>
            <a:r>
              <a:rPr sz="4150" b="0" spc="-365" dirty="0">
                <a:latin typeface="Arial Black"/>
                <a:cs typeface="Arial Black"/>
              </a:rPr>
              <a:t> </a:t>
            </a:r>
            <a:r>
              <a:rPr sz="4150" b="0" spc="-500" dirty="0">
                <a:latin typeface="Arial Black"/>
                <a:cs typeface="Arial Black"/>
              </a:rPr>
              <a:t>Ask:</a:t>
            </a:r>
            <a:r>
              <a:rPr sz="4150" b="0" spc="-365" dirty="0">
                <a:latin typeface="Arial Black"/>
                <a:cs typeface="Arial Black"/>
              </a:rPr>
              <a:t> </a:t>
            </a:r>
            <a:r>
              <a:rPr sz="4150" b="0" spc="-465" dirty="0">
                <a:latin typeface="Arial Black"/>
                <a:cs typeface="Arial Black"/>
              </a:rPr>
              <a:t>Join</a:t>
            </a:r>
            <a:r>
              <a:rPr sz="4150" b="0" spc="-360" dirty="0">
                <a:latin typeface="Arial Black"/>
                <a:cs typeface="Arial Black"/>
              </a:rPr>
              <a:t> </a:t>
            </a:r>
            <a:r>
              <a:rPr sz="4150" b="0" spc="-365" dirty="0">
                <a:latin typeface="Arial Black"/>
                <a:cs typeface="Arial Black"/>
              </a:rPr>
              <a:t>the</a:t>
            </a:r>
            <a:r>
              <a:rPr sz="4150" b="0" spc="-370" dirty="0">
                <a:latin typeface="Arial Black"/>
                <a:cs typeface="Arial Black"/>
              </a:rPr>
              <a:t> </a:t>
            </a:r>
            <a:r>
              <a:rPr sz="4150" b="0" spc="-375" dirty="0">
                <a:latin typeface="Arial Black"/>
                <a:cs typeface="Arial Black"/>
              </a:rPr>
              <a:t>Future</a:t>
            </a:r>
            <a:r>
              <a:rPr sz="4150" b="0" spc="-365" dirty="0">
                <a:latin typeface="Arial Black"/>
                <a:cs typeface="Arial Black"/>
              </a:rPr>
              <a:t> </a:t>
            </a:r>
            <a:r>
              <a:rPr sz="4150" b="0" spc="-325" dirty="0">
                <a:latin typeface="Arial Black"/>
                <a:cs typeface="Arial Black"/>
              </a:rPr>
              <a:t>of</a:t>
            </a:r>
            <a:r>
              <a:rPr sz="4150" b="0" spc="-360" dirty="0">
                <a:latin typeface="Arial Black"/>
                <a:cs typeface="Arial Black"/>
              </a:rPr>
              <a:t> </a:t>
            </a:r>
            <a:r>
              <a:rPr sz="4150" b="0" spc="-459" dirty="0">
                <a:latin typeface="Arial Black"/>
                <a:cs typeface="Arial Black"/>
              </a:rPr>
              <a:t>Smart </a:t>
            </a:r>
            <a:r>
              <a:rPr sz="4150" b="0" spc="-365" dirty="0">
                <a:latin typeface="Arial Black"/>
                <a:cs typeface="Arial Black"/>
              </a:rPr>
              <a:t>Indian</a:t>
            </a:r>
            <a:r>
              <a:rPr sz="4150" b="0" spc="-355" dirty="0">
                <a:latin typeface="Arial Black"/>
                <a:cs typeface="Arial Black"/>
              </a:rPr>
              <a:t> </a:t>
            </a:r>
            <a:r>
              <a:rPr sz="4150" b="0" spc="-385" dirty="0">
                <a:latin typeface="Arial Black"/>
                <a:cs typeface="Arial Black"/>
              </a:rPr>
              <a:t>Manufacturing</a:t>
            </a:r>
            <a:endParaRPr sz="415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2499" y="3295650"/>
            <a:ext cx="457200" cy="457200"/>
            <a:chOff x="952499" y="3295650"/>
            <a:chExt cx="457200" cy="457200"/>
          </a:xfrm>
        </p:grpSpPr>
        <p:sp>
          <p:nvSpPr>
            <p:cNvPr id="6" name="object 6"/>
            <p:cNvSpPr/>
            <p:nvPr/>
          </p:nvSpPr>
          <p:spPr>
            <a:xfrm>
              <a:off x="952499" y="32956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2" y="176659"/>
                  </a:lnTo>
                  <a:lnTo>
                    <a:pt x="20266" y="134201"/>
                  </a:lnTo>
                  <a:lnTo>
                    <a:pt x="42685" y="95370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2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40"/>
                  </a:lnTo>
                  <a:lnTo>
                    <a:pt x="436933" y="322997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7" y="422833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56B3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849" y="3428999"/>
              <a:ext cx="190499" cy="19049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952499" y="4257674"/>
            <a:ext cx="457200" cy="457200"/>
            <a:chOff x="952499" y="4257674"/>
            <a:chExt cx="457200" cy="457200"/>
          </a:xfrm>
        </p:grpSpPr>
        <p:sp>
          <p:nvSpPr>
            <p:cNvPr id="9" name="object 9"/>
            <p:cNvSpPr/>
            <p:nvPr/>
          </p:nvSpPr>
          <p:spPr>
            <a:xfrm>
              <a:off x="952499" y="42576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5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3"/>
                  </a:lnTo>
                  <a:lnTo>
                    <a:pt x="5852" y="176659"/>
                  </a:lnTo>
                  <a:lnTo>
                    <a:pt x="20266" y="134201"/>
                  </a:lnTo>
                  <a:lnTo>
                    <a:pt x="42685" y="95370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6"/>
                  </a:lnTo>
                  <a:lnTo>
                    <a:pt x="191345" y="2932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3"/>
                  </a:lnTo>
                  <a:lnTo>
                    <a:pt x="322998" y="20265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6" y="280540"/>
                  </a:lnTo>
                  <a:lnTo>
                    <a:pt x="436933" y="322997"/>
                  </a:lnTo>
                  <a:lnTo>
                    <a:pt x="414514" y="361827"/>
                  </a:lnTo>
                  <a:lnTo>
                    <a:pt x="384950" y="395538"/>
                  </a:lnTo>
                  <a:lnTo>
                    <a:pt x="349377" y="422832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5" y="456833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56B3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8231" y="4402931"/>
              <a:ext cx="190499" cy="16668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952499" y="4962524"/>
            <a:ext cx="457200" cy="457200"/>
            <a:chOff x="952499" y="4962524"/>
            <a:chExt cx="457200" cy="457200"/>
          </a:xfrm>
        </p:grpSpPr>
        <p:sp>
          <p:nvSpPr>
            <p:cNvPr id="12" name="object 12"/>
            <p:cNvSpPr/>
            <p:nvPr/>
          </p:nvSpPr>
          <p:spPr>
            <a:xfrm>
              <a:off x="952499" y="49625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3"/>
                  </a:lnTo>
                  <a:lnTo>
                    <a:pt x="169405" y="449530"/>
                  </a:lnTo>
                  <a:lnTo>
                    <a:pt x="127441" y="433735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3"/>
                  </a:lnTo>
                  <a:lnTo>
                    <a:pt x="5852" y="176659"/>
                  </a:lnTo>
                  <a:lnTo>
                    <a:pt x="20266" y="134201"/>
                  </a:lnTo>
                  <a:lnTo>
                    <a:pt x="42685" y="95370"/>
                  </a:lnTo>
                  <a:lnTo>
                    <a:pt x="72249" y="61661"/>
                  </a:lnTo>
                  <a:lnTo>
                    <a:pt x="107821" y="34365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3"/>
                  </a:lnTo>
                  <a:lnTo>
                    <a:pt x="322998" y="20266"/>
                  </a:lnTo>
                  <a:lnTo>
                    <a:pt x="361828" y="42685"/>
                  </a:lnTo>
                  <a:lnTo>
                    <a:pt x="395538" y="72248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6" y="280540"/>
                  </a:lnTo>
                  <a:lnTo>
                    <a:pt x="436933" y="322997"/>
                  </a:lnTo>
                  <a:lnTo>
                    <a:pt x="414514" y="361827"/>
                  </a:lnTo>
                  <a:lnTo>
                    <a:pt x="384950" y="395538"/>
                  </a:lnTo>
                  <a:lnTo>
                    <a:pt x="349377" y="422832"/>
                  </a:lnTo>
                  <a:lnTo>
                    <a:pt x="309164" y="442663"/>
                  </a:lnTo>
                  <a:lnTo>
                    <a:pt x="265854" y="454268"/>
                  </a:lnTo>
                  <a:lnTo>
                    <a:pt x="243555" y="456833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56B3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5403" y="5095899"/>
              <a:ext cx="190916" cy="19088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952499" y="5667374"/>
            <a:ext cx="457200" cy="457200"/>
            <a:chOff x="952499" y="5667374"/>
            <a:chExt cx="457200" cy="457200"/>
          </a:xfrm>
        </p:grpSpPr>
        <p:sp>
          <p:nvSpPr>
            <p:cNvPr id="15" name="object 15"/>
            <p:cNvSpPr/>
            <p:nvPr/>
          </p:nvSpPr>
          <p:spPr>
            <a:xfrm>
              <a:off x="952499" y="56673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3"/>
                  </a:lnTo>
                  <a:lnTo>
                    <a:pt x="169405" y="449529"/>
                  </a:lnTo>
                  <a:lnTo>
                    <a:pt x="127441" y="433736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4"/>
                  </a:lnTo>
                  <a:lnTo>
                    <a:pt x="1834" y="258457"/>
                  </a:lnTo>
                  <a:lnTo>
                    <a:pt x="0" y="236087"/>
                  </a:lnTo>
                  <a:lnTo>
                    <a:pt x="0" y="221113"/>
                  </a:lnTo>
                  <a:lnTo>
                    <a:pt x="5852" y="176659"/>
                  </a:lnTo>
                  <a:lnTo>
                    <a:pt x="20266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6"/>
                  </a:lnTo>
                  <a:lnTo>
                    <a:pt x="191345" y="2932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40" y="5853"/>
                  </a:lnTo>
                  <a:lnTo>
                    <a:pt x="322998" y="20266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3" y="107821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199" y="221113"/>
                  </a:lnTo>
                  <a:lnTo>
                    <a:pt x="457199" y="228599"/>
                  </a:lnTo>
                  <a:lnTo>
                    <a:pt x="457199" y="236087"/>
                  </a:lnTo>
                  <a:lnTo>
                    <a:pt x="451346" y="280541"/>
                  </a:lnTo>
                  <a:lnTo>
                    <a:pt x="436933" y="322998"/>
                  </a:lnTo>
                  <a:lnTo>
                    <a:pt x="414514" y="361828"/>
                  </a:lnTo>
                  <a:lnTo>
                    <a:pt x="384950" y="395538"/>
                  </a:lnTo>
                  <a:lnTo>
                    <a:pt x="349377" y="422833"/>
                  </a:lnTo>
                  <a:lnTo>
                    <a:pt x="309164" y="442663"/>
                  </a:lnTo>
                  <a:lnTo>
                    <a:pt x="265854" y="454268"/>
                  </a:lnTo>
                  <a:lnTo>
                    <a:pt x="243555" y="456833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0056B3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799" y="5824537"/>
              <a:ext cx="238124" cy="14284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39800" y="2268182"/>
            <a:ext cx="5108575" cy="3888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0975">
              <a:lnSpc>
                <a:spcPct val="109800"/>
              </a:lnSpc>
              <a:spcBef>
                <a:spcPts val="100"/>
              </a:spcBef>
            </a:pPr>
            <a:r>
              <a:rPr sz="2050" b="1" spc="-114" dirty="0">
                <a:solidFill>
                  <a:srgbClr val="333333"/>
                </a:solidFill>
                <a:latin typeface="Lucida Sans"/>
                <a:cs typeface="Lucida Sans"/>
              </a:rPr>
              <a:t>Seeking</a:t>
            </a:r>
            <a:r>
              <a:rPr sz="2050" b="1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35" dirty="0">
                <a:solidFill>
                  <a:srgbClr val="333333"/>
                </a:solidFill>
                <a:latin typeface="Lucida Sans"/>
                <a:cs typeface="Lucida Sans"/>
              </a:rPr>
              <a:t>investment</a:t>
            </a:r>
            <a:r>
              <a:rPr sz="2050" b="1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30" dirty="0">
                <a:solidFill>
                  <a:srgbClr val="333333"/>
                </a:solidFill>
                <a:latin typeface="Lucida Sans"/>
                <a:cs typeface="Lucida Sans"/>
              </a:rPr>
              <a:t>and</a:t>
            </a:r>
            <a:r>
              <a:rPr sz="2050" b="1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45" dirty="0">
                <a:solidFill>
                  <a:srgbClr val="333333"/>
                </a:solidFill>
                <a:latin typeface="Lucida Sans"/>
                <a:cs typeface="Lucida Sans"/>
              </a:rPr>
              <a:t>partners</a:t>
            </a:r>
            <a:r>
              <a:rPr sz="2050" b="1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35" dirty="0">
                <a:solidFill>
                  <a:srgbClr val="333333"/>
                </a:solidFill>
                <a:latin typeface="Lucida Sans"/>
                <a:cs typeface="Lucida Sans"/>
              </a:rPr>
              <a:t>to</a:t>
            </a:r>
            <a:r>
              <a:rPr sz="2050" b="1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00" dirty="0">
                <a:solidFill>
                  <a:srgbClr val="333333"/>
                </a:solidFill>
                <a:latin typeface="Lucida Sans"/>
                <a:cs typeface="Lucida Sans"/>
              </a:rPr>
              <a:t>scale ISF's</a:t>
            </a:r>
            <a:r>
              <a:rPr sz="2050" b="1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50" b="1" spc="-10" dirty="0">
                <a:solidFill>
                  <a:srgbClr val="333333"/>
                </a:solidFill>
                <a:latin typeface="Lucida Sans"/>
                <a:cs typeface="Lucida Sans"/>
              </a:rPr>
              <a:t>impact:</a:t>
            </a:r>
            <a:endParaRPr sz="20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Lucida Sans"/>
              <a:cs typeface="Lucida Sans"/>
            </a:endParaRPr>
          </a:p>
          <a:p>
            <a:pPr marL="621665" marR="193040">
              <a:lnSpc>
                <a:spcPct val="115799"/>
              </a:lnSpc>
              <a:spcBef>
                <a:spcPts val="5"/>
              </a:spcBef>
            </a:pPr>
            <a:r>
              <a:rPr sz="1500" b="1" spc="-100" dirty="0">
                <a:solidFill>
                  <a:srgbClr val="0056B3"/>
                </a:solidFill>
                <a:latin typeface="Lucida Sans"/>
                <a:cs typeface="Lucida Sans"/>
              </a:rPr>
              <a:t>Technology</a:t>
            </a:r>
            <a:r>
              <a:rPr sz="1500" b="1" spc="-7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55" dirty="0">
                <a:solidFill>
                  <a:srgbClr val="0056B3"/>
                </a:solidFill>
                <a:latin typeface="Lucida Sans"/>
                <a:cs typeface="Lucida Sans"/>
              </a:rPr>
              <a:t>Enhancement</a:t>
            </a: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—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55" dirty="0">
                <a:solidFill>
                  <a:srgbClr val="545454"/>
                </a:solidFill>
                <a:latin typeface="Verdana"/>
                <a:cs typeface="Verdana"/>
              </a:rPr>
              <a:t>Advance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50" dirty="0">
                <a:solidFill>
                  <a:srgbClr val="545454"/>
                </a:solidFill>
                <a:latin typeface="Verdana"/>
                <a:cs typeface="Verdana"/>
              </a:rPr>
              <a:t>our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545454"/>
                </a:solidFill>
                <a:latin typeface="Verdana"/>
                <a:cs typeface="Verdana"/>
              </a:rPr>
              <a:t>AI </a:t>
            </a:r>
            <a:r>
              <a:rPr sz="1450" spc="-50" dirty="0">
                <a:solidFill>
                  <a:srgbClr val="545454"/>
                </a:solidFill>
                <a:latin typeface="Verdana"/>
                <a:cs typeface="Verdana"/>
              </a:rPr>
              <a:t>algorithms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545454"/>
                </a:solidFill>
                <a:latin typeface="Verdana"/>
                <a:cs typeface="Verdana"/>
              </a:rPr>
              <a:t>and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45" dirty="0">
                <a:solidFill>
                  <a:srgbClr val="545454"/>
                </a:solidFill>
                <a:latin typeface="Verdana"/>
                <a:cs typeface="Verdana"/>
              </a:rPr>
              <a:t>digital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30" dirty="0">
                <a:solidFill>
                  <a:srgbClr val="545454"/>
                </a:solidFill>
                <a:latin typeface="Verdana"/>
                <a:cs typeface="Verdana"/>
              </a:rPr>
              <a:t>twin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50" dirty="0">
                <a:solidFill>
                  <a:srgbClr val="545454"/>
                </a:solidFill>
                <a:latin typeface="Verdana"/>
                <a:cs typeface="Verdana"/>
              </a:rPr>
              <a:t>capabilities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75" dirty="0">
                <a:solidFill>
                  <a:srgbClr val="545454"/>
                </a:solidFill>
                <a:latin typeface="Verdana"/>
                <a:cs typeface="Verdana"/>
              </a:rPr>
              <a:t>for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40" dirty="0">
                <a:solidFill>
                  <a:srgbClr val="545454"/>
                </a:solidFill>
                <a:latin typeface="Verdana"/>
                <a:cs typeface="Verdana"/>
              </a:rPr>
              <a:t>greater </a:t>
            </a:r>
            <a:r>
              <a:rPr sz="1450" spc="-10" dirty="0">
                <a:solidFill>
                  <a:srgbClr val="545454"/>
                </a:solidFill>
                <a:latin typeface="Verdana"/>
                <a:cs typeface="Verdana"/>
              </a:rPr>
              <a:t>accuracy</a:t>
            </a:r>
            <a:endParaRPr sz="1450">
              <a:latin typeface="Verdana"/>
              <a:cs typeface="Verdana"/>
            </a:endParaRPr>
          </a:p>
          <a:p>
            <a:pPr marL="621665" marR="5080">
              <a:lnSpc>
                <a:spcPct val="115300"/>
              </a:lnSpc>
              <a:spcBef>
                <a:spcPts val="1460"/>
              </a:spcBef>
            </a:pPr>
            <a:r>
              <a:rPr sz="1500" b="1" spc="-70" dirty="0">
                <a:solidFill>
                  <a:srgbClr val="0056B3"/>
                </a:solidFill>
                <a:latin typeface="Lucida Sans"/>
                <a:cs typeface="Lucida Sans"/>
              </a:rPr>
              <a:t>Production</a:t>
            </a:r>
            <a:r>
              <a:rPr sz="1500" b="1" spc="-65" dirty="0">
                <a:solidFill>
                  <a:srgbClr val="0056B3"/>
                </a:solidFill>
                <a:latin typeface="Lucida Sans"/>
                <a:cs typeface="Lucida Sans"/>
              </a:rPr>
              <a:t> Scaling</a:t>
            </a:r>
            <a:r>
              <a:rPr sz="1500" b="1" spc="-8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—</a:t>
            </a:r>
            <a:r>
              <a:rPr sz="145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40" dirty="0">
                <a:solidFill>
                  <a:srgbClr val="545454"/>
                </a:solidFill>
                <a:latin typeface="Verdana"/>
                <a:cs typeface="Verdana"/>
              </a:rPr>
              <a:t>Manufacture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55" dirty="0">
                <a:solidFill>
                  <a:srgbClr val="545454"/>
                </a:solidFill>
                <a:latin typeface="Verdana"/>
                <a:cs typeface="Verdana"/>
              </a:rPr>
              <a:t>more</a:t>
            </a:r>
            <a:r>
              <a:rPr sz="145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45" dirty="0">
                <a:solidFill>
                  <a:srgbClr val="545454"/>
                </a:solidFill>
                <a:latin typeface="Verdana"/>
                <a:cs typeface="Verdana"/>
              </a:rPr>
              <a:t>affordable </a:t>
            </a:r>
            <a:r>
              <a:rPr sz="1450" spc="-50" dirty="0">
                <a:solidFill>
                  <a:srgbClr val="545454"/>
                </a:solidFill>
                <a:latin typeface="Verdana"/>
                <a:cs typeface="Verdana"/>
              </a:rPr>
              <a:t>units</a:t>
            </a:r>
            <a:r>
              <a:rPr sz="1450" spc="-12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545454"/>
                </a:solidFill>
                <a:latin typeface="Verdana"/>
                <a:cs typeface="Verdana"/>
              </a:rPr>
              <a:t>to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545454"/>
                </a:solidFill>
                <a:latin typeface="Verdana"/>
                <a:cs typeface="Verdana"/>
              </a:rPr>
              <a:t>reach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50" dirty="0">
                <a:solidFill>
                  <a:srgbClr val="545454"/>
                </a:solidFill>
                <a:latin typeface="Verdana"/>
                <a:cs typeface="Verdana"/>
              </a:rPr>
              <a:t>thousands</a:t>
            </a:r>
            <a:r>
              <a:rPr sz="1450" spc="-12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545454"/>
                </a:solidFill>
                <a:latin typeface="Verdana"/>
                <a:cs typeface="Verdana"/>
              </a:rPr>
              <a:t>of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45" dirty="0">
                <a:solidFill>
                  <a:srgbClr val="545454"/>
                </a:solidFill>
                <a:latin typeface="Verdana"/>
                <a:cs typeface="Verdana"/>
              </a:rPr>
              <a:t>MSMEs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75" dirty="0">
                <a:solidFill>
                  <a:srgbClr val="545454"/>
                </a:solidFill>
                <a:latin typeface="Verdana"/>
                <a:cs typeface="Verdana"/>
              </a:rPr>
              <a:t>across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454"/>
                </a:solidFill>
                <a:latin typeface="Verdana"/>
                <a:cs typeface="Verdana"/>
              </a:rPr>
              <a:t>India</a:t>
            </a:r>
            <a:endParaRPr sz="1450">
              <a:latin typeface="Verdana"/>
              <a:cs typeface="Verdana"/>
            </a:endParaRPr>
          </a:p>
          <a:p>
            <a:pPr marL="621665" marR="111125">
              <a:lnSpc>
                <a:spcPct val="115300"/>
              </a:lnSpc>
              <a:spcBef>
                <a:spcPts val="1460"/>
              </a:spcBef>
            </a:pPr>
            <a:r>
              <a:rPr sz="1500" b="1" spc="-45" dirty="0">
                <a:solidFill>
                  <a:srgbClr val="0056B3"/>
                </a:solidFill>
                <a:latin typeface="Lucida Sans"/>
                <a:cs typeface="Lucida Sans"/>
              </a:rPr>
              <a:t>Go-</a:t>
            </a:r>
            <a:r>
              <a:rPr sz="1500" b="1" spc="-40" dirty="0">
                <a:solidFill>
                  <a:srgbClr val="0056B3"/>
                </a:solidFill>
                <a:latin typeface="Lucida Sans"/>
                <a:cs typeface="Lucida Sans"/>
              </a:rPr>
              <a:t>to-</a:t>
            </a:r>
            <a:r>
              <a:rPr sz="1500" b="1" spc="-85" dirty="0">
                <a:solidFill>
                  <a:srgbClr val="0056B3"/>
                </a:solidFill>
                <a:latin typeface="Lucida Sans"/>
                <a:cs typeface="Lucida Sans"/>
              </a:rPr>
              <a:t>Market</a:t>
            </a:r>
            <a:r>
              <a:rPr sz="1500" b="1" spc="-7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Strategy</a:t>
            </a:r>
            <a:r>
              <a:rPr sz="1500" b="1" spc="-80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—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545454"/>
                </a:solidFill>
                <a:latin typeface="Verdana"/>
                <a:cs typeface="Verdana"/>
              </a:rPr>
              <a:t>Accelerate</a:t>
            </a:r>
            <a:r>
              <a:rPr sz="1450" spc="-114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50" dirty="0">
                <a:solidFill>
                  <a:srgbClr val="545454"/>
                </a:solidFill>
                <a:latin typeface="Verdana"/>
                <a:cs typeface="Verdana"/>
              </a:rPr>
              <a:t>our</a:t>
            </a:r>
            <a:r>
              <a:rPr sz="1450" spc="-12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454"/>
                </a:solidFill>
                <a:latin typeface="Verdana"/>
                <a:cs typeface="Verdana"/>
              </a:rPr>
              <a:t>reach </a:t>
            </a:r>
            <a:r>
              <a:rPr sz="1450" spc="-35" dirty="0">
                <a:solidFill>
                  <a:srgbClr val="545454"/>
                </a:solidFill>
                <a:latin typeface="Verdana"/>
                <a:cs typeface="Verdana"/>
              </a:rPr>
              <a:t>through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545454"/>
                </a:solidFill>
                <a:latin typeface="Verdana"/>
                <a:cs typeface="Verdana"/>
              </a:rPr>
              <a:t>MSME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65" dirty="0">
                <a:solidFill>
                  <a:srgbClr val="545454"/>
                </a:solidFill>
                <a:latin typeface="Verdana"/>
                <a:cs typeface="Verdana"/>
              </a:rPr>
              <a:t>associations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545454"/>
                </a:solidFill>
                <a:latin typeface="Verdana"/>
                <a:cs typeface="Verdana"/>
              </a:rPr>
              <a:t>and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80" dirty="0">
                <a:solidFill>
                  <a:srgbClr val="545454"/>
                </a:solidFill>
                <a:latin typeface="Verdana"/>
                <a:cs typeface="Verdana"/>
              </a:rPr>
              <a:t>state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545454"/>
                </a:solidFill>
                <a:latin typeface="Verdana"/>
                <a:cs typeface="Verdana"/>
              </a:rPr>
              <a:t>partnerships</a:t>
            </a:r>
            <a:endParaRPr sz="1450">
              <a:latin typeface="Verdana"/>
              <a:cs typeface="Verdana"/>
            </a:endParaRPr>
          </a:p>
          <a:p>
            <a:pPr marL="621665" marR="205104">
              <a:lnSpc>
                <a:spcPct val="115300"/>
              </a:lnSpc>
              <a:spcBef>
                <a:spcPts val="1455"/>
              </a:spcBef>
            </a:pPr>
            <a:r>
              <a:rPr sz="1500" b="1" spc="-80" dirty="0">
                <a:solidFill>
                  <a:srgbClr val="0056B3"/>
                </a:solidFill>
                <a:latin typeface="Lucida Sans"/>
                <a:cs typeface="Lucida Sans"/>
              </a:rPr>
              <a:t>Partnership</a:t>
            </a:r>
            <a:r>
              <a:rPr sz="1500" b="1" spc="-5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500" b="1" spc="-90" dirty="0">
                <a:solidFill>
                  <a:srgbClr val="0056B3"/>
                </a:solidFill>
                <a:latin typeface="Lucida Sans"/>
                <a:cs typeface="Lucida Sans"/>
              </a:rPr>
              <a:t>Opportunities</a:t>
            </a:r>
            <a:r>
              <a:rPr sz="1500" b="1" spc="-75" dirty="0">
                <a:solidFill>
                  <a:srgbClr val="0056B3"/>
                </a:solidFill>
                <a:latin typeface="Lucida Sans"/>
                <a:cs typeface="Lucida Sans"/>
              </a:rPr>
              <a:t> 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—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65" dirty="0">
                <a:solidFill>
                  <a:srgbClr val="545454"/>
                </a:solidFill>
                <a:latin typeface="Verdana"/>
                <a:cs typeface="Verdana"/>
              </a:rPr>
              <a:t>Collaborate</a:t>
            </a:r>
            <a:r>
              <a:rPr sz="1450" spc="-110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75" dirty="0">
                <a:solidFill>
                  <a:srgbClr val="545454"/>
                </a:solidFill>
                <a:latin typeface="Verdana"/>
                <a:cs typeface="Verdana"/>
              </a:rPr>
              <a:t>for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454"/>
                </a:solidFill>
                <a:latin typeface="Verdana"/>
                <a:cs typeface="Verdana"/>
              </a:rPr>
              <a:t>pilot </a:t>
            </a:r>
            <a:r>
              <a:rPr sz="1450" spc="-50" dirty="0">
                <a:solidFill>
                  <a:srgbClr val="545454"/>
                </a:solidFill>
                <a:latin typeface="Verdana"/>
                <a:cs typeface="Verdana"/>
              </a:rPr>
              <a:t>deployments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545454"/>
                </a:solidFill>
                <a:latin typeface="Verdana"/>
                <a:cs typeface="Verdana"/>
              </a:rPr>
              <a:t>and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545454"/>
                </a:solidFill>
                <a:latin typeface="Verdana"/>
                <a:cs typeface="Verdana"/>
              </a:rPr>
              <a:t>MSME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545454"/>
                </a:solidFill>
                <a:latin typeface="Verdana"/>
                <a:cs typeface="Verdana"/>
              </a:rPr>
              <a:t>capacity</a:t>
            </a:r>
            <a:r>
              <a:rPr sz="1450" spc="-105" dirty="0">
                <a:solidFill>
                  <a:srgbClr val="545454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454"/>
                </a:solidFill>
                <a:latin typeface="Verdana"/>
                <a:cs typeface="Verdana"/>
              </a:rPr>
              <a:t>building</a:t>
            </a:r>
            <a:endParaRPr sz="1450">
              <a:latin typeface="Verdana"/>
              <a:cs typeface="Verdan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62749" y="2543174"/>
            <a:ext cx="3619499" cy="36194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Words>1076</Words>
  <Application>Microsoft Office PowerPoint</Application>
  <PresentationFormat>Custom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Century Gothic</vt:lpstr>
      <vt:lpstr>Lucida Sans</vt:lpstr>
      <vt:lpstr>Tahoma</vt:lpstr>
      <vt:lpstr>Verdana</vt:lpstr>
      <vt:lpstr>Office Theme</vt:lpstr>
      <vt:lpstr>AI-Powered Digital Twin &amp; Predictive Maintenance</vt:lpstr>
      <vt:lpstr>A Day in the Life: An MSME Owner's Challenge</vt:lpstr>
      <vt:lpstr>The Problem: Unplanned Downtime Costs MSMEs Billions</vt:lpstr>
      <vt:lpstr>Market Opportunity: A Massive and Urgent Need</vt:lpstr>
      <vt:lpstr>Market Validation: MSMEs Speak Out</vt:lpstr>
      <vt:lpstr>Our Solution: Affordable, Smart, MSME-Friendly</vt:lpstr>
      <vt:lpstr>How It Works: Simple, Powerful Technology</vt:lpstr>
      <vt:lpstr>Competitive Landscape: Our Edge vs. Global Giants</vt:lpstr>
      <vt:lpstr>Business Model: B2B Sales, Scalable SaaS</vt:lpstr>
      <vt:lpstr>Financial Projections &amp; ROI</vt:lpstr>
      <vt:lpstr>Development Roadmap</vt:lpstr>
      <vt:lpstr>Our Ask: Join the Future of Smart Indian Manufacturing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Yegireddi Srinivas</cp:lastModifiedBy>
  <cp:revision>3</cp:revision>
  <dcterms:created xsi:type="dcterms:W3CDTF">2025-08-02T06:47:40Z</dcterms:created>
  <dcterms:modified xsi:type="dcterms:W3CDTF">2025-08-02T17:04:47Z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2025-08-02T00:00:00Z</vt:filetime>
  </property>
  <property fmtid="{D5CDD505-2E9C-101B-9397-08002B2CF9AE}" pid="3" name="Producer">
    <vt:lpwstr>pypdf</vt:lpwstr>
  </property>
  <property fmtid="{D5CDD505-2E9C-101B-9397-08002B2CF9AE}" pid="4" name="LastSaved">
    <vt:filetime>2025-08-02T00:00:00Z</vt:filetime>
  </property>
</Properties>
</file>